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C8C471-2192-4D45-A437-DB3116A11D2A}">
  <a:tblStyle styleId="{BFC8C471-2192-4D45-A437-DB3116A11D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f41efe2396_0_15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 name="Google Shape;71;g1f41efe2396_0_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f41efe2396_0_18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77" name="Google Shape;77;g1f41efe2396_0_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b65c39207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b65c39207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b65c39207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b65c39207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41efe2396_0_28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98" name="Google Shape;98;g1f41efe2396_0_2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f41efe2396_0_18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105" name="Google Shape;105;g1f41efe2396_0_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f41efe2396_0_29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A</a:t>
            </a:r>
            <a:endParaRPr/>
          </a:p>
        </p:txBody>
      </p:sp>
      <p:sp>
        <p:nvSpPr>
          <p:cNvPr id="112" name="Google Shape;112;g1f41efe2396_0_2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f41efe2396_0_19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A</a:t>
            </a:r>
            <a:endParaRPr/>
          </a:p>
        </p:txBody>
      </p:sp>
      <p:sp>
        <p:nvSpPr>
          <p:cNvPr id="119" name="Google Shape;119;g1f41efe2396_0_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f41efe2396_0_20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126" name="Google Shape;126;g1f41efe2396_0_2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11121f7325_0_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133" name="Google Shape;133;g211121f732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11121f7325_0_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140" name="Google Shape;140;g211121f7325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f41efe2396_0_20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147" name="Google Shape;147;g1f41efe2396_0_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f41efe2396_0_24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2900"/>
              </a:spcBef>
              <a:spcAft>
                <a:spcPts val="0"/>
              </a:spcAft>
              <a:buClr>
                <a:srgbClr val="595959"/>
              </a:buClr>
              <a:buSzPts val="1200"/>
              <a:buFont typeface="Arial"/>
              <a:buAutoNum type="arabicPeriod"/>
            </a:pPr>
            <a:r>
              <a:rPr lang="en" sz="1200">
                <a:solidFill>
                  <a:srgbClr val="595959"/>
                </a:solidFill>
                <a:highlight>
                  <a:schemeClr val="lt1"/>
                </a:highlight>
              </a:rPr>
              <a:t>A</a:t>
            </a:r>
            <a:endParaRPr sz="1200">
              <a:solidFill>
                <a:srgbClr val="595959"/>
              </a:solidFill>
              <a:highlight>
                <a:schemeClr val="lt1"/>
              </a:highlight>
            </a:endParaRPr>
          </a:p>
          <a:p>
            <a:pPr indent="-304800" lvl="0" marL="457200" rtl="0" algn="l">
              <a:lnSpc>
                <a:spcPct val="115000"/>
              </a:lnSpc>
              <a:spcBef>
                <a:spcPts val="0"/>
              </a:spcBef>
              <a:spcAft>
                <a:spcPts val="0"/>
              </a:spcAft>
              <a:buClr>
                <a:srgbClr val="595959"/>
              </a:buClr>
              <a:buSzPts val="1200"/>
              <a:buFont typeface="Arial"/>
              <a:buAutoNum type="arabicPeriod"/>
            </a:pPr>
            <a:r>
              <a:rPr lang="en" sz="1200">
                <a:solidFill>
                  <a:srgbClr val="595959"/>
                </a:solidFill>
                <a:highlight>
                  <a:schemeClr val="lt1"/>
                </a:highlight>
              </a:rPr>
              <a:t>Public blockchain: Public blockchains, such as Bitcoin and Ethereum, are open to anyone who wants to participate. Anyone can download the software, create an address, and start making transactions. Public blockchains are decentralized and often use a proof-of-work (PoW) or proof-of-stake (PoS) consensus mechanism to validate transactions and secure the network.</a:t>
            </a:r>
            <a:endParaRPr sz="1200">
              <a:solidFill>
                <a:srgbClr val="595959"/>
              </a:solidFill>
              <a:highlight>
                <a:schemeClr val="lt1"/>
              </a:highlight>
            </a:endParaRPr>
          </a:p>
          <a:p>
            <a:pPr indent="-304800" lvl="0" marL="457200" rtl="0" algn="l">
              <a:lnSpc>
                <a:spcPct val="115000"/>
              </a:lnSpc>
              <a:spcBef>
                <a:spcPts val="0"/>
              </a:spcBef>
              <a:spcAft>
                <a:spcPts val="0"/>
              </a:spcAft>
              <a:buClr>
                <a:srgbClr val="595959"/>
              </a:buClr>
              <a:buSzPts val="1200"/>
              <a:buFont typeface="Arial"/>
              <a:buAutoNum type="arabicPeriod"/>
            </a:pPr>
            <a:r>
              <a:rPr lang="en" sz="1200">
                <a:solidFill>
                  <a:srgbClr val="595959"/>
                </a:solidFill>
                <a:highlight>
                  <a:schemeClr val="lt1"/>
                </a:highlight>
              </a:rPr>
              <a:t>Private blockchain: Private blockchains are typically used by businesses or organizations for internal purposes. They are not open to the public and access is restricted to a select group of participants. Private blockchains are usually run by a single entity and use a consensus mechanism that is different from that of public blockchains.</a:t>
            </a:r>
            <a:endParaRPr sz="1200">
              <a:solidFill>
                <a:srgbClr val="595959"/>
              </a:solidFill>
              <a:highlight>
                <a:schemeClr val="lt1"/>
              </a:highlight>
            </a:endParaRPr>
          </a:p>
          <a:p>
            <a:pPr indent="-304800" lvl="0" marL="457200" rtl="0" algn="l">
              <a:lnSpc>
                <a:spcPct val="115000"/>
              </a:lnSpc>
              <a:spcBef>
                <a:spcPts val="0"/>
              </a:spcBef>
              <a:spcAft>
                <a:spcPts val="0"/>
              </a:spcAft>
              <a:buClr>
                <a:srgbClr val="595959"/>
              </a:buClr>
              <a:buSzPts val="1200"/>
              <a:buFont typeface="Arial"/>
              <a:buAutoNum type="arabicPeriod"/>
            </a:pPr>
            <a:r>
              <a:rPr lang="en" sz="1200">
                <a:solidFill>
                  <a:srgbClr val="595959"/>
                </a:solidFill>
                <a:highlight>
                  <a:schemeClr val="lt1"/>
                </a:highlight>
              </a:rPr>
              <a:t>Hybrid blockchain: Hybrid blockchains combine elements of both public and private blockchains. They allow for some transactions to be public and transparent, while others are kept private and secure. Hybrid blockchains can be useful for industries that require both privacy and transparency, such as supply chain management or healthcare.</a:t>
            </a:r>
            <a:endParaRPr/>
          </a:p>
        </p:txBody>
      </p:sp>
      <p:sp>
        <p:nvSpPr>
          <p:cNvPr id="154" name="Google Shape;154;g1f41efe2396_0_2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f41efe2396_0_26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A 1st two</a:t>
            </a:r>
            <a:endParaRPr/>
          </a:p>
          <a:p>
            <a:pPr indent="-139700" lvl="0" marL="254000" rtl="0" algn="l">
              <a:lnSpc>
                <a:spcPct val="100000"/>
              </a:lnSpc>
              <a:spcBef>
                <a:spcPts val="0"/>
              </a:spcBef>
              <a:spcAft>
                <a:spcPts val="0"/>
              </a:spcAft>
              <a:buClr>
                <a:srgbClr val="0000FF"/>
              </a:buClr>
              <a:buSzPts val="1800"/>
              <a:buFont typeface="Arial"/>
              <a:buNone/>
            </a:pPr>
            <a:r>
              <a:rPr lang="en"/>
              <a:t>B 2nd two</a:t>
            </a:r>
            <a:endParaRPr/>
          </a:p>
        </p:txBody>
      </p:sp>
      <p:sp>
        <p:nvSpPr>
          <p:cNvPr id="162" name="Google Shape;162;g1f41efe2396_0_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41efe2396_0_24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170" name="Google Shape;170;g1f41efe2396_0_2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f41efe2396_0_28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A</a:t>
            </a:r>
            <a:endParaRPr/>
          </a:p>
        </p:txBody>
      </p:sp>
      <p:sp>
        <p:nvSpPr>
          <p:cNvPr id="178" name="Google Shape;178;g1f41efe2396_0_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f41efe2396_0_34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185" name="Google Shape;185;g1f41efe2396_0_3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100ccd320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100ccd320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100ccd32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100ccd32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100ccd320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100ccd320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100ccd320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100ccd320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100ccd320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100ccd320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100ccd320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100ccd320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100ccd320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100ccd320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f41efe2396_0_26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rPr lang="en"/>
              <a:t>B</a:t>
            </a:r>
            <a:endParaRPr/>
          </a:p>
        </p:txBody>
      </p:sp>
      <p:sp>
        <p:nvSpPr>
          <p:cNvPr id="241" name="Google Shape;241;g1f41efe2396_0_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f41efe2396_0_27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248" name="Google Shape;248;g1f41efe2396_0_2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f41efe2396_0_2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139700" lvl="0" marL="254000" rtl="0" algn="l">
              <a:lnSpc>
                <a:spcPct val="100000"/>
              </a:lnSpc>
              <a:spcBef>
                <a:spcPts val="0"/>
              </a:spcBef>
              <a:spcAft>
                <a:spcPts val="0"/>
              </a:spcAft>
              <a:buClr>
                <a:srgbClr val="0000FF"/>
              </a:buClr>
              <a:buSzPts val="1800"/>
              <a:buFont typeface="Arial"/>
              <a:buNone/>
            </a:pPr>
            <a:r>
              <a:t/>
            </a:r>
            <a:endParaRPr/>
          </a:p>
        </p:txBody>
      </p:sp>
      <p:sp>
        <p:nvSpPr>
          <p:cNvPr id="255" name="Google Shape;255;g1f41efe2396_0_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x">
  <p:cSld name="TITLE_AND_BODY">
    <p:spTree>
      <p:nvGrpSpPr>
        <p:cNvPr id="56" name="Shape 56"/>
        <p:cNvGrpSpPr/>
        <p:nvPr/>
      </p:nvGrpSpPr>
      <p:grpSpPr>
        <a:xfrm>
          <a:off x="0" y="0"/>
          <a:ext cx="0" cy="0"/>
          <a:chOff x="0" y="0"/>
          <a:chExt cx="0" cy="0"/>
        </a:xfrm>
      </p:grpSpPr>
      <p:pic>
        <p:nvPicPr>
          <p:cNvPr descr="Picture 11" id="57" name="Google Shape;57;p14"/>
          <p:cNvPicPr preferRelativeResize="0"/>
          <p:nvPr/>
        </p:nvPicPr>
        <p:blipFill rotWithShape="1">
          <a:blip r:embed="rId2">
            <a:alphaModFix/>
          </a:blip>
          <a:srcRect b="0" l="0" r="0" t="0"/>
          <a:stretch/>
        </p:blipFill>
        <p:spPr>
          <a:xfrm>
            <a:off x="1" y="4187426"/>
            <a:ext cx="9128125" cy="966791"/>
          </a:xfrm>
          <a:prstGeom prst="rect">
            <a:avLst/>
          </a:prstGeom>
          <a:noFill/>
          <a:ln>
            <a:noFill/>
          </a:ln>
        </p:spPr>
      </p:pic>
      <p:sp>
        <p:nvSpPr>
          <p:cNvPr id="58" name="Google Shape;58;p14"/>
          <p:cNvSpPr/>
          <p:nvPr/>
        </p:nvSpPr>
        <p:spPr>
          <a:xfrm>
            <a:off x="0" y="0"/>
            <a:ext cx="9144000" cy="1314600"/>
          </a:xfrm>
          <a:prstGeom prst="rect">
            <a:avLst/>
          </a:prstGeom>
          <a:solidFill>
            <a:srgbClr val="335295"/>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txBox="1"/>
          <p:nvPr>
            <p:ph type="title"/>
          </p:nvPr>
        </p:nvSpPr>
        <p:spPr>
          <a:xfrm>
            <a:off x="685800" y="1714500"/>
            <a:ext cx="7772400" cy="8574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0" name="Google Shape;60;p14"/>
          <p:cNvSpPr txBox="1"/>
          <p:nvPr>
            <p:ph idx="1" type="body"/>
          </p:nvPr>
        </p:nvSpPr>
        <p:spPr>
          <a:xfrm>
            <a:off x="1371600" y="2857500"/>
            <a:ext cx="6400800" cy="1314600"/>
          </a:xfrm>
          <a:prstGeom prst="rect">
            <a:avLst/>
          </a:prstGeom>
          <a:noFill/>
          <a:ln>
            <a:noFill/>
          </a:ln>
        </p:spPr>
        <p:txBody>
          <a:bodyPr anchorCtr="0" anchor="t" bIns="34275" lIns="34275" spcFirstLastPara="1" rIns="34275" wrap="square" tIns="34275">
            <a:normAutofit/>
          </a:bodyPr>
          <a:lstStyle>
            <a:lvl1pPr indent="-228600" lvl="0" marL="457200" rtl="0" algn="ctr">
              <a:lnSpc>
                <a:spcPct val="100000"/>
              </a:lnSpc>
              <a:spcBef>
                <a:spcPts val="500"/>
              </a:spcBef>
              <a:spcAft>
                <a:spcPts val="0"/>
              </a:spcAft>
              <a:buClr>
                <a:srgbClr val="808080"/>
              </a:buClr>
              <a:buSzPts val="2100"/>
              <a:buFont typeface="Arial"/>
              <a:buNone/>
              <a:defRPr sz="2100">
                <a:solidFill>
                  <a:srgbClr val="808080"/>
                </a:solidFill>
              </a:defRPr>
            </a:lvl1pPr>
            <a:lvl2pPr indent="-361950" lvl="1" marL="914400" rtl="0" algn="ctr">
              <a:lnSpc>
                <a:spcPct val="100000"/>
              </a:lnSpc>
              <a:spcBef>
                <a:spcPts val="500"/>
              </a:spcBef>
              <a:spcAft>
                <a:spcPts val="0"/>
              </a:spcAft>
              <a:buClr>
                <a:srgbClr val="808080"/>
              </a:buClr>
              <a:buSzPts val="2100"/>
              <a:buFont typeface="Arial"/>
              <a:buChar char="–"/>
              <a:defRPr sz="2100">
                <a:solidFill>
                  <a:srgbClr val="808080"/>
                </a:solidFill>
              </a:defRPr>
            </a:lvl2pPr>
            <a:lvl3pPr indent="-361950" lvl="2" marL="1371600" rtl="0" algn="ctr">
              <a:lnSpc>
                <a:spcPct val="100000"/>
              </a:lnSpc>
              <a:spcBef>
                <a:spcPts val="500"/>
              </a:spcBef>
              <a:spcAft>
                <a:spcPts val="0"/>
              </a:spcAft>
              <a:buClr>
                <a:srgbClr val="808080"/>
              </a:buClr>
              <a:buSzPts val="2100"/>
              <a:buFont typeface="Arial"/>
              <a:buChar char="•"/>
              <a:defRPr sz="2100">
                <a:solidFill>
                  <a:srgbClr val="808080"/>
                </a:solidFill>
              </a:defRPr>
            </a:lvl3pPr>
            <a:lvl4pPr indent="-361950" lvl="3" marL="1828800" rtl="0" algn="ctr">
              <a:lnSpc>
                <a:spcPct val="100000"/>
              </a:lnSpc>
              <a:spcBef>
                <a:spcPts val="500"/>
              </a:spcBef>
              <a:spcAft>
                <a:spcPts val="0"/>
              </a:spcAft>
              <a:buClr>
                <a:srgbClr val="808080"/>
              </a:buClr>
              <a:buSzPts val="2100"/>
              <a:buFont typeface="Arial"/>
              <a:buChar char="–"/>
              <a:defRPr sz="2100">
                <a:solidFill>
                  <a:srgbClr val="808080"/>
                </a:solidFill>
              </a:defRPr>
            </a:lvl4pPr>
            <a:lvl5pPr indent="-361950" lvl="4" marL="2286000" rtl="0" algn="ctr">
              <a:lnSpc>
                <a:spcPct val="100000"/>
              </a:lnSpc>
              <a:spcBef>
                <a:spcPts val="500"/>
              </a:spcBef>
              <a:spcAft>
                <a:spcPts val="0"/>
              </a:spcAft>
              <a:buClr>
                <a:srgbClr val="808080"/>
              </a:buClr>
              <a:buSzPts val="2100"/>
              <a:buFont typeface="Arial"/>
              <a:buChar char="»"/>
              <a:defRPr sz="2100">
                <a:solidFill>
                  <a:srgbClr val="808080"/>
                </a:solidFill>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
        <p:nvSpPr>
          <p:cNvPr id="61" name="Google Shape;61;p14"/>
          <p:cNvSpPr txBox="1"/>
          <p:nvPr>
            <p:ph idx="12" type="sldNum"/>
          </p:nvPr>
        </p:nvSpPr>
        <p:spPr>
          <a:xfrm>
            <a:off x="4419600" y="4629150"/>
            <a:ext cx="2133600" cy="207900"/>
          </a:xfrm>
          <a:prstGeom prst="rect">
            <a:avLst/>
          </a:prstGeom>
          <a:noFill/>
          <a:ln>
            <a:noFill/>
          </a:ln>
        </p:spPr>
        <p:txBody>
          <a:bodyPr anchorCtr="0" anchor="ctr" bIns="34275" lIns="34275" spcFirstLastPara="1" rIns="34275" wrap="square" tIns="34275">
            <a:spAutoFit/>
          </a:bodyPr>
          <a:lstStyle>
            <a:lvl1pPr indent="0" lvl="0"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900"/>
              <a:buFont typeface="Times New Roman"/>
              <a:buNone/>
              <a:defRPr b="0" i="0" sz="9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b="1" sz="1200">
              <a:solidFill>
                <a:schemeClr val="accent2"/>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2" name="Shape 62"/>
        <p:cNvGrpSpPr/>
        <p:nvPr/>
      </p:nvGrpSpPr>
      <p:grpSpPr>
        <a:xfrm>
          <a:off x="0" y="0"/>
          <a:ext cx="0" cy="0"/>
          <a:chOff x="0" y="0"/>
          <a:chExt cx="0" cy="0"/>
        </a:xfrm>
      </p:grpSpPr>
      <p:sp>
        <p:nvSpPr>
          <p:cNvPr id="63" name="Google Shape;63;p15"/>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64" name="Google Shape;64;p15"/>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rtl="0" algn="ctr">
              <a:lnSpc>
                <a:spcPct val="100000"/>
              </a:lnSpc>
              <a:spcBef>
                <a:spcPts val="0"/>
              </a:spcBef>
              <a:spcAft>
                <a:spcPts val="0"/>
              </a:spcAft>
              <a:buClr>
                <a:srgbClr val="1B57B5"/>
              </a:buClr>
              <a:buSzPts val="1400"/>
              <a:buNone/>
              <a:defRPr/>
            </a:lvl1pPr>
            <a:lvl2pPr lvl="1" rtl="0" algn="ctr">
              <a:lnSpc>
                <a:spcPct val="100000"/>
              </a:lnSpc>
              <a:spcBef>
                <a:spcPts val="0"/>
              </a:spcBef>
              <a:spcAft>
                <a:spcPts val="0"/>
              </a:spcAft>
              <a:buClr>
                <a:srgbClr val="1B57B5"/>
              </a:buClr>
              <a:buSzPts val="1400"/>
              <a:buNone/>
              <a:defRPr/>
            </a:lvl2pPr>
            <a:lvl3pPr lvl="2" rtl="0" algn="ctr">
              <a:lnSpc>
                <a:spcPct val="100000"/>
              </a:lnSpc>
              <a:spcBef>
                <a:spcPts val="0"/>
              </a:spcBef>
              <a:spcAft>
                <a:spcPts val="0"/>
              </a:spcAft>
              <a:buClr>
                <a:srgbClr val="1B57B5"/>
              </a:buClr>
              <a:buSzPts val="1400"/>
              <a:buNone/>
              <a:defRPr/>
            </a:lvl3pPr>
            <a:lvl4pPr lvl="3" rtl="0" algn="ctr">
              <a:lnSpc>
                <a:spcPct val="100000"/>
              </a:lnSpc>
              <a:spcBef>
                <a:spcPts val="0"/>
              </a:spcBef>
              <a:spcAft>
                <a:spcPts val="0"/>
              </a:spcAft>
              <a:buClr>
                <a:srgbClr val="1B57B5"/>
              </a:buClr>
              <a:buSzPts val="1400"/>
              <a:buNone/>
              <a:defRPr/>
            </a:lvl4pPr>
            <a:lvl5pPr lvl="4" rtl="0" algn="ctr">
              <a:lnSpc>
                <a:spcPct val="100000"/>
              </a:lnSpc>
              <a:spcBef>
                <a:spcPts val="0"/>
              </a:spcBef>
              <a:spcAft>
                <a:spcPts val="0"/>
              </a:spcAft>
              <a:buClr>
                <a:srgbClr val="1B57B5"/>
              </a:buClr>
              <a:buSzPts val="1400"/>
              <a:buNone/>
              <a:defRPr/>
            </a:lvl5pPr>
            <a:lvl6pPr lvl="5" rtl="0" algn="ctr">
              <a:lnSpc>
                <a:spcPct val="100000"/>
              </a:lnSpc>
              <a:spcBef>
                <a:spcPts val="0"/>
              </a:spcBef>
              <a:spcAft>
                <a:spcPts val="0"/>
              </a:spcAft>
              <a:buClr>
                <a:srgbClr val="1B57B5"/>
              </a:buClr>
              <a:buSzPts val="1400"/>
              <a:buNone/>
              <a:defRPr/>
            </a:lvl6pPr>
            <a:lvl7pPr lvl="6" rtl="0" algn="ctr">
              <a:lnSpc>
                <a:spcPct val="100000"/>
              </a:lnSpc>
              <a:spcBef>
                <a:spcPts val="0"/>
              </a:spcBef>
              <a:spcAft>
                <a:spcPts val="0"/>
              </a:spcAft>
              <a:buClr>
                <a:srgbClr val="1B57B5"/>
              </a:buClr>
              <a:buSzPts val="1400"/>
              <a:buNone/>
              <a:defRPr/>
            </a:lvl7pPr>
            <a:lvl8pPr lvl="7" rtl="0" algn="ctr">
              <a:lnSpc>
                <a:spcPct val="100000"/>
              </a:lnSpc>
              <a:spcBef>
                <a:spcPts val="0"/>
              </a:spcBef>
              <a:spcAft>
                <a:spcPts val="0"/>
              </a:spcAft>
              <a:buClr>
                <a:srgbClr val="1B57B5"/>
              </a:buClr>
              <a:buSzPts val="1400"/>
              <a:buNone/>
              <a:defRPr/>
            </a:lvl8pPr>
            <a:lvl9pPr lvl="8" rtl="0" algn="ctr">
              <a:lnSpc>
                <a:spcPct val="100000"/>
              </a:lnSpc>
              <a:spcBef>
                <a:spcPts val="0"/>
              </a:spcBef>
              <a:spcAft>
                <a:spcPts val="0"/>
              </a:spcAft>
              <a:buClr>
                <a:srgbClr val="1B57B5"/>
              </a:buClr>
              <a:buSzPts val="1400"/>
              <a:buNone/>
              <a:defRPr/>
            </a:lvl9pPr>
          </a:lstStyle>
          <a:p/>
        </p:txBody>
      </p:sp>
      <p:sp>
        <p:nvSpPr>
          <p:cNvPr id="65" name="Google Shape;65;p15"/>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17500" lvl="0" marL="457200" rtl="0" algn="l">
              <a:lnSpc>
                <a:spcPct val="100000"/>
              </a:lnSpc>
              <a:spcBef>
                <a:spcPts val="400"/>
              </a:spcBef>
              <a:spcAft>
                <a:spcPts val="0"/>
              </a:spcAft>
              <a:buClr>
                <a:srgbClr val="0000FF"/>
              </a:buClr>
              <a:buSzPts val="1400"/>
              <a:buChar char="•"/>
              <a:defRPr/>
            </a:lvl1pPr>
            <a:lvl2pPr indent="-317500" lvl="1" marL="914400" rtl="0" algn="l">
              <a:lnSpc>
                <a:spcPct val="100000"/>
              </a:lnSpc>
              <a:spcBef>
                <a:spcPts val="400"/>
              </a:spcBef>
              <a:spcAft>
                <a:spcPts val="0"/>
              </a:spcAft>
              <a:buClr>
                <a:srgbClr val="0000FF"/>
              </a:buClr>
              <a:buSzPts val="1400"/>
              <a:buChar char="–"/>
              <a:defRPr/>
            </a:lvl2pPr>
            <a:lvl3pPr indent="-317500" lvl="2" marL="1371600" rtl="0" algn="l">
              <a:lnSpc>
                <a:spcPct val="100000"/>
              </a:lnSpc>
              <a:spcBef>
                <a:spcPts val="400"/>
              </a:spcBef>
              <a:spcAft>
                <a:spcPts val="0"/>
              </a:spcAft>
              <a:buClr>
                <a:srgbClr val="0000FF"/>
              </a:buClr>
              <a:buSzPts val="1400"/>
              <a:buChar char="•"/>
              <a:defRPr/>
            </a:lvl3pPr>
            <a:lvl4pPr indent="-317500" lvl="3" marL="1828800" rtl="0" algn="l">
              <a:lnSpc>
                <a:spcPct val="100000"/>
              </a:lnSpc>
              <a:spcBef>
                <a:spcPts val="400"/>
              </a:spcBef>
              <a:spcAft>
                <a:spcPts val="0"/>
              </a:spcAft>
              <a:buClr>
                <a:srgbClr val="0000FF"/>
              </a:buClr>
              <a:buSzPts val="1400"/>
              <a:buChar char="–"/>
              <a:defRPr/>
            </a:lvl4pPr>
            <a:lvl5pPr indent="-317500" lvl="4" marL="2286000" rtl="0" algn="l">
              <a:lnSpc>
                <a:spcPct val="100000"/>
              </a:lnSpc>
              <a:spcBef>
                <a:spcPts val="400"/>
              </a:spcBef>
              <a:spcAft>
                <a:spcPts val="0"/>
              </a:spcAft>
              <a:buClr>
                <a:srgbClr val="0000FF"/>
              </a:buClr>
              <a:buSzPts val="1400"/>
              <a:buChar char="»"/>
              <a:defRPr/>
            </a:lvl5pPr>
            <a:lvl6pPr indent="-317500" lvl="5" marL="2743200" rtl="0" algn="l">
              <a:lnSpc>
                <a:spcPct val="100000"/>
              </a:lnSpc>
              <a:spcBef>
                <a:spcPts val="400"/>
              </a:spcBef>
              <a:spcAft>
                <a:spcPts val="0"/>
              </a:spcAft>
              <a:buClr>
                <a:srgbClr val="0000FF"/>
              </a:buClr>
              <a:buSzPts val="1400"/>
              <a:buChar char="»"/>
              <a:defRPr/>
            </a:lvl6pPr>
            <a:lvl7pPr indent="-317500" lvl="6" marL="3200400" rtl="0" algn="l">
              <a:lnSpc>
                <a:spcPct val="100000"/>
              </a:lnSpc>
              <a:spcBef>
                <a:spcPts val="400"/>
              </a:spcBef>
              <a:spcAft>
                <a:spcPts val="0"/>
              </a:spcAft>
              <a:buClr>
                <a:srgbClr val="0000FF"/>
              </a:buClr>
              <a:buSzPts val="1400"/>
              <a:buChar char="»"/>
              <a:defRPr/>
            </a:lvl7pPr>
            <a:lvl8pPr indent="-317500" lvl="7" marL="3657600" rtl="0" algn="l">
              <a:lnSpc>
                <a:spcPct val="100000"/>
              </a:lnSpc>
              <a:spcBef>
                <a:spcPts val="400"/>
              </a:spcBef>
              <a:spcAft>
                <a:spcPts val="0"/>
              </a:spcAft>
              <a:buClr>
                <a:srgbClr val="0000FF"/>
              </a:buClr>
              <a:buSzPts val="1400"/>
              <a:buChar char="»"/>
              <a:defRPr/>
            </a:lvl8pPr>
            <a:lvl9pPr indent="-317500" lvl="8" marL="4114800" rtl="0" algn="l">
              <a:lnSpc>
                <a:spcPct val="100000"/>
              </a:lnSpc>
              <a:spcBef>
                <a:spcPts val="400"/>
              </a:spcBef>
              <a:spcAft>
                <a:spcPts val="0"/>
              </a:spcAft>
              <a:buClr>
                <a:srgbClr val="0000FF"/>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66" name="Shape 66"/>
        <p:cNvGrpSpPr/>
        <p:nvPr/>
      </p:nvGrpSpPr>
      <p:grpSpPr>
        <a:xfrm>
          <a:off x="0" y="0"/>
          <a:ext cx="0" cy="0"/>
          <a:chOff x="0" y="0"/>
          <a:chExt cx="0" cy="0"/>
        </a:xfrm>
      </p:grpSpPr>
      <p:pic>
        <p:nvPicPr>
          <p:cNvPr descr="Picture 21" id="67" name="Google Shape;67;p16"/>
          <p:cNvPicPr preferRelativeResize="0"/>
          <p:nvPr/>
        </p:nvPicPr>
        <p:blipFill rotWithShape="1">
          <a:blip r:embed="rId2">
            <a:alphaModFix/>
          </a:blip>
          <a:srcRect b="0" l="0" r="0" t="0"/>
          <a:stretch/>
        </p:blipFill>
        <p:spPr>
          <a:xfrm>
            <a:off x="1" y="4176545"/>
            <a:ext cx="9142413" cy="966956"/>
          </a:xfrm>
          <a:prstGeom prst="rect">
            <a:avLst/>
          </a:prstGeom>
          <a:noFill/>
          <a:ln>
            <a:noFill/>
          </a:ln>
        </p:spPr>
      </p:pic>
      <p:sp>
        <p:nvSpPr>
          <p:cNvPr id="68" name="Google Shape;68;p16"/>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descr="Picture 21" id="51" name="Google Shape;51;p13"/>
          <p:cNvPicPr preferRelativeResize="0"/>
          <p:nvPr/>
        </p:nvPicPr>
        <p:blipFill rotWithShape="1">
          <a:blip r:embed="rId1">
            <a:alphaModFix/>
          </a:blip>
          <a:srcRect b="0" l="0" r="0" t="0"/>
          <a:stretch/>
        </p:blipFill>
        <p:spPr>
          <a:xfrm>
            <a:off x="1" y="4176545"/>
            <a:ext cx="9142413" cy="966956"/>
          </a:xfrm>
          <a:prstGeom prst="rect">
            <a:avLst/>
          </a:prstGeom>
          <a:noFill/>
          <a:ln>
            <a:noFill/>
          </a:ln>
        </p:spPr>
      </p:pic>
      <p:sp>
        <p:nvSpPr>
          <p:cNvPr id="52" name="Google Shape;52;p13"/>
          <p:cNvSpPr txBox="1"/>
          <p:nvPr>
            <p:ph idx="12" type="sldNum"/>
          </p:nvPr>
        </p:nvSpPr>
        <p:spPr>
          <a:xfrm>
            <a:off x="0" y="4686365"/>
            <a:ext cx="685800" cy="184800"/>
          </a:xfrm>
          <a:prstGeom prst="rect">
            <a:avLst/>
          </a:prstGeom>
          <a:solidFill>
            <a:srgbClr val="FFFFFF"/>
          </a:solidFill>
          <a:ln cap="flat" cmpd="sng" w="25400">
            <a:solidFill>
              <a:srgbClr val="FFFFFF"/>
            </a:solidFill>
            <a:prstDash val="solid"/>
            <a:round/>
            <a:headEnd len="sm" w="sm" type="none"/>
            <a:tailEnd len="sm" w="sm" type="none"/>
          </a:ln>
        </p:spPr>
        <p:txBody>
          <a:bodyPr anchorCtr="0" anchor="ctr" bIns="0" lIns="0" spcFirstLastPara="1" rIns="0" wrap="square" tIns="0">
            <a:spAutoFit/>
          </a:bodyPr>
          <a:lstStyle>
            <a:lvl1pPr indent="0" lvl="0"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1pPr>
            <a:lvl2pPr indent="0" lvl="1"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2pPr>
            <a:lvl3pPr indent="0" lvl="2"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3pPr>
            <a:lvl4pPr indent="0" lvl="3"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4pPr>
            <a:lvl5pPr indent="0" lvl="4"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5pPr>
            <a:lvl6pPr indent="0" lvl="5"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6pPr>
            <a:lvl7pPr indent="0" lvl="6"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7pPr>
            <a:lvl8pPr indent="0" lvl="7"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8pPr>
            <a:lvl9pPr indent="0" lvl="8" marL="0" marR="0" rtl="0" algn="ctr">
              <a:lnSpc>
                <a:spcPct val="100000"/>
              </a:lnSpc>
              <a:spcBef>
                <a:spcPts val="0"/>
              </a:spcBef>
              <a:spcAft>
                <a:spcPts val="0"/>
              </a:spcAft>
              <a:buClr>
                <a:schemeClr val="accent2"/>
              </a:buClr>
              <a:buSzPts val="1200"/>
              <a:buFont typeface="Calibri"/>
              <a:buNone/>
              <a:defRPr b="1" i="0" sz="1200" u="none" cap="none" strike="noStrike">
                <a:solidFill>
                  <a:schemeClr val="accent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b="0" sz="1100">
              <a:solidFill>
                <a:srgbClr val="000000"/>
              </a:solidFill>
              <a:latin typeface="Arial"/>
              <a:ea typeface="Arial"/>
              <a:cs typeface="Arial"/>
              <a:sym typeface="Arial"/>
            </a:endParaRPr>
          </a:p>
        </p:txBody>
      </p:sp>
      <p:cxnSp>
        <p:nvCxnSpPr>
          <p:cNvPr id="53" name="Google Shape;53;p13"/>
          <p:cNvCxnSpPr/>
          <p:nvPr/>
        </p:nvCxnSpPr>
        <p:spPr>
          <a:xfrm>
            <a:off x="457200" y="800100"/>
            <a:ext cx="8229600" cy="1200"/>
          </a:xfrm>
          <a:prstGeom prst="straightConnector1">
            <a:avLst/>
          </a:prstGeom>
          <a:noFill/>
          <a:ln cap="flat" cmpd="sng" w="9525">
            <a:solidFill>
              <a:srgbClr val="B7E3E7"/>
            </a:solidFill>
            <a:prstDash val="solid"/>
            <a:round/>
            <a:headEnd len="sm" w="sm" type="none"/>
            <a:tailEnd len="sm" w="sm" type="none"/>
          </a:ln>
        </p:spPr>
      </p:cxnSp>
      <p:sp>
        <p:nvSpPr>
          <p:cNvPr id="54" name="Google Shape;54;p1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lvl1pPr lvl="0"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1pPr>
            <a:lvl2pPr lvl="1"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2pPr>
            <a:lvl3pPr lvl="2"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3pPr>
            <a:lvl4pPr lvl="3"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4pPr>
            <a:lvl5pPr lvl="4"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5pPr>
            <a:lvl6pPr lvl="5"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6pPr>
            <a:lvl7pPr lvl="6"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7pPr>
            <a:lvl8pPr lvl="7"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8pPr>
            <a:lvl9pPr lvl="8" marR="0" rtl="0" algn="ctr">
              <a:lnSpc>
                <a:spcPct val="100000"/>
              </a:lnSpc>
              <a:spcBef>
                <a:spcPts val="0"/>
              </a:spcBef>
              <a:spcAft>
                <a:spcPts val="0"/>
              </a:spcAft>
              <a:buClr>
                <a:srgbClr val="1B57B5"/>
              </a:buClr>
              <a:buSzPts val="2400"/>
              <a:buFont typeface="Arial"/>
              <a:buNone/>
              <a:defRPr b="0" i="0" sz="2400" u="none" cap="none" strike="noStrike">
                <a:solidFill>
                  <a:srgbClr val="1B57B5"/>
                </a:solidFill>
                <a:latin typeface="Arial"/>
                <a:ea typeface="Arial"/>
                <a:cs typeface="Arial"/>
                <a:sym typeface="Arial"/>
              </a:defRPr>
            </a:lvl9pPr>
          </a:lstStyle>
          <a:p/>
        </p:txBody>
      </p:sp>
      <p:sp>
        <p:nvSpPr>
          <p:cNvPr id="55" name="Google Shape;55;p13"/>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rmAutofit/>
          </a:bodyPr>
          <a:lstStyle>
            <a:lvl1pPr indent="-342900" lvl="0" marL="457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1pPr>
            <a:lvl2pPr indent="-342900" lvl="1" marL="914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2pPr>
            <a:lvl3pPr indent="-342900" lvl="2" marL="1371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3pPr>
            <a:lvl4pPr indent="-342900" lvl="3" marL="1828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4pPr>
            <a:lvl5pPr indent="-342900" lvl="4" marL="22860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5pPr>
            <a:lvl6pPr indent="-342900" lvl="5" marL="27432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6pPr>
            <a:lvl7pPr indent="-342900" lvl="6" marL="32004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7pPr>
            <a:lvl8pPr indent="-342900" lvl="7" marL="36576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8pPr>
            <a:lvl9pPr indent="-342900" lvl="8" marL="4114800" marR="0" rtl="0" algn="l">
              <a:lnSpc>
                <a:spcPct val="100000"/>
              </a:lnSpc>
              <a:spcBef>
                <a:spcPts val="400"/>
              </a:spcBef>
              <a:spcAft>
                <a:spcPts val="0"/>
              </a:spcAft>
              <a:buClr>
                <a:srgbClr val="0000FF"/>
              </a:buClr>
              <a:buSzPts val="1800"/>
              <a:buFont typeface="Arial"/>
              <a:buChar char="»"/>
              <a:defRPr b="0" i="0" sz="1800" u="none" cap="none" strike="noStrike">
                <a:solidFill>
                  <a:srgbClr val="0000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685800" y="1419875"/>
            <a:ext cx="7772400" cy="8574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b="0" i="0" lang="en" sz="2500" u="none" cap="none" strike="noStrike">
                <a:solidFill>
                  <a:srgbClr val="1B57B5"/>
                </a:solidFill>
                <a:latin typeface="Arial"/>
                <a:ea typeface="Arial"/>
                <a:cs typeface="Arial"/>
                <a:sym typeface="Arial"/>
              </a:rPr>
              <a:t>S</a:t>
            </a:r>
            <a:r>
              <a:rPr lang="en" sz="2500"/>
              <a:t>econd-Hand Car Trade</a:t>
            </a:r>
            <a:r>
              <a:rPr b="0" i="0" lang="en" sz="2500" u="none" cap="none" strike="noStrike">
                <a:solidFill>
                  <a:srgbClr val="1B57B5"/>
                </a:solidFill>
                <a:latin typeface="Arial"/>
                <a:ea typeface="Arial"/>
                <a:cs typeface="Arial"/>
                <a:sym typeface="Arial"/>
              </a:rPr>
              <a:t> </a:t>
            </a:r>
            <a:r>
              <a:rPr lang="en" sz="2500"/>
              <a:t>U</a:t>
            </a:r>
            <a:r>
              <a:rPr b="0" i="0" lang="en" sz="2500" u="none" cap="none" strike="noStrike">
                <a:solidFill>
                  <a:srgbClr val="1B57B5"/>
                </a:solidFill>
                <a:latin typeface="Arial"/>
                <a:ea typeface="Arial"/>
                <a:cs typeface="Arial"/>
                <a:sym typeface="Arial"/>
              </a:rPr>
              <a:t>sing Blockchain</a:t>
            </a:r>
            <a:endParaRPr sz="2500"/>
          </a:p>
        </p:txBody>
      </p:sp>
      <p:sp>
        <p:nvSpPr>
          <p:cNvPr id="74" name="Google Shape;74;p17"/>
          <p:cNvSpPr txBox="1"/>
          <p:nvPr>
            <p:ph idx="1" type="body"/>
          </p:nvPr>
        </p:nvSpPr>
        <p:spPr>
          <a:xfrm>
            <a:off x="1371600" y="2571750"/>
            <a:ext cx="6400800" cy="1314600"/>
          </a:xfrm>
          <a:prstGeom prst="rect">
            <a:avLst/>
          </a:prstGeom>
          <a:noFill/>
          <a:ln>
            <a:noFill/>
          </a:ln>
        </p:spPr>
        <p:txBody>
          <a:bodyPr anchorCtr="0" anchor="t" bIns="34275" lIns="34275" spcFirstLastPara="1" rIns="34275" wrap="square" tIns="34275">
            <a:noAutofit/>
          </a:bodyPr>
          <a:lstStyle/>
          <a:p>
            <a:pPr indent="0" lvl="0" marL="0" rtl="0" algn="ctr">
              <a:lnSpc>
                <a:spcPct val="80000"/>
              </a:lnSpc>
              <a:spcBef>
                <a:spcPts val="0"/>
              </a:spcBef>
              <a:spcAft>
                <a:spcPts val="0"/>
              </a:spcAft>
              <a:buClr>
                <a:srgbClr val="808080"/>
              </a:buClr>
              <a:buSzPts val="1110"/>
              <a:buFont typeface="Arial"/>
              <a:buNone/>
            </a:pPr>
            <a:r>
              <a:rPr lang="en" sz="1500"/>
              <a:t>By:</a:t>
            </a:r>
            <a:endParaRPr sz="1500"/>
          </a:p>
          <a:p>
            <a:pPr indent="0" lvl="0" marL="0" rtl="0" algn="ctr">
              <a:lnSpc>
                <a:spcPct val="80000"/>
              </a:lnSpc>
              <a:spcBef>
                <a:spcPts val="200"/>
              </a:spcBef>
              <a:spcAft>
                <a:spcPts val="0"/>
              </a:spcAft>
              <a:buClr>
                <a:srgbClr val="808080"/>
              </a:buClr>
              <a:buSzPts val="1110"/>
              <a:buFont typeface="Arial"/>
              <a:buNone/>
            </a:pPr>
            <a:r>
              <a:rPr lang="en" sz="1500"/>
              <a:t>Arun Pradeep		195002014</a:t>
            </a:r>
            <a:endParaRPr sz="1500"/>
          </a:p>
          <a:p>
            <a:pPr indent="0" lvl="0" marL="0" rtl="0" algn="ctr">
              <a:lnSpc>
                <a:spcPct val="80000"/>
              </a:lnSpc>
              <a:spcBef>
                <a:spcPts val="200"/>
              </a:spcBef>
              <a:spcAft>
                <a:spcPts val="0"/>
              </a:spcAft>
              <a:buClr>
                <a:srgbClr val="808080"/>
              </a:buClr>
              <a:buSzPts val="1110"/>
              <a:buFont typeface="Arial"/>
              <a:buNone/>
            </a:pPr>
            <a:r>
              <a:rPr lang="en" sz="1500"/>
              <a:t>Bhavna Magendiran	195002021</a:t>
            </a:r>
            <a:endParaRPr sz="1500"/>
          </a:p>
          <a:p>
            <a:pPr indent="0" lvl="0" marL="0" rtl="0" algn="ctr">
              <a:lnSpc>
                <a:spcPct val="80000"/>
              </a:lnSpc>
              <a:spcBef>
                <a:spcPts val="200"/>
              </a:spcBef>
              <a:spcAft>
                <a:spcPts val="0"/>
              </a:spcAft>
              <a:buClr>
                <a:srgbClr val="808080"/>
              </a:buClr>
              <a:buSzPts val="1110"/>
              <a:buFont typeface="Arial"/>
              <a:buNone/>
            </a:pPr>
            <a:r>
              <a:t/>
            </a:r>
            <a:endParaRPr sz="1500"/>
          </a:p>
          <a:p>
            <a:pPr indent="0" lvl="0" marL="0" rtl="0" algn="ctr">
              <a:lnSpc>
                <a:spcPct val="80000"/>
              </a:lnSpc>
              <a:spcBef>
                <a:spcPts val="200"/>
              </a:spcBef>
              <a:spcAft>
                <a:spcPts val="0"/>
              </a:spcAft>
              <a:buClr>
                <a:srgbClr val="808080"/>
              </a:buClr>
              <a:buSzPts val="1110"/>
              <a:buFont typeface="Arial"/>
              <a:buNone/>
            </a:pPr>
            <a:r>
              <a:rPr lang="en" sz="1500"/>
              <a:t>Guided by:</a:t>
            </a:r>
            <a:endParaRPr sz="1500"/>
          </a:p>
          <a:p>
            <a:pPr indent="0" lvl="0" marL="0" rtl="0" algn="ctr">
              <a:lnSpc>
                <a:spcPct val="80000"/>
              </a:lnSpc>
              <a:spcBef>
                <a:spcPts val="200"/>
              </a:spcBef>
              <a:spcAft>
                <a:spcPts val="0"/>
              </a:spcAft>
              <a:buClr>
                <a:srgbClr val="808080"/>
              </a:buClr>
              <a:buSzPts val="1110"/>
              <a:buFont typeface="Arial"/>
              <a:buNone/>
            </a:pPr>
            <a:r>
              <a:rPr lang="en" sz="1500">
                <a:highlight>
                  <a:srgbClr val="FFFFFF"/>
                </a:highlight>
              </a:rPr>
              <a:t>Dr. S. Mohanavalli</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a:t>OUTLINE</a:t>
            </a:r>
            <a:endParaRPr/>
          </a:p>
        </p:txBody>
      </p:sp>
      <p:sp>
        <p:nvSpPr>
          <p:cNvPr id="80" name="Google Shape;80;p18"/>
          <p:cNvSpPr txBox="1"/>
          <p:nvPr>
            <p:ph idx="1" type="body"/>
          </p:nvPr>
        </p:nvSpPr>
        <p:spPr>
          <a:xfrm>
            <a:off x="457200" y="914400"/>
            <a:ext cx="4833900" cy="3680100"/>
          </a:xfrm>
          <a:prstGeom prst="rect">
            <a:avLst/>
          </a:prstGeom>
          <a:noFill/>
          <a:ln>
            <a:noFill/>
          </a:ln>
        </p:spPr>
        <p:txBody>
          <a:bodyPr anchorCtr="0" anchor="t" bIns="34275" lIns="34275" spcFirstLastPara="1" rIns="34275" wrap="square" tIns="34275">
            <a:normAutofit lnSpcReduction="10000"/>
          </a:bodyPr>
          <a:lstStyle/>
          <a:p>
            <a:pPr indent="-323850" lvl="0" marL="457200" rtl="0" algn="l">
              <a:lnSpc>
                <a:spcPct val="115000"/>
              </a:lnSpc>
              <a:spcBef>
                <a:spcPts val="0"/>
              </a:spcBef>
              <a:spcAft>
                <a:spcPts val="0"/>
              </a:spcAft>
              <a:buClr>
                <a:srgbClr val="595959"/>
              </a:buClr>
              <a:buSzPts val="1500"/>
              <a:buChar char="●"/>
            </a:pPr>
            <a:r>
              <a:rPr lang="en" sz="1500">
                <a:solidFill>
                  <a:srgbClr val="595959"/>
                </a:solidFill>
              </a:rPr>
              <a:t>Introduction</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Problem statement</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Challenges</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Proposed model</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System flow diagram</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System architecture diagram</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Blockchain type</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Consensus algorithm</a:t>
            </a:r>
            <a:endParaRPr sz="1500">
              <a:solidFill>
                <a:srgbClr val="595959"/>
              </a:solidFill>
            </a:endParaRPr>
          </a:p>
          <a:p>
            <a:pPr indent="-323850" lvl="1" marL="914400" rtl="0" algn="l">
              <a:lnSpc>
                <a:spcPct val="115000"/>
              </a:lnSpc>
              <a:spcBef>
                <a:spcPts val="0"/>
              </a:spcBef>
              <a:spcAft>
                <a:spcPts val="0"/>
              </a:spcAft>
              <a:buClr>
                <a:srgbClr val="595959"/>
              </a:buClr>
              <a:buSzPts val="1500"/>
              <a:buChar char="○"/>
            </a:pPr>
            <a:r>
              <a:rPr lang="en" sz="1500">
                <a:solidFill>
                  <a:srgbClr val="595959"/>
                </a:solidFill>
              </a:rPr>
              <a:t>Blockchain platform</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Expected outcomes</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Project timeline</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Literature survey</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Challenges faced</a:t>
            </a:r>
            <a:endParaRPr sz="1500">
              <a:solidFill>
                <a:srgbClr val="595959"/>
              </a:solidFill>
            </a:endParaRPr>
          </a:p>
          <a:p>
            <a:pPr indent="-323850" lvl="0" marL="457200" rtl="0" algn="l">
              <a:lnSpc>
                <a:spcPct val="115000"/>
              </a:lnSpc>
              <a:spcBef>
                <a:spcPts val="0"/>
              </a:spcBef>
              <a:spcAft>
                <a:spcPts val="0"/>
              </a:spcAft>
              <a:buClr>
                <a:srgbClr val="595959"/>
              </a:buClr>
              <a:buSzPts val="1500"/>
              <a:buChar char="●"/>
            </a:pPr>
            <a:r>
              <a:rPr lang="en" sz="1500">
                <a:solidFill>
                  <a:srgbClr val="595959"/>
                </a:solidFill>
              </a:rPr>
              <a:t>References</a:t>
            </a:r>
            <a:endParaRPr sz="1500">
              <a:solidFill>
                <a:srgbClr val="595959"/>
              </a:solidFill>
            </a:endParaRPr>
          </a:p>
        </p:txBody>
      </p:sp>
      <p:sp>
        <p:nvSpPr>
          <p:cNvPr id="81" name="Google Shape;81;p1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Clr>
                <a:srgbClr val="1B57B5"/>
              </a:buClr>
              <a:buSzPts val="2400"/>
              <a:buFont typeface="Arial"/>
              <a:buNone/>
            </a:pPr>
            <a:r>
              <a:rPr lang="en" sz="2500"/>
              <a:t>INTRODUCTION</a:t>
            </a:r>
            <a:endParaRPr/>
          </a:p>
        </p:txBody>
      </p:sp>
      <p:sp>
        <p:nvSpPr>
          <p:cNvPr id="87" name="Google Shape;87;p19"/>
          <p:cNvSpPr txBox="1"/>
          <p:nvPr>
            <p:ph idx="1" type="body"/>
          </p:nvPr>
        </p:nvSpPr>
        <p:spPr>
          <a:xfrm>
            <a:off x="457200" y="914402"/>
            <a:ext cx="8229600" cy="3680100"/>
          </a:xfrm>
          <a:prstGeom prst="rect">
            <a:avLst/>
          </a:prstGeom>
        </p:spPr>
        <p:txBody>
          <a:bodyPr anchorCtr="0" anchor="t" bIns="34275" lIns="34275" spcFirstLastPara="1" rIns="34275" wrap="square" tIns="34275">
            <a:normAutofit/>
          </a:bodyPr>
          <a:lstStyle/>
          <a:p>
            <a:pPr indent="0" lvl="0" marL="0" rtl="0" algn="l">
              <a:lnSpc>
                <a:spcPct val="115000"/>
              </a:lnSpc>
              <a:spcBef>
                <a:spcPts val="400"/>
              </a:spcBef>
              <a:spcAft>
                <a:spcPts val="0"/>
              </a:spcAft>
              <a:buNone/>
            </a:pPr>
            <a:r>
              <a:rPr b="1" lang="en" sz="2000">
                <a:solidFill>
                  <a:srgbClr val="595959"/>
                </a:solidFill>
              </a:rPr>
              <a:t>Second hand car trade</a:t>
            </a:r>
            <a:endParaRPr b="1" sz="2000">
              <a:solidFill>
                <a:srgbClr val="595959"/>
              </a:solidFill>
            </a:endParaRPr>
          </a:p>
          <a:p>
            <a:pPr indent="0" lvl="0" marL="0" rtl="0" algn="l">
              <a:lnSpc>
                <a:spcPct val="115000"/>
              </a:lnSpc>
              <a:spcBef>
                <a:spcPts val="400"/>
              </a:spcBef>
              <a:spcAft>
                <a:spcPts val="0"/>
              </a:spcAft>
              <a:buNone/>
            </a:pPr>
            <a:r>
              <a:t/>
            </a:r>
            <a:endParaRPr sz="1400">
              <a:solidFill>
                <a:srgbClr val="595959"/>
              </a:solidFill>
            </a:endParaRPr>
          </a:p>
          <a:p>
            <a:pPr indent="-342900" lvl="0" marL="457200" rtl="0" algn="l">
              <a:lnSpc>
                <a:spcPct val="115000"/>
              </a:lnSpc>
              <a:spcBef>
                <a:spcPts val="400"/>
              </a:spcBef>
              <a:spcAft>
                <a:spcPts val="0"/>
              </a:spcAft>
              <a:buClr>
                <a:srgbClr val="595959"/>
              </a:buClr>
              <a:buSzPts val="1800"/>
              <a:buChar char="●"/>
            </a:pPr>
            <a:r>
              <a:rPr lang="en">
                <a:solidFill>
                  <a:srgbClr val="595959"/>
                </a:solidFill>
              </a:rPr>
              <a:t>Why?</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Primary motivation: Pre-owned car ownership cost is cheaper than new ones.</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Pandemic situation: People started preferring individual mobility.</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Trends in India: Growing middle class and young population, steady increase in disposable income.</a:t>
            </a:r>
            <a:endParaRPr sz="1400">
              <a:solidFill>
                <a:srgbClr val="595959"/>
              </a:solidFill>
            </a:endParaRPr>
          </a:p>
          <a:p>
            <a:pPr indent="0" lvl="0" marL="0" rtl="0" algn="l">
              <a:lnSpc>
                <a:spcPct val="115000"/>
              </a:lnSpc>
              <a:spcBef>
                <a:spcPts val="0"/>
              </a:spcBef>
              <a:spcAft>
                <a:spcPts val="0"/>
              </a:spcAft>
              <a:buNone/>
            </a:pPr>
            <a:r>
              <a:t/>
            </a:r>
            <a:endParaRPr sz="14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a:solidFill>
                  <a:srgbClr val="595959"/>
                </a:solidFill>
              </a:rPr>
              <a:t>Traditional method - Disadvantages</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Lack of trust</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Data asymmetry between buyer and seller</a:t>
            </a:r>
            <a:endParaRPr sz="1400">
              <a:solidFill>
                <a:srgbClr val="595959"/>
              </a:solidFill>
            </a:endParaRPr>
          </a:p>
          <a:p>
            <a:pPr indent="-317500" lvl="1" marL="914400" rtl="0" algn="l">
              <a:lnSpc>
                <a:spcPct val="115000"/>
              </a:lnSpc>
              <a:spcBef>
                <a:spcPts val="0"/>
              </a:spcBef>
              <a:spcAft>
                <a:spcPts val="0"/>
              </a:spcAft>
              <a:buClr>
                <a:srgbClr val="595959"/>
              </a:buClr>
              <a:buSzPts val="1400"/>
              <a:buChar char="○"/>
            </a:pPr>
            <a:r>
              <a:rPr lang="en" sz="1400">
                <a:solidFill>
                  <a:srgbClr val="595959"/>
                </a:solidFill>
              </a:rPr>
              <a:t>Tedious paperwork</a:t>
            </a:r>
            <a:endParaRPr sz="1400">
              <a:solidFill>
                <a:srgbClr val="595959"/>
              </a:solidFill>
            </a:endParaRPr>
          </a:p>
          <a:p>
            <a:pPr indent="0" lvl="0" marL="0" rtl="0" algn="l">
              <a:lnSpc>
                <a:spcPct val="115000"/>
              </a:lnSpc>
              <a:spcBef>
                <a:spcPts val="0"/>
              </a:spcBef>
              <a:spcAft>
                <a:spcPts val="0"/>
              </a:spcAft>
              <a:buNone/>
            </a:pPr>
            <a:r>
              <a:t/>
            </a:r>
            <a:endParaRPr sz="1400">
              <a:solidFill>
                <a:srgbClr val="595959"/>
              </a:solidFill>
            </a:endParaRPr>
          </a:p>
        </p:txBody>
      </p:sp>
      <p:sp>
        <p:nvSpPr>
          <p:cNvPr id="88" name="Google Shape;88;p1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457200" y="205978"/>
            <a:ext cx="8229600" cy="594000"/>
          </a:xfrm>
          <a:prstGeom prst="rect">
            <a:avLst/>
          </a:prstGeom>
        </p:spPr>
        <p:txBody>
          <a:bodyPr anchorCtr="0" anchor="ctr" bIns="34275" lIns="34275" spcFirstLastPara="1" rIns="34275" wrap="square" tIns="34275">
            <a:normAutofit/>
          </a:bodyPr>
          <a:lstStyle/>
          <a:p>
            <a:pPr indent="0" lvl="0" marL="0" rtl="0" algn="ctr">
              <a:spcBef>
                <a:spcPts val="0"/>
              </a:spcBef>
              <a:spcAft>
                <a:spcPts val="0"/>
              </a:spcAft>
              <a:buNone/>
            </a:pPr>
            <a:r>
              <a:rPr lang="en" sz="2500"/>
              <a:t>INTRODUCTION</a:t>
            </a:r>
            <a:endParaRPr/>
          </a:p>
        </p:txBody>
      </p:sp>
      <p:sp>
        <p:nvSpPr>
          <p:cNvPr id="94" name="Google Shape;94;p20"/>
          <p:cNvSpPr txBox="1"/>
          <p:nvPr>
            <p:ph idx="1" type="body"/>
          </p:nvPr>
        </p:nvSpPr>
        <p:spPr>
          <a:xfrm>
            <a:off x="457200" y="914402"/>
            <a:ext cx="8229600" cy="3680100"/>
          </a:xfrm>
          <a:prstGeom prst="rect">
            <a:avLst/>
          </a:prstGeom>
        </p:spPr>
        <p:txBody>
          <a:bodyPr anchorCtr="0" anchor="t" bIns="34275" lIns="34275" spcFirstLastPara="1" rIns="34275" wrap="square" tIns="34275">
            <a:normAutofit lnSpcReduction="20000"/>
          </a:bodyPr>
          <a:lstStyle/>
          <a:p>
            <a:pPr indent="0" lvl="0" marL="0" rtl="0" algn="l">
              <a:lnSpc>
                <a:spcPct val="150000"/>
              </a:lnSpc>
              <a:spcBef>
                <a:spcPts val="0"/>
              </a:spcBef>
              <a:spcAft>
                <a:spcPts val="0"/>
              </a:spcAft>
              <a:buNone/>
            </a:pPr>
            <a:r>
              <a:rPr b="1" lang="en" sz="2000">
                <a:solidFill>
                  <a:srgbClr val="595959"/>
                </a:solidFill>
              </a:rPr>
              <a:t>Blockchain</a:t>
            </a:r>
            <a:endParaRPr b="1" sz="2000">
              <a:solidFill>
                <a:srgbClr val="595959"/>
              </a:solidFill>
            </a:endParaRPr>
          </a:p>
          <a:p>
            <a:pPr indent="0" lvl="0" marL="0" rtl="0" algn="l">
              <a:lnSpc>
                <a:spcPct val="150000"/>
              </a:lnSpc>
              <a:spcBef>
                <a:spcPts val="0"/>
              </a:spcBef>
              <a:spcAft>
                <a:spcPts val="0"/>
              </a:spcAft>
              <a:buClr>
                <a:schemeClr val="dk1"/>
              </a:buClr>
              <a:buSzPts val="1100"/>
              <a:buFont typeface="Arial"/>
              <a:buNone/>
            </a:pPr>
            <a:r>
              <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Distributed ledger</a:t>
            </a:r>
            <a:endParaRPr>
              <a:solidFill>
                <a:srgbClr val="595959"/>
              </a:solidFill>
            </a:endParaRPr>
          </a:p>
          <a:p>
            <a:pPr indent="457200" lvl="0" marL="457200" rtl="0" algn="l">
              <a:lnSpc>
                <a:spcPct val="150000"/>
              </a:lnSpc>
              <a:spcBef>
                <a:spcPts val="0"/>
              </a:spcBef>
              <a:spcAft>
                <a:spcPts val="0"/>
              </a:spcAft>
              <a:buNone/>
            </a:pPr>
            <a:r>
              <a:rPr lang="en" sz="1400">
                <a:solidFill>
                  <a:srgbClr val="595959"/>
                </a:solidFill>
              </a:rPr>
              <a:t>Decentralised database,  data transparency and traceability</a:t>
            </a:r>
            <a:endParaRPr sz="1400">
              <a:solidFill>
                <a:srgbClr val="595959"/>
              </a:solidFill>
            </a:endParaRPr>
          </a:p>
          <a:p>
            <a:pPr indent="0" lvl="0" marL="0" rtl="0" algn="l">
              <a:lnSpc>
                <a:spcPct val="150000"/>
              </a:lnSpc>
              <a:spcBef>
                <a:spcPts val="0"/>
              </a:spcBef>
              <a:spcAft>
                <a:spcPts val="0"/>
              </a:spcAft>
              <a:buNone/>
            </a:pPr>
            <a:r>
              <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Consensus algorithm</a:t>
            </a:r>
            <a:endParaRPr>
              <a:solidFill>
                <a:srgbClr val="595959"/>
              </a:solidFill>
            </a:endParaRPr>
          </a:p>
          <a:p>
            <a:pPr indent="457200" lvl="0" marL="457200" rtl="0" algn="l">
              <a:lnSpc>
                <a:spcPct val="150000"/>
              </a:lnSpc>
              <a:spcBef>
                <a:spcPts val="0"/>
              </a:spcBef>
              <a:spcAft>
                <a:spcPts val="0"/>
              </a:spcAft>
              <a:buNone/>
            </a:pPr>
            <a:r>
              <a:rPr lang="en" sz="1400">
                <a:solidFill>
                  <a:srgbClr val="595959"/>
                </a:solidFill>
              </a:rPr>
              <a:t>Data integrity and reliability</a:t>
            </a:r>
            <a:endParaRPr sz="1400">
              <a:solidFill>
                <a:srgbClr val="595959"/>
              </a:solidFill>
            </a:endParaRPr>
          </a:p>
          <a:p>
            <a:pPr indent="0" lvl="0" marL="0" rtl="0" algn="l">
              <a:lnSpc>
                <a:spcPct val="150000"/>
              </a:lnSpc>
              <a:spcBef>
                <a:spcPts val="0"/>
              </a:spcBef>
              <a:spcAft>
                <a:spcPts val="0"/>
              </a:spcAft>
              <a:buNone/>
            </a:pPr>
            <a:r>
              <a:t/>
            </a:r>
            <a:endParaRPr sz="1400">
              <a:solidFill>
                <a:srgbClr val="595959"/>
              </a:solidFill>
            </a:endParaRPr>
          </a:p>
          <a:p>
            <a:pPr indent="-342900" lvl="0" marL="457200" rtl="0" algn="l">
              <a:lnSpc>
                <a:spcPct val="150000"/>
              </a:lnSpc>
              <a:spcBef>
                <a:spcPts val="0"/>
              </a:spcBef>
              <a:spcAft>
                <a:spcPts val="0"/>
              </a:spcAft>
              <a:buClr>
                <a:srgbClr val="595959"/>
              </a:buClr>
              <a:buSzPts val="1800"/>
              <a:buAutoNum type="arabicPeriod"/>
            </a:pPr>
            <a:r>
              <a:rPr lang="en">
                <a:solidFill>
                  <a:srgbClr val="595959"/>
                </a:solidFill>
              </a:rPr>
              <a:t>Smart contracts</a:t>
            </a:r>
            <a:endParaRPr>
              <a:solidFill>
                <a:srgbClr val="595959"/>
              </a:solidFill>
            </a:endParaRPr>
          </a:p>
          <a:p>
            <a:pPr indent="457200" lvl="0" marL="457200" rtl="0" algn="l">
              <a:lnSpc>
                <a:spcPct val="150000"/>
              </a:lnSpc>
              <a:spcBef>
                <a:spcPts val="0"/>
              </a:spcBef>
              <a:spcAft>
                <a:spcPts val="0"/>
              </a:spcAft>
              <a:buNone/>
            </a:pPr>
            <a:r>
              <a:rPr lang="en" sz="1400">
                <a:solidFill>
                  <a:srgbClr val="595959"/>
                </a:solidFill>
              </a:rPr>
              <a:t>Automate business logic</a:t>
            </a:r>
            <a:endParaRPr sz="1400">
              <a:solidFill>
                <a:srgbClr val="595959"/>
              </a:solidFill>
            </a:endParaRPr>
          </a:p>
          <a:p>
            <a:pPr indent="0" lvl="0" marL="457200" rtl="0" algn="l">
              <a:lnSpc>
                <a:spcPct val="150000"/>
              </a:lnSpc>
              <a:spcBef>
                <a:spcPts val="400"/>
              </a:spcBef>
              <a:spcAft>
                <a:spcPts val="0"/>
              </a:spcAft>
              <a:buNone/>
            </a:pPr>
            <a:r>
              <a:t/>
            </a:r>
            <a:endParaRPr sz="1400">
              <a:solidFill>
                <a:srgbClr val="595959"/>
              </a:solidFill>
            </a:endParaRPr>
          </a:p>
        </p:txBody>
      </p:sp>
      <p:sp>
        <p:nvSpPr>
          <p:cNvPr id="95" name="Google Shape;95;p2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PROBLEM STATEMENT</a:t>
            </a:r>
            <a:endParaRPr sz="2500"/>
          </a:p>
        </p:txBody>
      </p:sp>
      <p:sp>
        <p:nvSpPr>
          <p:cNvPr id="101" name="Google Shape;101;p21"/>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Autofit/>
          </a:bodyPr>
          <a:lstStyle/>
          <a:p>
            <a:pPr indent="0" lvl="0" marL="0" rtl="0" algn="l">
              <a:spcBef>
                <a:spcPts val="0"/>
              </a:spcBef>
              <a:spcAft>
                <a:spcPts val="0"/>
              </a:spcAft>
              <a:buNone/>
            </a:pPr>
            <a:r>
              <a:rPr lang="en">
                <a:solidFill>
                  <a:srgbClr val="595959"/>
                </a:solidFill>
              </a:rPr>
              <a:t>To </a:t>
            </a:r>
            <a:r>
              <a:rPr lang="en">
                <a:solidFill>
                  <a:srgbClr val="595959"/>
                </a:solidFill>
              </a:rPr>
              <a:t>develop</a:t>
            </a:r>
            <a:r>
              <a:rPr lang="en">
                <a:solidFill>
                  <a:srgbClr val="595959"/>
                </a:solidFill>
              </a:rPr>
              <a:t> a used car </a:t>
            </a:r>
            <a:r>
              <a:rPr lang="en">
                <a:solidFill>
                  <a:srgbClr val="595959"/>
                </a:solidFill>
              </a:rPr>
              <a:t>transaction</a:t>
            </a:r>
            <a:r>
              <a:rPr lang="en">
                <a:solidFill>
                  <a:srgbClr val="595959"/>
                </a:solidFill>
              </a:rPr>
              <a:t> management system using </a:t>
            </a:r>
            <a:r>
              <a:rPr lang="en">
                <a:solidFill>
                  <a:srgbClr val="595959"/>
                </a:solidFill>
              </a:rPr>
              <a:t>blockchain</a:t>
            </a:r>
            <a:r>
              <a:rPr lang="en">
                <a:solidFill>
                  <a:srgbClr val="595959"/>
                </a:solidFill>
              </a:rPr>
              <a:t> to overcome lack of trust and data asymmetry prevailing in the </a:t>
            </a:r>
            <a:r>
              <a:rPr lang="en">
                <a:solidFill>
                  <a:srgbClr val="595959"/>
                </a:solidFill>
              </a:rPr>
              <a:t>traditional</a:t>
            </a:r>
            <a:r>
              <a:rPr lang="en">
                <a:solidFill>
                  <a:srgbClr val="595959"/>
                </a:solidFill>
              </a:rPr>
              <a:t> system.</a:t>
            </a:r>
            <a:endParaRPr>
              <a:solidFill>
                <a:srgbClr val="595959"/>
              </a:solidFill>
            </a:endParaRPr>
          </a:p>
        </p:txBody>
      </p:sp>
      <p:sp>
        <p:nvSpPr>
          <p:cNvPr id="102" name="Google Shape;102;p2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CHALLENGES</a:t>
            </a:r>
            <a:endParaRPr sz="2500"/>
          </a:p>
        </p:txBody>
      </p:sp>
      <p:sp>
        <p:nvSpPr>
          <p:cNvPr id="108" name="Google Shape;108;p22"/>
          <p:cNvSpPr txBox="1"/>
          <p:nvPr>
            <p:ph idx="1" type="body"/>
          </p:nvPr>
        </p:nvSpPr>
        <p:spPr>
          <a:xfrm>
            <a:off x="457200" y="914402"/>
            <a:ext cx="8229600" cy="3680100"/>
          </a:xfrm>
          <a:prstGeom prst="rect">
            <a:avLst/>
          </a:prstGeom>
          <a:noFill/>
          <a:ln>
            <a:noFill/>
          </a:ln>
        </p:spPr>
        <p:txBody>
          <a:bodyPr anchorCtr="0" anchor="t" bIns="34275" lIns="34275" spcFirstLastPara="1" rIns="34275" wrap="square" tIns="34275">
            <a:noAutofit/>
          </a:bodyPr>
          <a:lstStyle/>
          <a:p>
            <a:pPr indent="-317500" lvl="0" marL="457200" rtl="0" algn="just">
              <a:lnSpc>
                <a:spcPct val="115000"/>
              </a:lnSpc>
              <a:spcBef>
                <a:spcPts val="0"/>
              </a:spcBef>
              <a:spcAft>
                <a:spcPts val="0"/>
              </a:spcAft>
              <a:buClr>
                <a:srgbClr val="595959"/>
              </a:buClr>
              <a:buSzPts val="1400"/>
              <a:buAutoNum type="arabicPeriod"/>
            </a:pPr>
            <a:r>
              <a:rPr lang="en" sz="1400">
                <a:solidFill>
                  <a:srgbClr val="595959"/>
                </a:solidFill>
              </a:rPr>
              <a:t>Lack of trust</a:t>
            </a:r>
            <a:endParaRPr sz="1400">
              <a:solidFill>
                <a:srgbClr val="595959"/>
              </a:solidFill>
            </a:endParaRPr>
          </a:p>
          <a:p>
            <a:pPr indent="-317500" lvl="1" marL="914400" rtl="0" algn="just">
              <a:lnSpc>
                <a:spcPct val="115000"/>
              </a:lnSpc>
              <a:spcBef>
                <a:spcPts val="0"/>
              </a:spcBef>
              <a:spcAft>
                <a:spcPts val="0"/>
              </a:spcAft>
              <a:buClr>
                <a:srgbClr val="595959"/>
              </a:buClr>
              <a:buSzPts val="1400"/>
              <a:buAutoNum type="alphaLcPeriod"/>
            </a:pPr>
            <a:r>
              <a:rPr lang="en" sz="1400">
                <a:solidFill>
                  <a:srgbClr val="595959"/>
                </a:solidFill>
              </a:rPr>
              <a:t>Data traceability - maintenance records, accidents history, insurance claims</a:t>
            </a:r>
            <a:endParaRPr sz="1400">
              <a:solidFill>
                <a:srgbClr val="595959"/>
              </a:solidFill>
            </a:endParaRPr>
          </a:p>
          <a:p>
            <a:pPr indent="0" lvl="0" marL="0" rtl="0" algn="just">
              <a:lnSpc>
                <a:spcPct val="115000"/>
              </a:lnSpc>
              <a:spcBef>
                <a:spcPts val="1200"/>
              </a:spcBef>
              <a:spcAft>
                <a:spcPts val="0"/>
              </a:spcAft>
              <a:buClr>
                <a:schemeClr val="dk1"/>
              </a:buClr>
              <a:buSzPts val="1100"/>
              <a:buFont typeface="Arial"/>
              <a:buNone/>
            </a:pPr>
            <a:r>
              <a:rPr lang="en" sz="1400">
                <a:solidFill>
                  <a:srgbClr val="595959"/>
                </a:solidFill>
              </a:rPr>
              <a:t>Due to lack of enough information sellers are concerned about the fraudulent practices such as odometer fraud, which can result in unpredictable maintenance cost usually more than they should for the car.</a:t>
            </a:r>
            <a:endParaRPr sz="1400">
              <a:solidFill>
                <a:srgbClr val="595959"/>
              </a:solidFill>
            </a:endParaRPr>
          </a:p>
          <a:p>
            <a:pPr indent="-317500" lvl="0" marL="457200" rtl="0" algn="just">
              <a:lnSpc>
                <a:spcPct val="115000"/>
              </a:lnSpc>
              <a:spcBef>
                <a:spcPts val="1200"/>
              </a:spcBef>
              <a:spcAft>
                <a:spcPts val="0"/>
              </a:spcAft>
              <a:buClr>
                <a:srgbClr val="595959"/>
              </a:buClr>
              <a:buSzPts val="1400"/>
              <a:buAutoNum type="arabicPeriod"/>
            </a:pPr>
            <a:r>
              <a:rPr lang="en" sz="1400">
                <a:solidFill>
                  <a:srgbClr val="595959"/>
                </a:solidFill>
              </a:rPr>
              <a:t>Data asymmetry</a:t>
            </a:r>
            <a:endParaRPr sz="1400">
              <a:solidFill>
                <a:srgbClr val="595959"/>
              </a:solidFill>
            </a:endParaRPr>
          </a:p>
          <a:p>
            <a:pPr indent="-317500" lvl="1" marL="914400" rtl="0" algn="just">
              <a:lnSpc>
                <a:spcPct val="115000"/>
              </a:lnSpc>
              <a:spcBef>
                <a:spcPts val="0"/>
              </a:spcBef>
              <a:spcAft>
                <a:spcPts val="0"/>
              </a:spcAft>
              <a:buClr>
                <a:srgbClr val="595959"/>
              </a:buClr>
              <a:buSzPts val="1400"/>
              <a:buAutoNum type="alphaLcPeriod"/>
            </a:pPr>
            <a:r>
              <a:rPr lang="en" sz="1400">
                <a:solidFill>
                  <a:srgbClr val="595959"/>
                </a:solidFill>
              </a:rPr>
              <a:t>Single point of control / Centralised control</a:t>
            </a:r>
            <a:endParaRPr sz="1400">
              <a:solidFill>
                <a:srgbClr val="595959"/>
              </a:solidFill>
            </a:endParaRPr>
          </a:p>
          <a:p>
            <a:pPr indent="0" lvl="0" marL="0" rtl="0" algn="just">
              <a:lnSpc>
                <a:spcPct val="115000"/>
              </a:lnSpc>
              <a:spcBef>
                <a:spcPts val="1200"/>
              </a:spcBef>
              <a:spcAft>
                <a:spcPts val="0"/>
              </a:spcAft>
              <a:buNone/>
            </a:pPr>
            <a:r>
              <a:rPr lang="en" sz="1400">
                <a:solidFill>
                  <a:srgbClr val="595959"/>
                </a:solidFill>
              </a:rPr>
              <a:t>In any traditional used car market, a central authority has complete control over the data and can potentially exploit the single point of control of any centralised system, i.e., they can hide or change or forge the data. Since the seller often has more information about the car's history, condition, and potential issues than the buyer does, the buyers feel uncertain and hesitant about purchasing a used car because they feel the bargain is unfair without complete information.</a:t>
            </a:r>
            <a:endParaRPr sz="1400">
              <a:solidFill>
                <a:srgbClr val="595959"/>
              </a:solidFill>
            </a:endParaRPr>
          </a:p>
          <a:p>
            <a:pPr indent="0" lvl="0" marL="0" rtl="0" algn="just">
              <a:lnSpc>
                <a:spcPct val="115000"/>
              </a:lnSpc>
              <a:spcBef>
                <a:spcPts val="1200"/>
              </a:spcBef>
              <a:spcAft>
                <a:spcPts val="0"/>
              </a:spcAft>
              <a:buNone/>
            </a:pPr>
            <a:r>
              <a:t/>
            </a:r>
            <a:endParaRPr sz="1400">
              <a:solidFill>
                <a:srgbClr val="595959"/>
              </a:solidFill>
            </a:endParaRPr>
          </a:p>
          <a:p>
            <a:pPr indent="0" lvl="0" marL="0" rtl="0" algn="just">
              <a:lnSpc>
                <a:spcPct val="115000"/>
              </a:lnSpc>
              <a:spcBef>
                <a:spcPts val="1200"/>
              </a:spcBef>
              <a:spcAft>
                <a:spcPts val="0"/>
              </a:spcAft>
              <a:buNone/>
            </a:pPr>
            <a:r>
              <a:t/>
            </a:r>
            <a:endParaRPr sz="1400">
              <a:solidFill>
                <a:srgbClr val="595959"/>
              </a:solidFill>
            </a:endParaRPr>
          </a:p>
          <a:p>
            <a:pPr indent="0" lvl="0" marL="0" rtl="0" algn="just">
              <a:lnSpc>
                <a:spcPct val="115000"/>
              </a:lnSpc>
              <a:spcBef>
                <a:spcPts val="1200"/>
              </a:spcBef>
              <a:spcAft>
                <a:spcPts val="0"/>
              </a:spcAft>
              <a:buClr>
                <a:schemeClr val="dk1"/>
              </a:buClr>
              <a:buSzPts val="1100"/>
              <a:buFont typeface="Arial"/>
              <a:buNone/>
            </a:pPr>
            <a:r>
              <a:t/>
            </a:r>
            <a:endParaRPr sz="1400">
              <a:solidFill>
                <a:srgbClr val="595959"/>
              </a:solidFill>
            </a:endParaRPr>
          </a:p>
          <a:p>
            <a:pPr indent="0" lvl="0" marL="457200" rtl="0" algn="just">
              <a:lnSpc>
                <a:spcPct val="100000"/>
              </a:lnSpc>
              <a:spcBef>
                <a:spcPts val="1200"/>
              </a:spcBef>
              <a:spcAft>
                <a:spcPts val="0"/>
              </a:spcAft>
              <a:buNone/>
            </a:pPr>
            <a:r>
              <a:t/>
            </a:r>
            <a:endParaRPr sz="1400">
              <a:solidFill>
                <a:schemeClr val="dk1"/>
              </a:solidFill>
              <a:highlight>
                <a:srgbClr val="FFFFFF"/>
              </a:highlight>
            </a:endParaRPr>
          </a:p>
        </p:txBody>
      </p:sp>
      <p:sp>
        <p:nvSpPr>
          <p:cNvPr id="109" name="Google Shape;109;p2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PROPOSED MODEL</a:t>
            </a:r>
            <a:endParaRPr sz="2500"/>
          </a:p>
        </p:txBody>
      </p:sp>
      <p:sp>
        <p:nvSpPr>
          <p:cNvPr id="115" name="Google Shape;115;p23"/>
          <p:cNvSpPr txBox="1"/>
          <p:nvPr>
            <p:ph idx="1" type="body"/>
          </p:nvPr>
        </p:nvSpPr>
        <p:spPr>
          <a:xfrm>
            <a:off x="3028650" y="1519050"/>
            <a:ext cx="3086700" cy="2105400"/>
          </a:xfrm>
          <a:prstGeom prst="rect">
            <a:avLst/>
          </a:prstGeom>
          <a:noFill/>
          <a:ln>
            <a:noFill/>
          </a:ln>
        </p:spPr>
        <p:txBody>
          <a:bodyPr anchorCtr="0" anchor="t" bIns="34275" lIns="34275" spcFirstLastPara="1" rIns="34275" wrap="square" tIns="34275">
            <a:noAutofit/>
          </a:bodyPr>
          <a:lstStyle/>
          <a:p>
            <a:pPr indent="-318135" lvl="0" marL="457200" rtl="0" algn="just">
              <a:lnSpc>
                <a:spcPct val="200000"/>
              </a:lnSpc>
              <a:spcBef>
                <a:spcPts val="0"/>
              </a:spcBef>
              <a:spcAft>
                <a:spcPts val="0"/>
              </a:spcAft>
              <a:buClr>
                <a:srgbClr val="595959"/>
              </a:buClr>
              <a:buSzPts val="1410"/>
              <a:buChar char="●"/>
            </a:pPr>
            <a:r>
              <a:rPr lang="en" sz="1410">
                <a:solidFill>
                  <a:srgbClr val="595959"/>
                </a:solidFill>
                <a:highlight>
                  <a:schemeClr val="lt1"/>
                </a:highlight>
              </a:rPr>
              <a:t>System Flow Diagram</a:t>
            </a:r>
            <a:endParaRPr sz="1410">
              <a:solidFill>
                <a:srgbClr val="595959"/>
              </a:solidFill>
              <a:highlight>
                <a:schemeClr val="lt1"/>
              </a:highlight>
            </a:endParaRPr>
          </a:p>
          <a:p>
            <a:pPr indent="-318135" lvl="0" marL="457200" rtl="0" algn="just">
              <a:lnSpc>
                <a:spcPct val="200000"/>
              </a:lnSpc>
              <a:spcBef>
                <a:spcPts val="0"/>
              </a:spcBef>
              <a:spcAft>
                <a:spcPts val="0"/>
              </a:spcAft>
              <a:buClr>
                <a:srgbClr val="595959"/>
              </a:buClr>
              <a:buSzPts val="1410"/>
              <a:buChar char="●"/>
            </a:pPr>
            <a:r>
              <a:rPr lang="en" sz="1410">
                <a:solidFill>
                  <a:srgbClr val="595959"/>
                </a:solidFill>
                <a:highlight>
                  <a:schemeClr val="lt1"/>
                </a:highlight>
              </a:rPr>
              <a:t>System Architecture Diagram </a:t>
            </a:r>
            <a:endParaRPr sz="1410">
              <a:solidFill>
                <a:srgbClr val="595959"/>
              </a:solidFill>
              <a:highlight>
                <a:schemeClr val="lt1"/>
              </a:highlight>
            </a:endParaRPr>
          </a:p>
          <a:p>
            <a:pPr indent="-318135" lvl="0" marL="457200" rtl="0" algn="just">
              <a:lnSpc>
                <a:spcPct val="200000"/>
              </a:lnSpc>
              <a:spcBef>
                <a:spcPts val="0"/>
              </a:spcBef>
              <a:spcAft>
                <a:spcPts val="0"/>
              </a:spcAft>
              <a:buClr>
                <a:srgbClr val="595959"/>
              </a:buClr>
              <a:buSzPts val="1410"/>
              <a:buChar char="●"/>
            </a:pPr>
            <a:r>
              <a:rPr lang="en" sz="1410">
                <a:solidFill>
                  <a:srgbClr val="595959"/>
                </a:solidFill>
                <a:highlight>
                  <a:schemeClr val="lt1"/>
                </a:highlight>
              </a:rPr>
              <a:t>Blockchain</a:t>
            </a:r>
            <a:r>
              <a:rPr lang="en" sz="1410">
                <a:solidFill>
                  <a:srgbClr val="595959"/>
                </a:solidFill>
                <a:highlight>
                  <a:schemeClr val="lt1"/>
                </a:highlight>
              </a:rPr>
              <a:t> Type</a:t>
            </a:r>
            <a:endParaRPr sz="1410">
              <a:solidFill>
                <a:srgbClr val="595959"/>
              </a:solidFill>
              <a:highlight>
                <a:schemeClr val="lt1"/>
              </a:highlight>
            </a:endParaRPr>
          </a:p>
          <a:p>
            <a:pPr indent="-318135" lvl="0" marL="457200" rtl="0" algn="just">
              <a:lnSpc>
                <a:spcPct val="200000"/>
              </a:lnSpc>
              <a:spcBef>
                <a:spcPts val="0"/>
              </a:spcBef>
              <a:spcAft>
                <a:spcPts val="0"/>
              </a:spcAft>
              <a:buClr>
                <a:srgbClr val="595959"/>
              </a:buClr>
              <a:buSzPts val="1410"/>
              <a:buChar char="●"/>
            </a:pPr>
            <a:r>
              <a:rPr lang="en" sz="1410">
                <a:solidFill>
                  <a:srgbClr val="595959"/>
                </a:solidFill>
                <a:highlight>
                  <a:schemeClr val="lt1"/>
                </a:highlight>
              </a:rPr>
              <a:t>Blockchain Platform</a:t>
            </a:r>
            <a:endParaRPr sz="1410">
              <a:solidFill>
                <a:srgbClr val="595959"/>
              </a:solidFill>
              <a:highlight>
                <a:schemeClr val="lt1"/>
              </a:highlight>
            </a:endParaRPr>
          </a:p>
          <a:p>
            <a:pPr indent="-318135" lvl="0" marL="457200" rtl="0" algn="just">
              <a:lnSpc>
                <a:spcPct val="200000"/>
              </a:lnSpc>
              <a:spcBef>
                <a:spcPts val="0"/>
              </a:spcBef>
              <a:spcAft>
                <a:spcPts val="0"/>
              </a:spcAft>
              <a:buClr>
                <a:srgbClr val="595959"/>
              </a:buClr>
              <a:buSzPts val="1410"/>
              <a:buChar char="●"/>
            </a:pPr>
            <a:r>
              <a:rPr lang="en" sz="1410">
                <a:solidFill>
                  <a:srgbClr val="595959"/>
                </a:solidFill>
                <a:highlight>
                  <a:schemeClr val="lt1"/>
                </a:highlight>
              </a:rPr>
              <a:t>Consensus Algorithm</a:t>
            </a:r>
            <a:endParaRPr sz="1410">
              <a:solidFill>
                <a:srgbClr val="595959"/>
              </a:solidFill>
              <a:highlight>
                <a:schemeClr val="lt1"/>
              </a:highlight>
            </a:endParaRPr>
          </a:p>
        </p:txBody>
      </p:sp>
      <p:sp>
        <p:nvSpPr>
          <p:cNvPr id="116" name="Google Shape;116;p2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SYSTEM FLOW DIAGRAM</a:t>
            </a:r>
            <a:endParaRPr sz="2500"/>
          </a:p>
        </p:txBody>
      </p:sp>
      <p:pic>
        <p:nvPicPr>
          <p:cNvPr id="122" name="Google Shape;122;p24"/>
          <p:cNvPicPr preferRelativeResize="0"/>
          <p:nvPr/>
        </p:nvPicPr>
        <p:blipFill>
          <a:blip r:embed="rId3">
            <a:alphaModFix/>
          </a:blip>
          <a:stretch>
            <a:fillRect/>
          </a:stretch>
        </p:blipFill>
        <p:spPr>
          <a:xfrm>
            <a:off x="1685150" y="840225"/>
            <a:ext cx="5777151" cy="3554951"/>
          </a:xfrm>
          <a:prstGeom prst="rect">
            <a:avLst/>
          </a:prstGeom>
          <a:noFill/>
          <a:ln>
            <a:noFill/>
          </a:ln>
        </p:spPr>
      </p:pic>
      <p:sp>
        <p:nvSpPr>
          <p:cNvPr id="123" name="Google Shape;123;p2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SYSTEM </a:t>
            </a:r>
            <a:r>
              <a:rPr lang="en" sz="2500"/>
              <a:t>FLOW DIAGRAM</a:t>
            </a:r>
            <a:endParaRPr sz="2500"/>
          </a:p>
        </p:txBody>
      </p:sp>
      <p:pic>
        <p:nvPicPr>
          <p:cNvPr id="129" name="Google Shape;129;p25"/>
          <p:cNvPicPr preferRelativeResize="0"/>
          <p:nvPr/>
        </p:nvPicPr>
        <p:blipFill>
          <a:blip r:embed="rId3">
            <a:alphaModFix/>
          </a:blip>
          <a:stretch>
            <a:fillRect/>
          </a:stretch>
        </p:blipFill>
        <p:spPr>
          <a:xfrm>
            <a:off x="1997263" y="892801"/>
            <a:ext cx="5149475" cy="3472649"/>
          </a:xfrm>
          <a:prstGeom prst="rect">
            <a:avLst/>
          </a:prstGeom>
          <a:noFill/>
          <a:ln>
            <a:noFill/>
          </a:ln>
        </p:spPr>
      </p:pic>
      <p:sp>
        <p:nvSpPr>
          <p:cNvPr id="130" name="Google Shape;130;p2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CLIENT SERVER ARCHITECTURE</a:t>
            </a:r>
            <a:endParaRPr sz="2500"/>
          </a:p>
        </p:txBody>
      </p:sp>
      <p:sp>
        <p:nvSpPr>
          <p:cNvPr id="136" name="Google Shape;136;p2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pic>
        <p:nvPicPr>
          <p:cNvPr id="137" name="Google Shape;137;p26"/>
          <p:cNvPicPr preferRelativeResize="0"/>
          <p:nvPr/>
        </p:nvPicPr>
        <p:blipFill>
          <a:blip r:embed="rId3">
            <a:alphaModFix/>
          </a:blip>
          <a:stretch>
            <a:fillRect/>
          </a:stretch>
        </p:blipFill>
        <p:spPr>
          <a:xfrm>
            <a:off x="2210224" y="866200"/>
            <a:ext cx="4723550" cy="3820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BLOCKCHAIN</a:t>
            </a:r>
            <a:r>
              <a:rPr lang="en" sz="2500"/>
              <a:t> ARCHITECTURE</a:t>
            </a:r>
            <a:endParaRPr sz="2500"/>
          </a:p>
        </p:txBody>
      </p:sp>
      <p:sp>
        <p:nvSpPr>
          <p:cNvPr id="143" name="Google Shape;143;p27"/>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pic>
        <p:nvPicPr>
          <p:cNvPr id="144" name="Google Shape;144;p27"/>
          <p:cNvPicPr preferRelativeResize="0"/>
          <p:nvPr/>
        </p:nvPicPr>
        <p:blipFill>
          <a:blip r:embed="rId3">
            <a:alphaModFix/>
          </a:blip>
          <a:stretch>
            <a:fillRect/>
          </a:stretch>
        </p:blipFill>
        <p:spPr>
          <a:xfrm>
            <a:off x="2190825" y="903625"/>
            <a:ext cx="4639226" cy="37059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SYSTEM ARCHITECTURE DIAGRAM</a:t>
            </a:r>
            <a:endParaRPr sz="2500"/>
          </a:p>
        </p:txBody>
      </p:sp>
      <p:sp>
        <p:nvSpPr>
          <p:cNvPr id="150" name="Google Shape;150;p2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pic>
        <p:nvPicPr>
          <p:cNvPr id="151" name="Google Shape;151;p28"/>
          <p:cNvPicPr preferRelativeResize="0"/>
          <p:nvPr/>
        </p:nvPicPr>
        <p:blipFill>
          <a:blip r:embed="rId3">
            <a:alphaModFix/>
          </a:blip>
          <a:stretch>
            <a:fillRect/>
          </a:stretch>
        </p:blipFill>
        <p:spPr>
          <a:xfrm>
            <a:off x="1634350" y="845650"/>
            <a:ext cx="5653699" cy="38407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BLOCKCHAIN TYPE</a:t>
            </a:r>
            <a:endParaRPr sz="2500"/>
          </a:p>
        </p:txBody>
      </p:sp>
      <p:graphicFrame>
        <p:nvGraphicFramePr>
          <p:cNvPr id="157" name="Google Shape;157;p29"/>
          <p:cNvGraphicFramePr/>
          <p:nvPr/>
        </p:nvGraphicFramePr>
        <p:xfrm>
          <a:off x="996900" y="1282213"/>
          <a:ext cx="3000000" cy="3000000"/>
        </p:xfrm>
        <a:graphic>
          <a:graphicData uri="http://schemas.openxmlformats.org/drawingml/2006/table">
            <a:tbl>
              <a:tblPr>
                <a:noFill/>
                <a:tableStyleId>{BFC8C471-2192-4D45-A437-DB3116A11D2A}</a:tableStyleId>
              </a:tblPr>
              <a:tblGrid>
                <a:gridCol w="1809750"/>
                <a:gridCol w="1809750"/>
                <a:gridCol w="1809750"/>
                <a:gridCol w="1809750"/>
              </a:tblGrid>
              <a:tr h="360675">
                <a:tc>
                  <a:txBody>
                    <a:bodyPr/>
                    <a:lstStyle/>
                    <a:p>
                      <a:pPr indent="0" lvl="0" marL="0" rtl="0" algn="l">
                        <a:spcBef>
                          <a:spcPts val="0"/>
                        </a:spcBef>
                        <a:spcAft>
                          <a:spcPts val="0"/>
                        </a:spcAft>
                        <a:buNone/>
                      </a:pPr>
                      <a:r>
                        <a:rPr lang="en">
                          <a:solidFill>
                            <a:srgbClr val="595959"/>
                          </a:solidFill>
                          <a:highlight>
                            <a:schemeClr val="lt1"/>
                          </a:highlight>
                        </a:rPr>
                        <a:t>BLOCKCHAIN</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PUBLIC</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PRIVATE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HYBRID</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ADVANTAGE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Decentralization and transparency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Enhanced privacy and security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Flexibility and customization</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DISADVANTAGE</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Scalability and transaction costs</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Centralization and trust</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Complexity and maintenance</a:t>
                      </a:r>
                      <a:endParaRPr>
                        <a:solidFill>
                          <a:srgbClr val="595959"/>
                        </a:solidFill>
                        <a:highlight>
                          <a:schemeClr val="lt1"/>
                        </a:highlight>
                      </a:endParaRPr>
                    </a:p>
                  </a:txBody>
                  <a:tcPr marT="91425" marB="91425" marR="91425" marL="91425"/>
                </a:tc>
              </a:tr>
            </a:tbl>
          </a:graphicData>
        </a:graphic>
      </p:graphicFrame>
      <p:sp>
        <p:nvSpPr>
          <p:cNvPr id="158" name="Google Shape;158;p29"/>
          <p:cNvSpPr txBox="1"/>
          <p:nvPr>
            <p:ph idx="1" type="body"/>
          </p:nvPr>
        </p:nvSpPr>
        <p:spPr>
          <a:xfrm>
            <a:off x="2366550" y="3544150"/>
            <a:ext cx="4410900" cy="4821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None/>
            </a:pPr>
            <a:r>
              <a:rPr lang="en" sz="1400">
                <a:solidFill>
                  <a:srgbClr val="595959"/>
                </a:solidFill>
                <a:highlight>
                  <a:srgbClr val="FFFFFF"/>
                </a:highlight>
              </a:rPr>
              <a:t>CHOSEN Blockchain type:   HYBRID</a:t>
            </a:r>
            <a:endParaRPr sz="1400">
              <a:solidFill>
                <a:srgbClr val="595959"/>
              </a:solidFill>
              <a:highlight>
                <a:srgbClr val="FFFFFF"/>
              </a:highlight>
            </a:endParaRPr>
          </a:p>
        </p:txBody>
      </p:sp>
      <p:sp>
        <p:nvSpPr>
          <p:cNvPr id="159" name="Google Shape;159;p2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CONSENSUS ALGORITHM</a:t>
            </a:r>
            <a:endParaRPr sz="2500"/>
          </a:p>
        </p:txBody>
      </p:sp>
      <p:sp>
        <p:nvSpPr>
          <p:cNvPr id="165" name="Google Shape;165;p30"/>
          <p:cNvSpPr txBox="1"/>
          <p:nvPr>
            <p:ph idx="1" type="body"/>
          </p:nvPr>
        </p:nvSpPr>
        <p:spPr>
          <a:xfrm>
            <a:off x="2750550" y="4595925"/>
            <a:ext cx="3642900" cy="263100"/>
          </a:xfrm>
          <a:prstGeom prst="rect">
            <a:avLst/>
          </a:prstGeom>
          <a:noFill/>
          <a:ln>
            <a:noFill/>
          </a:ln>
        </p:spPr>
        <p:txBody>
          <a:bodyPr anchorCtr="0" anchor="t" bIns="34275" lIns="34275" spcFirstLastPara="1" rIns="34275" wrap="square" tIns="34275">
            <a:noAutofit/>
          </a:bodyPr>
          <a:lstStyle/>
          <a:p>
            <a:pPr indent="0" lvl="0" marL="457200" rtl="0" algn="l">
              <a:lnSpc>
                <a:spcPct val="80000"/>
              </a:lnSpc>
              <a:spcBef>
                <a:spcPts val="0"/>
              </a:spcBef>
              <a:spcAft>
                <a:spcPts val="0"/>
              </a:spcAft>
              <a:buSzPts val="1018"/>
              <a:buNone/>
            </a:pPr>
            <a:r>
              <a:rPr lang="en" sz="1210">
                <a:solidFill>
                  <a:srgbClr val="595959"/>
                </a:solidFill>
                <a:highlight>
                  <a:schemeClr val="lt1"/>
                </a:highlight>
              </a:rPr>
              <a:t>Consensus algorithm CHOSEN: DPoS</a:t>
            </a:r>
            <a:endParaRPr sz="1210">
              <a:solidFill>
                <a:srgbClr val="595959"/>
              </a:solidFill>
              <a:highlight>
                <a:schemeClr val="lt1"/>
              </a:highlight>
            </a:endParaRPr>
          </a:p>
        </p:txBody>
      </p:sp>
      <p:graphicFrame>
        <p:nvGraphicFramePr>
          <p:cNvPr id="166" name="Google Shape;166;p30"/>
          <p:cNvGraphicFramePr/>
          <p:nvPr/>
        </p:nvGraphicFramePr>
        <p:xfrm>
          <a:off x="457200" y="844000"/>
          <a:ext cx="3000000" cy="3000000"/>
        </p:xfrm>
        <a:graphic>
          <a:graphicData uri="http://schemas.openxmlformats.org/drawingml/2006/table">
            <a:tbl>
              <a:tblPr>
                <a:noFill/>
                <a:tableStyleId>{BFC8C471-2192-4D45-A437-DB3116A11D2A}</a:tableStyleId>
              </a:tblPr>
              <a:tblGrid>
                <a:gridCol w="1964350"/>
                <a:gridCol w="3042750"/>
                <a:gridCol w="3222500"/>
              </a:tblGrid>
              <a:tr h="451475">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Consensus </a:t>
                      </a:r>
                      <a:r>
                        <a:rPr lang="en" sz="1200">
                          <a:solidFill>
                            <a:srgbClr val="595959"/>
                          </a:solidFill>
                          <a:highlight>
                            <a:schemeClr val="lt1"/>
                          </a:highlight>
                        </a:rPr>
                        <a:t>Algorithm</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ADVANTAGE</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DISADVANTAGE</a:t>
                      </a:r>
                      <a:endParaRPr sz="1200">
                        <a:solidFill>
                          <a:srgbClr val="595959"/>
                        </a:solidFill>
                        <a:highlight>
                          <a:schemeClr val="lt1"/>
                        </a:highlight>
                      </a:endParaRPr>
                    </a:p>
                  </a:txBody>
                  <a:tcPr marT="91425" marB="91425" marR="91425" marL="91425"/>
                </a:tc>
              </a:tr>
              <a:tr h="731500">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Proof of Work (PoW)</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Well-established, secure, difficult for attackers to manipulate</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Energy-intensive, large amount of computing power to solve cryptographic puzzles</a:t>
                      </a:r>
                      <a:endParaRPr sz="1200">
                        <a:solidFill>
                          <a:srgbClr val="595959"/>
                        </a:solidFill>
                        <a:highlight>
                          <a:schemeClr val="lt1"/>
                        </a:highlight>
                      </a:endParaRPr>
                    </a:p>
                  </a:txBody>
                  <a:tcPr marT="91425" marB="91425" marR="91425" marL="91425"/>
                </a:tc>
              </a:tr>
              <a:tr h="731500">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Proof of Stake (PoS)</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Energy-efficient, lower electricity consumption and a lower environmental impact</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vulnerable to centralization, most stake in the network may have more influence over decision-making</a:t>
                      </a:r>
                      <a:endParaRPr sz="1200">
                        <a:solidFill>
                          <a:srgbClr val="595959"/>
                        </a:solidFill>
                        <a:highlight>
                          <a:schemeClr val="lt1"/>
                        </a:highlight>
                      </a:endParaRPr>
                    </a:p>
                  </a:txBody>
                  <a:tcPr marT="91425" marB="91425" marR="91425" marL="91425"/>
                </a:tc>
              </a:tr>
              <a:tr h="914375">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Delegated Proof of Stake (DPoS)</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more efficient and scalable, smaller group of network validators who are elected by stakeholders, faster transaction validation.</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vulnerable to collusion or vote buying</a:t>
                      </a:r>
                      <a:endParaRPr sz="1200">
                        <a:solidFill>
                          <a:srgbClr val="595959"/>
                        </a:solidFill>
                        <a:highlight>
                          <a:schemeClr val="lt1"/>
                        </a:highlight>
                      </a:endParaRPr>
                    </a:p>
                  </a:txBody>
                  <a:tcPr marT="91425" marB="91425" marR="91425" marL="91425"/>
                </a:tc>
              </a:tr>
              <a:tr h="548600">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Byzantine Fault Tolerance (BFT)</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highly secure, designed to tolerate faults and malicious behavior, require high levels of reliability and fault tolerance.</a:t>
                      </a:r>
                      <a:endParaRPr sz="1200">
                        <a:solidFill>
                          <a:srgbClr val="595959"/>
                        </a:solidFill>
                        <a:highlight>
                          <a:schemeClr val="lt1"/>
                        </a:highlight>
                      </a:endParaRPr>
                    </a:p>
                  </a:txBody>
                  <a:tcPr marT="91425" marB="91425" marR="91425" marL="91425"/>
                </a:tc>
                <a:tc>
                  <a:txBody>
                    <a:bodyPr/>
                    <a:lstStyle/>
                    <a:p>
                      <a:pPr indent="0" lvl="0" marL="0" rtl="0" algn="l">
                        <a:lnSpc>
                          <a:spcPct val="100000"/>
                        </a:lnSpc>
                        <a:spcBef>
                          <a:spcPts val="0"/>
                        </a:spcBef>
                        <a:spcAft>
                          <a:spcPts val="0"/>
                        </a:spcAft>
                        <a:buNone/>
                      </a:pPr>
                      <a:r>
                        <a:rPr lang="en" sz="1200">
                          <a:solidFill>
                            <a:srgbClr val="595959"/>
                          </a:solidFill>
                          <a:highlight>
                            <a:schemeClr val="lt1"/>
                          </a:highlight>
                        </a:rPr>
                        <a:t>less scalable, slower transaction times and higher network overhead.</a:t>
                      </a:r>
                      <a:endParaRPr sz="1200">
                        <a:solidFill>
                          <a:srgbClr val="595959"/>
                        </a:solidFill>
                        <a:highlight>
                          <a:schemeClr val="lt1"/>
                        </a:highlight>
                      </a:endParaRPr>
                    </a:p>
                  </a:txBody>
                  <a:tcPr marT="91425" marB="91425" marR="91425" marL="91425"/>
                </a:tc>
              </a:tr>
            </a:tbl>
          </a:graphicData>
        </a:graphic>
      </p:graphicFrame>
      <p:sp>
        <p:nvSpPr>
          <p:cNvPr id="167" name="Google Shape;167;p3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BLOCKCHAIN PLATFORM</a:t>
            </a:r>
            <a:endParaRPr sz="2500"/>
          </a:p>
        </p:txBody>
      </p:sp>
      <p:sp>
        <p:nvSpPr>
          <p:cNvPr id="173" name="Google Shape;173;p31"/>
          <p:cNvSpPr txBox="1"/>
          <p:nvPr>
            <p:ph idx="1" type="body"/>
          </p:nvPr>
        </p:nvSpPr>
        <p:spPr>
          <a:xfrm>
            <a:off x="2553600" y="4068450"/>
            <a:ext cx="4036800" cy="305700"/>
          </a:xfrm>
          <a:prstGeom prst="rect">
            <a:avLst/>
          </a:prstGeom>
          <a:noFill/>
          <a:ln>
            <a:noFill/>
          </a:ln>
        </p:spPr>
        <p:txBody>
          <a:bodyPr anchorCtr="0" anchor="t" bIns="34275" lIns="34275" spcFirstLastPara="1" rIns="34275" wrap="square" tIns="34275">
            <a:noAutofit/>
          </a:bodyPr>
          <a:lstStyle/>
          <a:p>
            <a:pPr indent="0" lvl="0" marL="457200" rtl="0" algn="l">
              <a:lnSpc>
                <a:spcPct val="80000"/>
              </a:lnSpc>
              <a:spcBef>
                <a:spcPts val="0"/>
              </a:spcBef>
              <a:spcAft>
                <a:spcPts val="0"/>
              </a:spcAft>
              <a:buSzPts val="1018"/>
              <a:buNone/>
            </a:pPr>
            <a:r>
              <a:rPr lang="en" sz="1410">
                <a:solidFill>
                  <a:srgbClr val="595959"/>
                </a:solidFill>
                <a:highlight>
                  <a:schemeClr val="lt1"/>
                </a:highlight>
              </a:rPr>
              <a:t>Blockchain Platform CHOSEN: Hyperledger</a:t>
            </a:r>
            <a:endParaRPr sz="1410">
              <a:solidFill>
                <a:srgbClr val="595959"/>
              </a:solidFill>
              <a:highlight>
                <a:schemeClr val="lt1"/>
              </a:highlight>
            </a:endParaRPr>
          </a:p>
        </p:txBody>
      </p:sp>
      <p:graphicFrame>
        <p:nvGraphicFramePr>
          <p:cNvPr id="174" name="Google Shape;174;p31"/>
          <p:cNvGraphicFramePr/>
          <p:nvPr/>
        </p:nvGraphicFramePr>
        <p:xfrm>
          <a:off x="952500" y="914400"/>
          <a:ext cx="3000000" cy="3000000"/>
        </p:xfrm>
        <a:graphic>
          <a:graphicData uri="http://schemas.openxmlformats.org/drawingml/2006/table">
            <a:tbl>
              <a:tblPr>
                <a:noFill/>
                <a:tableStyleId>{BFC8C471-2192-4D45-A437-DB3116A11D2A}</a:tableStyleId>
              </a:tblPr>
              <a:tblGrid>
                <a:gridCol w="2413000"/>
                <a:gridCol w="2413000"/>
                <a:gridCol w="2413000"/>
              </a:tblGrid>
              <a:tr h="381000">
                <a:tc>
                  <a:txBody>
                    <a:bodyPr/>
                    <a:lstStyle/>
                    <a:p>
                      <a:pPr indent="0" lvl="0" marL="0" rtl="0" algn="l">
                        <a:spcBef>
                          <a:spcPts val="0"/>
                        </a:spcBef>
                        <a:spcAft>
                          <a:spcPts val="0"/>
                        </a:spcAft>
                        <a:buNone/>
                      </a:pPr>
                      <a:r>
                        <a:rPr lang="en">
                          <a:solidFill>
                            <a:srgbClr val="595959"/>
                          </a:solidFill>
                          <a:highlight>
                            <a:schemeClr val="lt1"/>
                          </a:highlight>
                        </a:rPr>
                        <a:t>Blockchain Platform</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ADVANTAGES</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DISADVANTAGES</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Ethereum</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Smart contract functionality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Scalability issues</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Bitcoin</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Established network and security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Limited functionality</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Hyperledger</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Business-focused</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Technical complexity</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Cardano</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Focus on sustainability</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Limited adoption and network effects</a:t>
                      </a:r>
                      <a:endParaRPr>
                        <a:solidFill>
                          <a:srgbClr val="595959"/>
                        </a:solidFill>
                        <a:highlight>
                          <a:schemeClr val="lt1"/>
                        </a:highlight>
                      </a:endParaRPr>
                    </a:p>
                  </a:txBody>
                  <a:tcPr marT="91425" marB="91425" marR="91425" marL="91425"/>
                </a:tc>
              </a:tr>
              <a:tr h="381000">
                <a:tc>
                  <a:txBody>
                    <a:bodyPr/>
                    <a:lstStyle/>
                    <a:p>
                      <a:pPr indent="0" lvl="0" marL="0" rtl="0" algn="l">
                        <a:spcBef>
                          <a:spcPts val="0"/>
                        </a:spcBef>
                        <a:spcAft>
                          <a:spcPts val="0"/>
                        </a:spcAft>
                        <a:buNone/>
                      </a:pPr>
                      <a:r>
                        <a:rPr lang="en">
                          <a:solidFill>
                            <a:srgbClr val="595959"/>
                          </a:solidFill>
                          <a:highlight>
                            <a:schemeClr val="lt1"/>
                          </a:highlight>
                        </a:rPr>
                        <a:t>Binance Smart Chain</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Low transaction fees</a:t>
                      </a:r>
                      <a:endParaRPr>
                        <a:solidFill>
                          <a:srgbClr val="595959"/>
                        </a:solidFill>
                        <a:highlight>
                          <a:schemeClr val="lt1"/>
                        </a:highlight>
                      </a:endParaRPr>
                    </a:p>
                  </a:txBody>
                  <a:tcPr marT="91425" marB="91425" marR="91425" marL="91425"/>
                </a:tc>
                <a:tc>
                  <a:txBody>
                    <a:bodyPr/>
                    <a:lstStyle/>
                    <a:p>
                      <a:pPr indent="0" lvl="0" marL="0" rtl="0" algn="l">
                        <a:spcBef>
                          <a:spcPts val="0"/>
                        </a:spcBef>
                        <a:spcAft>
                          <a:spcPts val="0"/>
                        </a:spcAft>
                        <a:buNone/>
                      </a:pPr>
                      <a:r>
                        <a:rPr lang="en">
                          <a:solidFill>
                            <a:srgbClr val="595959"/>
                          </a:solidFill>
                          <a:highlight>
                            <a:schemeClr val="lt1"/>
                          </a:highlight>
                        </a:rPr>
                        <a:t>Centralization concerns</a:t>
                      </a:r>
                      <a:endParaRPr>
                        <a:solidFill>
                          <a:srgbClr val="595959"/>
                        </a:solidFill>
                        <a:highlight>
                          <a:schemeClr val="lt1"/>
                        </a:highlight>
                      </a:endParaRPr>
                    </a:p>
                  </a:txBody>
                  <a:tcPr marT="91425" marB="91425" marR="91425" marL="91425"/>
                </a:tc>
              </a:tr>
            </a:tbl>
          </a:graphicData>
        </a:graphic>
      </p:graphicFrame>
      <p:sp>
        <p:nvSpPr>
          <p:cNvPr id="175" name="Google Shape;175;p3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EXPECTED OUTCOMES</a:t>
            </a:r>
            <a:endParaRPr sz="2500"/>
          </a:p>
        </p:txBody>
      </p:sp>
      <p:graphicFrame>
        <p:nvGraphicFramePr>
          <p:cNvPr id="181" name="Google Shape;181;p32"/>
          <p:cNvGraphicFramePr/>
          <p:nvPr/>
        </p:nvGraphicFramePr>
        <p:xfrm>
          <a:off x="952500" y="1365575"/>
          <a:ext cx="3000000" cy="3000000"/>
        </p:xfrm>
        <a:graphic>
          <a:graphicData uri="http://schemas.openxmlformats.org/drawingml/2006/table">
            <a:tbl>
              <a:tblPr>
                <a:noFill/>
                <a:tableStyleId>{BFC8C471-2192-4D45-A437-DB3116A11D2A}</a:tableStyleId>
              </a:tblPr>
              <a:tblGrid>
                <a:gridCol w="1243075"/>
                <a:gridCol w="1938700"/>
                <a:gridCol w="4057225"/>
              </a:tblGrid>
              <a:tr h="381000">
                <a:tc>
                  <a:txBody>
                    <a:bodyPr/>
                    <a:lstStyle/>
                    <a:p>
                      <a:pPr indent="0" lvl="0" marL="0" rtl="0" algn="l">
                        <a:spcBef>
                          <a:spcPts val="0"/>
                        </a:spcBef>
                        <a:spcAft>
                          <a:spcPts val="0"/>
                        </a:spcAft>
                        <a:buNone/>
                      </a:pPr>
                      <a:r>
                        <a:rPr lang="en">
                          <a:solidFill>
                            <a:srgbClr val="595959"/>
                          </a:solidFill>
                        </a:rPr>
                        <a:t>PHASE 1</a:t>
                      </a:r>
                      <a:endParaRPr>
                        <a:solidFill>
                          <a:srgbClr val="595959"/>
                        </a:solidFill>
                      </a:endParaRPr>
                    </a:p>
                  </a:txBody>
                  <a:tcPr marT="91425" marB="91425" marR="91425" marL="91425">
                    <a:lnL cap="flat" cmpd="sng" w="38100">
                      <a:solidFill>
                        <a:srgbClr val="38761D"/>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38761D"/>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Planning Phase</a:t>
                      </a:r>
                      <a:endParaRPr>
                        <a:solidFill>
                          <a:srgbClr val="595959"/>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38761D"/>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Requirements of the project, identifying business problem</a:t>
                      </a:r>
                      <a:endParaRPr>
                        <a:solidFill>
                          <a:srgbClr val="595959"/>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38761D"/>
                      </a:solidFill>
                      <a:prstDash val="solid"/>
                      <a:round/>
                      <a:headEnd len="sm" w="sm" type="none"/>
                      <a:tailEnd len="sm" w="sm" type="none"/>
                    </a:lnR>
                    <a:lnT cap="flat" cmpd="sng" w="38100">
                      <a:solidFill>
                        <a:srgbClr val="38761D"/>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2</a:t>
                      </a:r>
                      <a:endParaRPr>
                        <a:solidFill>
                          <a:srgbClr val="595959"/>
                        </a:solidFill>
                      </a:endParaRPr>
                    </a:p>
                  </a:txBody>
                  <a:tcPr marT="91425" marB="91425" marR="91425" marL="91425">
                    <a:lnL cap="flat" cmpd="sng" w="38100">
                      <a:solidFill>
                        <a:srgbClr val="38761D"/>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38761D"/>
                      </a:solidFill>
                      <a:prstDash val="solid"/>
                      <a:round/>
                      <a:headEnd len="sm" w="sm" type="none"/>
                      <a:tailEnd len="sm" w="sm" type="none"/>
                    </a:lnB>
                    <a:solidFill>
                      <a:srgbClr val="D9EAD3"/>
                    </a:solidFill>
                  </a:tcPr>
                </a:tc>
                <a:tc>
                  <a:txBody>
                    <a:bodyPr/>
                    <a:lstStyle/>
                    <a:p>
                      <a:pPr indent="0" lvl="0" marL="0" rtl="0" algn="l">
                        <a:lnSpc>
                          <a:spcPct val="150000"/>
                        </a:lnSpc>
                        <a:spcBef>
                          <a:spcPts val="0"/>
                        </a:spcBef>
                        <a:spcAft>
                          <a:spcPts val="0"/>
                        </a:spcAft>
                        <a:buNone/>
                      </a:pPr>
                      <a:r>
                        <a:rPr lang="en" sz="1410">
                          <a:solidFill>
                            <a:srgbClr val="595959"/>
                          </a:solidFill>
                        </a:rPr>
                        <a:t>Design Phase</a:t>
                      </a:r>
                      <a:endParaRPr>
                        <a:solidFill>
                          <a:srgbClr val="595959"/>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38761D"/>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solidFill>
                            <a:srgbClr val="595959"/>
                          </a:solidFill>
                        </a:rPr>
                        <a:t>Blockchain architecture, other technical details </a:t>
                      </a:r>
                      <a:endParaRPr>
                        <a:solidFill>
                          <a:srgbClr val="595959"/>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38761D"/>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38761D"/>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3</a:t>
                      </a:r>
                      <a:endParaRPr>
                        <a:solidFill>
                          <a:srgbClr val="595959"/>
                        </a:solidFill>
                      </a:endParaRPr>
                    </a:p>
                  </a:txBody>
                  <a:tcPr marT="91425" marB="91425" marR="91425" marL="91425">
                    <a:lnT cap="flat" cmpd="sng" w="38100">
                      <a:solidFill>
                        <a:srgbClr val="38761D"/>
                      </a:solidFill>
                      <a:prstDash val="solid"/>
                      <a:round/>
                      <a:headEnd len="sm" w="sm" type="none"/>
                      <a:tailEnd len="sm" w="sm" type="none"/>
                    </a:lnT>
                  </a:tcPr>
                </a:tc>
                <a:tc>
                  <a:txBody>
                    <a:bodyPr/>
                    <a:lstStyle/>
                    <a:p>
                      <a:pPr indent="0" lvl="0" marL="0" rtl="0" algn="l">
                        <a:lnSpc>
                          <a:spcPct val="150000"/>
                        </a:lnSpc>
                        <a:spcBef>
                          <a:spcPts val="0"/>
                        </a:spcBef>
                        <a:spcAft>
                          <a:spcPts val="0"/>
                        </a:spcAft>
                        <a:buNone/>
                      </a:pPr>
                      <a:r>
                        <a:rPr lang="en" sz="1410">
                          <a:solidFill>
                            <a:srgbClr val="595959"/>
                          </a:solidFill>
                        </a:rPr>
                        <a:t>Development Phase</a:t>
                      </a:r>
                      <a:endParaRPr>
                        <a:solidFill>
                          <a:srgbClr val="595959"/>
                        </a:solidFill>
                      </a:endParaRPr>
                    </a:p>
                  </a:txBody>
                  <a:tcPr marT="91425" marB="91425" marR="91425" marL="91425">
                    <a:lnT cap="flat" cmpd="sng" w="38100">
                      <a:solidFill>
                        <a:srgbClr val="38761D"/>
                      </a:solidFill>
                      <a:prstDash val="solid"/>
                      <a:round/>
                      <a:headEnd len="sm" w="sm" type="none"/>
                      <a:tailEnd len="sm" w="sm" type="none"/>
                    </a:lnT>
                  </a:tcPr>
                </a:tc>
                <a:tc>
                  <a:txBody>
                    <a:bodyPr/>
                    <a:lstStyle/>
                    <a:p>
                      <a:pPr indent="0" lvl="0" marL="0" rtl="0" algn="l">
                        <a:spcBef>
                          <a:spcPts val="0"/>
                        </a:spcBef>
                        <a:spcAft>
                          <a:spcPts val="0"/>
                        </a:spcAft>
                        <a:buNone/>
                      </a:pPr>
                      <a:r>
                        <a:rPr lang="en">
                          <a:solidFill>
                            <a:srgbClr val="595959"/>
                          </a:solidFill>
                        </a:rPr>
                        <a:t>Proof of concept, </a:t>
                      </a:r>
                      <a:r>
                        <a:rPr lang="en">
                          <a:solidFill>
                            <a:srgbClr val="595959"/>
                          </a:solidFill>
                        </a:rPr>
                        <a:t>development</a:t>
                      </a:r>
                      <a:r>
                        <a:rPr lang="en">
                          <a:solidFill>
                            <a:srgbClr val="595959"/>
                          </a:solidFill>
                        </a:rPr>
                        <a:t> of application</a:t>
                      </a:r>
                      <a:endParaRPr>
                        <a:solidFill>
                          <a:srgbClr val="595959"/>
                        </a:solidFill>
                      </a:endParaRPr>
                    </a:p>
                  </a:txBody>
                  <a:tcPr marT="91425" marB="91425" marR="91425" marL="91425">
                    <a:lnT cap="flat" cmpd="sng" w="38100">
                      <a:solidFill>
                        <a:srgbClr val="38761D"/>
                      </a:solidFill>
                      <a:prstDash val="solid"/>
                      <a:round/>
                      <a:headEnd len="sm" w="sm" type="none"/>
                      <a:tailEnd len="sm" w="sm" type="none"/>
                    </a:lnT>
                  </a:tcPr>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4</a:t>
                      </a:r>
                      <a:endParaRPr>
                        <a:solidFill>
                          <a:srgbClr val="595959"/>
                        </a:solidFill>
                      </a:endParaRPr>
                    </a:p>
                  </a:txBody>
                  <a:tcPr marT="91425" marB="91425" marR="91425" marL="91425"/>
                </a:tc>
                <a:tc>
                  <a:txBody>
                    <a:bodyPr/>
                    <a:lstStyle/>
                    <a:p>
                      <a:pPr indent="0" lvl="0" marL="0" rtl="0" algn="l">
                        <a:lnSpc>
                          <a:spcPct val="150000"/>
                        </a:lnSpc>
                        <a:spcBef>
                          <a:spcPts val="0"/>
                        </a:spcBef>
                        <a:spcAft>
                          <a:spcPts val="0"/>
                        </a:spcAft>
                        <a:buNone/>
                      </a:pPr>
                      <a:r>
                        <a:rPr lang="en" sz="1410">
                          <a:solidFill>
                            <a:srgbClr val="595959"/>
                          </a:solidFill>
                        </a:rPr>
                        <a:t>Deployment Phase</a:t>
                      </a:r>
                      <a:endParaRPr>
                        <a:solidFill>
                          <a:srgbClr val="595959"/>
                        </a:solidFill>
                      </a:endParaRPr>
                    </a:p>
                  </a:txBody>
                  <a:tcPr marT="91425" marB="91425" marR="91425" marL="91425"/>
                </a:tc>
                <a:tc>
                  <a:txBody>
                    <a:bodyPr/>
                    <a:lstStyle/>
                    <a:p>
                      <a:pPr indent="0" lvl="0" marL="0" rtl="0" algn="l">
                        <a:spcBef>
                          <a:spcPts val="0"/>
                        </a:spcBef>
                        <a:spcAft>
                          <a:spcPts val="0"/>
                        </a:spcAft>
                        <a:buNone/>
                      </a:pPr>
                      <a:r>
                        <a:rPr lang="en">
                          <a:solidFill>
                            <a:srgbClr val="595959"/>
                          </a:solidFill>
                        </a:rPr>
                        <a:t>Deployment of application in test environment, testing</a:t>
                      </a:r>
                      <a:endParaRPr>
                        <a:solidFill>
                          <a:srgbClr val="595959"/>
                        </a:solidFill>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rgbClr val="595959"/>
                          </a:solidFill>
                        </a:rPr>
                        <a:t>PHASE 5</a:t>
                      </a:r>
                      <a:endParaRPr>
                        <a:solidFill>
                          <a:srgbClr val="595959"/>
                        </a:solidFill>
                      </a:endParaRPr>
                    </a:p>
                  </a:txBody>
                  <a:tcPr marT="91425" marB="91425" marR="91425" marL="91425"/>
                </a:tc>
                <a:tc>
                  <a:txBody>
                    <a:bodyPr/>
                    <a:lstStyle/>
                    <a:p>
                      <a:pPr indent="0" lvl="0" marL="0" rtl="0" algn="l">
                        <a:lnSpc>
                          <a:spcPct val="150000"/>
                        </a:lnSpc>
                        <a:spcBef>
                          <a:spcPts val="0"/>
                        </a:spcBef>
                        <a:spcAft>
                          <a:spcPts val="0"/>
                        </a:spcAft>
                        <a:buNone/>
                      </a:pPr>
                      <a:r>
                        <a:rPr lang="en" sz="1410">
                          <a:solidFill>
                            <a:srgbClr val="595959"/>
                          </a:solidFill>
                        </a:rPr>
                        <a:t>Production Phase</a:t>
                      </a:r>
                      <a:endParaRPr>
                        <a:solidFill>
                          <a:srgbClr val="595959"/>
                        </a:solidFill>
                      </a:endParaRPr>
                    </a:p>
                  </a:txBody>
                  <a:tcPr marT="91425" marB="91425" marR="91425" marL="91425"/>
                </a:tc>
                <a:tc>
                  <a:txBody>
                    <a:bodyPr/>
                    <a:lstStyle/>
                    <a:p>
                      <a:pPr indent="0" lvl="0" marL="0" rtl="0" algn="l">
                        <a:spcBef>
                          <a:spcPts val="0"/>
                        </a:spcBef>
                        <a:spcAft>
                          <a:spcPts val="0"/>
                        </a:spcAft>
                        <a:buNone/>
                      </a:pPr>
                      <a:r>
                        <a:rPr lang="en">
                          <a:solidFill>
                            <a:srgbClr val="595959"/>
                          </a:solidFill>
                        </a:rPr>
                        <a:t>Deploying application</a:t>
                      </a:r>
                      <a:endParaRPr>
                        <a:solidFill>
                          <a:srgbClr val="595959"/>
                        </a:solidFill>
                      </a:endParaRPr>
                    </a:p>
                  </a:txBody>
                  <a:tcPr marT="91425" marB="91425" marR="91425" marL="91425"/>
                </a:tc>
              </a:tr>
            </a:tbl>
          </a:graphicData>
        </a:graphic>
      </p:graphicFrame>
      <p:sp>
        <p:nvSpPr>
          <p:cNvPr id="182" name="Google Shape;182;p3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PROJECT TIMELINE</a:t>
            </a:r>
            <a:endParaRPr sz="2500"/>
          </a:p>
        </p:txBody>
      </p:sp>
      <p:graphicFrame>
        <p:nvGraphicFramePr>
          <p:cNvPr id="188" name="Google Shape;188;p33"/>
          <p:cNvGraphicFramePr/>
          <p:nvPr/>
        </p:nvGraphicFramePr>
        <p:xfrm>
          <a:off x="734063" y="1245975"/>
          <a:ext cx="3000000" cy="3000000"/>
        </p:xfrm>
        <a:graphic>
          <a:graphicData uri="http://schemas.openxmlformats.org/drawingml/2006/table">
            <a:tbl>
              <a:tblPr>
                <a:noFill/>
                <a:tableStyleId>{BFC8C471-2192-4D45-A437-DB3116A11D2A}</a:tableStyleId>
              </a:tblPr>
              <a:tblGrid>
                <a:gridCol w="1165925"/>
                <a:gridCol w="818775"/>
                <a:gridCol w="791100"/>
                <a:gridCol w="796125"/>
                <a:gridCol w="831350"/>
                <a:gridCol w="804925"/>
                <a:gridCol w="822550"/>
                <a:gridCol w="822550"/>
                <a:gridCol w="822550"/>
              </a:tblGrid>
              <a:tr h="396200">
                <a:tc>
                  <a:txBody>
                    <a:bodyPr/>
                    <a:lstStyle/>
                    <a:p>
                      <a:pPr indent="-9144" lvl="0" marL="9144" rtl="0" algn="l">
                        <a:spcBef>
                          <a:spcPts val="0"/>
                        </a:spcBef>
                        <a:spcAft>
                          <a:spcPts val="0"/>
                        </a:spcAft>
                        <a:buNone/>
                      </a:pPr>
                      <a:r>
                        <a:t/>
                      </a:r>
                      <a:endParaRPr sz="1000"/>
                    </a:p>
                  </a:txBody>
                  <a:tcPr marT="91425" marB="91425" marR="91425" marL="91425" anchor="ctr"/>
                </a:tc>
                <a:tc>
                  <a:txBody>
                    <a:bodyPr/>
                    <a:lstStyle/>
                    <a:p>
                      <a:pPr indent="-9144" lvl="0" marL="100584" rtl="0" algn="l">
                        <a:spcBef>
                          <a:spcPts val="0"/>
                        </a:spcBef>
                        <a:spcAft>
                          <a:spcPts val="0"/>
                        </a:spcAft>
                        <a:buNone/>
                      </a:pPr>
                      <a:r>
                        <a:rPr lang="en" sz="1000"/>
                        <a:t>WEEK 1</a:t>
                      </a:r>
                      <a:endParaRPr sz="1000"/>
                    </a:p>
                  </a:txBody>
                  <a:tcPr marT="91425" marB="91425" marR="91425" marL="91425" anchor="ctr"/>
                </a:tc>
                <a:tc>
                  <a:txBody>
                    <a:bodyPr/>
                    <a:lstStyle/>
                    <a:p>
                      <a:pPr indent="-9144" lvl="0" marL="100584" rtl="0" algn="l">
                        <a:spcBef>
                          <a:spcPts val="0"/>
                        </a:spcBef>
                        <a:spcAft>
                          <a:spcPts val="0"/>
                        </a:spcAft>
                        <a:buNone/>
                      </a:pPr>
                      <a:r>
                        <a:rPr lang="en" sz="1000"/>
                        <a:t>WEEK 2</a:t>
                      </a:r>
                      <a:endParaRPr sz="1000"/>
                    </a:p>
                  </a:txBody>
                  <a:tcPr marT="91425" marB="91425" marR="91425" marL="91425" anchor="ctr"/>
                </a:tc>
                <a:tc>
                  <a:txBody>
                    <a:bodyPr/>
                    <a:lstStyle/>
                    <a:p>
                      <a:pPr indent="-9144" lvl="0" marL="100584" rtl="0" algn="l">
                        <a:spcBef>
                          <a:spcPts val="0"/>
                        </a:spcBef>
                        <a:spcAft>
                          <a:spcPts val="0"/>
                        </a:spcAft>
                        <a:buClr>
                          <a:schemeClr val="dk1"/>
                        </a:buClr>
                        <a:buSzPts val="1100"/>
                        <a:buFont typeface="Arial"/>
                        <a:buNone/>
                      </a:pPr>
                      <a:r>
                        <a:rPr lang="en" sz="1000">
                          <a:solidFill>
                            <a:schemeClr val="dk1"/>
                          </a:solidFill>
                        </a:rPr>
                        <a:t>WEEK 3</a:t>
                      </a:r>
                      <a:endParaRPr sz="1000"/>
                    </a:p>
                  </a:txBody>
                  <a:tcPr marT="91425" marB="91425" marR="91425" marL="91425" anchor="ctr"/>
                </a:tc>
                <a:tc>
                  <a:txBody>
                    <a:bodyPr/>
                    <a:lstStyle/>
                    <a:p>
                      <a:pPr indent="-9144" lvl="0" marL="100584" rtl="0" algn="l">
                        <a:spcBef>
                          <a:spcPts val="0"/>
                        </a:spcBef>
                        <a:spcAft>
                          <a:spcPts val="0"/>
                        </a:spcAft>
                        <a:buClr>
                          <a:schemeClr val="dk1"/>
                        </a:buClr>
                        <a:buSzPts val="1100"/>
                        <a:buFont typeface="Arial"/>
                        <a:buNone/>
                      </a:pPr>
                      <a:r>
                        <a:rPr lang="en" sz="1000">
                          <a:solidFill>
                            <a:schemeClr val="dk1"/>
                          </a:solidFill>
                        </a:rPr>
                        <a:t>WEEK 4</a:t>
                      </a:r>
                      <a:endParaRPr sz="1000"/>
                    </a:p>
                  </a:txBody>
                  <a:tcPr marT="91425" marB="91425" marR="91425" marL="91425" anchor="ctr">
                    <a:lnR cap="flat" cmpd="sng" w="19050">
                      <a:solidFill>
                        <a:srgbClr val="9E9E9E"/>
                      </a:solidFill>
                      <a:prstDash val="solid"/>
                      <a:round/>
                      <a:headEnd len="sm" w="sm" type="none"/>
                      <a:tailEnd len="sm" w="sm" type="none"/>
                    </a:lnR>
                  </a:tcPr>
                </a:tc>
                <a:tc>
                  <a:txBody>
                    <a:bodyPr/>
                    <a:lstStyle/>
                    <a:p>
                      <a:pPr indent="-9144" lvl="0" marL="100584" rtl="0" algn="l">
                        <a:spcBef>
                          <a:spcPts val="0"/>
                        </a:spcBef>
                        <a:spcAft>
                          <a:spcPts val="0"/>
                        </a:spcAft>
                        <a:buClr>
                          <a:schemeClr val="dk1"/>
                        </a:buClr>
                        <a:buSzPts val="1100"/>
                        <a:buFont typeface="Arial"/>
                        <a:buNone/>
                      </a:pPr>
                      <a:r>
                        <a:rPr lang="en" sz="1000">
                          <a:solidFill>
                            <a:schemeClr val="dk1"/>
                          </a:solidFill>
                        </a:rPr>
                        <a:t>WEEK 5</a:t>
                      </a:r>
                      <a:endParaRPr sz="1000"/>
                    </a:p>
                  </a:txBody>
                  <a:tcPr marT="91425" marB="91425" marR="91425" marL="91425" anchor="ctr">
                    <a:lnL cap="flat" cmpd="sng" w="19050">
                      <a:solidFill>
                        <a:srgbClr val="9E9E9E"/>
                      </a:solidFill>
                      <a:prstDash val="solid"/>
                      <a:round/>
                      <a:headEnd len="sm" w="sm" type="none"/>
                      <a:tailEnd len="sm" w="sm" type="none"/>
                    </a:lnL>
                  </a:tcPr>
                </a:tc>
                <a:tc>
                  <a:txBody>
                    <a:bodyPr/>
                    <a:lstStyle/>
                    <a:p>
                      <a:pPr indent="-9144" lvl="0" marL="100584" rtl="0" algn="l">
                        <a:spcBef>
                          <a:spcPts val="0"/>
                        </a:spcBef>
                        <a:spcAft>
                          <a:spcPts val="0"/>
                        </a:spcAft>
                        <a:buClr>
                          <a:schemeClr val="dk1"/>
                        </a:buClr>
                        <a:buSzPts val="1100"/>
                        <a:buFont typeface="Arial"/>
                        <a:buNone/>
                      </a:pPr>
                      <a:r>
                        <a:rPr lang="en" sz="1000">
                          <a:solidFill>
                            <a:schemeClr val="dk1"/>
                          </a:solidFill>
                        </a:rPr>
                        <a:t>WEEK 6</a:t>
                      </a:r>
                      <a:endParaRPr sz="1000"/>
                    </a:p>
                  </a:txBody>
                  <a:tcPr marT="91425" marB="91425" marR="91425" marL="91425" anchor="ctr"/>
                </a:tc>
                <a:tc>
                  <a:txBody>
                    <a:bodyPr/>
                    <a:lstStyle/>
                    <a:p>
                      <a:pPr indent="-9144" lvl="0" marL="100584" rtl="0" algn="l">
                        <a:spcBef>
                          <a:spcPts val="0"/>
                        </a:spcBef>
                        <a:spcAft>
                          <a:spcPts val="0"/>
                        </a:spcAft>
                        <a:buNone/>
                      </a:pPr>
                      <a:r>
                        <a:rPr lang="en" sz="1000">
                          <a:solidFill>
                            <a:schemeClr val="dk1"/>
                          </a:solidFill>
                        </a:rPr>
                        <a:t>WEEK 7</a:t>
                      </a:r>
                      <a:endParaRPr sz="1000">
                        <a:solidFill>
                          <a:schemeClr val="dk1"/>
                        </a:solidFill>
                      </a:endParaRPr>
                    </a:p>
                  </a:txBody>
                  <a:tcPr marT="91425" marB="91425" marR="91425" marL="91425" anchor="ctr"/>
                </a:tc>
                <a:tc>
                  <a:txBody>
                    <a:bodyPr/>
                    <a:lstStyle/>
                    <a:p>
                      <a:pPr indent="-9144" lvl="0" marL="100584" rtl="0" algn="l">
                        <a:spcBef>
                          <a:spcPts val="0"/>
                        </a:spcBef>
                        <a:spcAft>
                          <a:spcPts val="0"/>
                        </a:spcAft>
                        <a:buNone/>
                      </a:pPr>
                      <a:r>
                        <a:rPr lang="en" sz="1000">
                          <a:solidFill>
                            <a:schemeClr val="dk1"/>
                          </a:solidFill>
                        </a:rPr>
                        <a:t>WEEK 8</a:t>
                      </a:r>
                      <a:endParaRPr sz="1000">
                        <a:solidFill>
                          <a:schemeClr val="dk1"/>
                        </a:solidFill>
                      </a:endParaRPr>
                    </a:p>
                  </a:txBody>
                  <a:tcPr marT="91425" marB="91425" marR="91425" marL="91425" anchor="ctr">
                    <a:lnR cap="flat" cmpd="sng" w="19050">
                      <a:solidFill>
                        <a:srgbClr val="9E9E9E"/>
                      </a:solidFill>
                      <a:prstDash val="solid"/>
                      <a:round/>
                      <a:headEnd len="sm" w="sm" type="none"/>
                      <a:tailEnd len="sm" w="sm" type="none"/>
                    </a:lnR>
                  </a:tcPr>
                </a:tc>
              </a:tr>
              <a:tr h="405700">
                <a:tc>
                  <a:txBody>
                    <a:bodyPr/>
                    <a:lstStyle/>
                    <a:p>
                      <a:pPr indent="-9144" lvl="0" marL="9144" rtl="0" algn="l">
                        <a:spcBef>
                          <a:spcPts val="0"/>
                        </a:spcBef>
                        <a:spcAft>
                          <a:spcPts val="0"/>
                        </a:spcAft>
                        <a:buNone/>
                      </a:pPr>
                      <a:r>
                        <a:rPr lang="en" sz="1000"/>
                        <a:t>Proof of concept</a:t>
                      </a:r>
                      <a:endParaRPr sz="1000"/>
                    </a:p>
                  </a:txBody>
                  <a:tcPr marT="91425" marB="91425" marR="91425" marL="91425" anchor="ctr"/>
                </a:tc>
                <a:tc>
                  <a:txBody>
                    <a:bodyPr/>
                    <a:lstStyle/>
                    <a:p>
                      <a:pPr indent="0" lvl="0" marL="0" rtl="0" algn="ctr">
                        <a:spcBef>
                          <a:spcPts val="0"/>
                        </a:spcBef>
                        <a:spcAft>
                          <a:spcPts val="0"/>
                        </a:spcAft>
                        <a:buNone/>
                      </a:pPr>
                      <a:r>
                        <a:rPr lang="en" sz="1000">
                          <a:solidFill>
                            <a:schemeClr val="lt1"/>
                          </a:solidFill>
                        </a:rPr>
                        <a:t>26th Feb - 4th Mar</a:t>
                      </a:r>
                      <a:endParaRPr sz="1000">
                        <a:solidFill>
                          <a:schemeClr val="lt1"/>
                        </a:solidFill>
                      </a:endParaRPr>
                    </a:p>
                  </a:txBody>
                  <a:tcPr marT="91425" marB="91425" marR="91425" marL="91425" anchor="ctr">
                    <a:solidFill>
                      <a:srgbClr val="FF0000"/>
                    </a:solidFill>
                  </a:tcP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sz="1000"/>
                    </a:p>
                  </a:txBody>
                  <a:tcPr marT="91425" marB="91425" marR="91425" marL="91425" anchor="ctr">
                    <a:lnL cap="flat" cmpd="sng" w="19050">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r>
              <a:tr h="396200">
                <a:tc>
                  <a:txBody>
                    <a:bodyPr/>
                    <a:lstStyle/>
                    <a:p>
                      <a:pPr indent="-9144" lvl="0" marL="9144" rtl="0" algn="l">
                        <a:spcBef>
                          <a:spcPts val="0"/>
                        </a:spcBef>
                        <a:spcAft>
                          <a:spcPts val="0"/>
                        </a:spcAft>
                        <a:buNone/>
                      </a:pPr>
                      <a:r>
                        <a:rPr lang="en" sz="1000"/>
                        <a:t>Develop</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gridSpan="3">
                  <a:txBody>
                    <a:bodyPr/>
                    <a:lstStyle/>
                    <a:p>
                      <a:pPr indent="0" lvl="0" marL="0" rtl="0" algn="ctr">
                        <a:spcBef>
                          <a:spcPts val="0"/>
                        </a:spcBef>
                        <a:spcAft>
                          <a:spcPts val="0"/>
                        </a:spcAft>
                        <a:buNone/>
                      </a:pPr>
                      <a:r>
                        <a:rPr lang="en" sz="1000">
                          <a:solidFill>
                            <a:schemeClr val="lt1"/>
                          </a:solidFill>
                        </a:rPr>
                        <a:t>5th Mar - 25th Mar</a:t>
                      </a:r>
                      <a:endParaRPr sz="1000"/>
                    </a:p>
                  </a:txBody>
                  <a:tcPr marT="91425" marB="91425" marR="91425" marL="91425" anchor="ctr">
                    <a:lnR cap="flat" cmpd="sng" w="19050">
                      <a:solidFill>
                        <a:srgbClr val="9E9E9E"/>
                      </a:solidFill>
                      <a:prstDash val="solid"/>
                      <a:round/>
                      <a:headEnd len="sm" w="sm" type="none"/>
                      <a:tailEnd len="sm" w="sm" type="none"/>
                    </a:lnR>
                    <a:solidFill>
                      <a:srgbClr val="FF0000"/>
                    </a:solidFill>
                  </a:tcPr>
                </a:tc>
                <a:tc hMerge="1"/>
                <a:tc hMerge="1"/>
                <a:tc>
                  <a:txBody>
                    <a:bodyPr/>
                    <a:lstStyle/>
                    <a:p>
                      <a:pPr indent="0" lvl="0" marL="0" rtl="0" algn="ctr">
                        <a:spcBef>
                          <a:spcPts val="0"/>
                        </a:spcBef>
                        <a:spcAft>
                          <a:spcPts val="0"/>
                        </a:spcAft>
                        <a:buNone/>
                      </a:pPr>
                      <a:r>
                        <a:t/>
                      </a:r>
                      <a:endParaRPr sz="1000"/>
                    </a:p>
                  </a:txBody>
                  <a:tcPr marT="91425" marB="91425" marR="91425" marL="91425" anchor="ctr">
                    <a:lnL cap="flat" cmpd="sng" w="19050">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r>
              <a:tr h="396200">
                <a:tc>
                  <a:txBody>
                    <a:bodyPr/>
                    <a:lstStyle/>
                    <a:p>
                      <a:pPr indent="-9144" lvl="0" marL="9144" rtl="0" algn="l">
                        <a:spcBef>
                          <a:spcPts val="0"/>
                        </a:spcBef>
                        <a:spcAft>
                          <a:spcPts val="0"/>
                        </a:spcAft>
                        <a:buNone/>
                      </a:pPr>
                      <a:r>
                        <a:rPr lang="en" sz="1000"/>
                        <a:t>Integrate</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t/>
                      </a:r>
                      <a:endParaRPr sz="1000">
                        <a:solidFill>
                          <a:schemeClr val="dk1"/>
                        </a:solidFill>
                      </a:endParaRPr>
                    </a:p>
                  </a:txBody>
                  <a:tcPr marT="91425" marB="91425" marR="91425" marL="91425" anchor="ctr">
                    <a:lnR cap="flat" cmpd="sng" w="19050">
                      <a:solidFill>
                        <a:srgbClr val="9E9E9E"/>
                      </a:solidFill>
                      <a:prstDash val="solid"/>
                      <a:round/>
                      <a:headEnd len="sm" w="sm" type="none"/>
                      <a:tailEnd len="sm" w="sm" type="none"/>
                    </a:lnR>
                  </a:tcPr>
                </a:tc>
                <a:tc gridSpan="2">
                  <a:txBody>
                    <a:bodyPr/>
                    <a:lstStyle/>
                    <a:p>
                      <a:pPr indent="0" lvl="0" marL="0" rtl="0" algn="ctr">
                        <a:spcBef>
                          <a:spcPts val="0"/>
                        </a:spcBef>
                        <a:spcAft>
                          <a:spcPts val="0"/>
                        </a:spcAft>
                        <a:buNone/>
                      </a:pPr>
                      <a:r>
                        <a:rPr lang="en" sz="1000">
                          <a:solidFill>
                            <a:schemeClr val="lt1"/>
                          </a:solidFill>
                        </a:rPr>
                        <a:t>26th Mar - 1st Apr</a:t>
                      </a:r>
                      <a:endParaRPr sz="1000">
                        <a:solidFill>
                          <a:schemeClr val="lt1"/>
                        </a:solidFill>
                      </a:endParaRPr>
                    </a:p>
                  </a:txBody>
                  <a:tcPr marT="91425" marB="91425" marR="91425" marL="91425" anchor="ctr">
                    <a:lnL cap="flat" cmpd="sng" w="19050">
                      <a:solidFill>
                        <a:srgbClr val="9E9E9E"/>
                      </a:solidFill>
                      <a:prstDash val="solid"/>
                      <a:round/>
                      <a:headEnd len="sm" w="sm" type="none"/>
                      <a:tailEnd len="sm" w="sm" type="none"/>
                    </a:lnL>
                    <a:solidFill>
                      <a:srgbClr val="FF9900"/>
                    </a:solidFill>
                  </a:tcPr>
                </a:tc>
                <a:tc hMerge="1"/>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r>
              <a:tr h="396200">
                <a:tc>
                  <a:txBody>
                    <a:bodyPr/>
                    <a:lstStyle/>
                    <a:p>
                      <a:pPr indent="-9144" lvl="0" marL="9144" rtl="0" algn="l">
                        <a:spcBef>
                          <a:spcPts val="0"/>
                        </a:spcBef>
                        <a:spcAft>
                          <a:spcPts val="0"/>
                        </a:spcAft>
                        <a:buNone/>
                      </a:pPr>
                      <a:r>
                        <a:rPr lang="en" sz="1000"/>
                        <a:t>Test</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sz="1000">
                        <a:solidFill>
                          <a:schemeClr val="dk1"/>
                        </a:solidFill>
                      </a:endParaRPr>
                    </a:p>
                  </a:txBody>
                  <a:tcPr marT="91425" marB="91425" marR="91425" marL="91425" anchor="ctr">
                    <a:lnL cap="flat" cmpd="sng" w="19050">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rPr lang="en" sz="1000">
                          <a:solidFill>
                            <a:schemeClr val="lt1"/>
                          </a:solidFill>
                        </a:rPr>
                        <a:t>2nd Apr - 8th Apr</a:t>
                      </a:r>
                      <a:endParaRPr sz="1000">
                        <a:solidFill>
                          <a:schemeClr val="lt1"/>
                        </a:solidFill>
                      </a:endParaRPr>
                    </a:p>
                  </a:txBody>
                  <a:tcPr marT="91425" marB="91425" marR="91425" marL="91425" anchor="ctr">
                    <a:solidFill>
                      <a:srgbClr val="FF9900"/>
                    </a:solidFill>
                  </a:tcP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r>
              <a:tr h="396200">
                <a:tc>
                  <a:txBody>
                    <a:bodyPr/>
                    <a:lstStyle/>
                    <a:p>
                      <a:pPr indent="-9144" lvl="0" marL="9144" rtl="0" algn="l">
                        <a:spcBef>
                          <a:spcPts val="0"/>
                        </a:spcBef>
                        <a:spcAft>
                          <a:spcPts val="0"/>
                        </a:spcAft>
                        <a:buNone/>
                      </a:pPr>
                      <a:r>
                        <a:rPr lang="en" sz="1000"/>
                        <a:t>Deploy</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lnR cap="flat" cmpd="sng" w="1905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sz="1000"/>
                    </a:p>
                  </a:txBody>
                  <a:tcPr marT="91425" marB="91425" marR="91425" marL="91425" anchor="ctr">
                    <a:lnL cap="flat" cmpd="sng" w="19050">
                      <a:solidFill>
                        <a:srgbClr val="9E9E9E"/>
                      </a:solidFill>
                      <a:prstDash val="solid"/>
                      <a:round/>
                      <a:headEnd len="sm" w="sm" type="none"/>
                      <a:tailEnd len="sm" w="sm" type="none"/>
                    </a:lnL>
                  </a:tcPr>
                </a:tc>
                <a:tc>
                  <a:txBody>
                    <a:bodyPr/>
                    <a:lstStyle/>
                    <a:p>
                      <a:pPr indent="0" lvl="0" marL="0" rtl="0" algn="ctr">
                        <a:spcBef>
                          <a:spcPts val="0"/>
                        </a:spcBef>
                        <a:spcAft>
                          <a:spcPts val="0"/>
                        </a:spcAft>
                        <a:buClr>
                          <a:schemeClr val="dk1"/>
                        </a:buClr>
                        <a:buSzPts val="1100"/>
                        <a:buFont typeface="Arial"/>
                        <a:buNone/>
                      </a:pPr>
                      <a:r>
                        <a:t/>
                      </a:r>
                      <a:endParaRPr sz="1000">
                        <a:solidFill>
                          <a:schemeClr val="dk1"/>
                        </a:solidFill>
                      </a:endParaRPr>
                    </a:p>
                  </a:txBody>
                  <a:tcPr marT="91425" marB="91425" marR="91425" marL="91425" anchor="ctr"/>
                </a:tc>
                <a:tc>
                  <a:txBody>
                    <a:bodyPr/>
                    <a:lstStyle/>
                    <a:p>
                      <a:pPr indent="0" lvl="0" marL="0" rtl="0" algn="ctr">
                        <a:spcBef>
                          <a:spcPts val="0"/>
                        </a:spcBef>
                        <a:spcAft>
                          <a:spcPts val="0"/>
                        </a:spcAft>
                        <a:buNone/>
                      </a:pPr>
                      <a:r>
                        <a:t/>
                      </a:r>
                      <a:endParaRPr sz="1000">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sz="1000">
                          <a:solidFill>
                            <a:schemeClr val="dk1"/>
                          </a:solidFill>
                        </a:rPr>
                        <a:t>9th Apr - 15th Apr</a:t>
                      </a:r>
                      <a:endParaRPr sz="1000">
                        <a:solidFill>
                          <a:schemeClr val="dk1"/>
                        </a:solidFill>
                      </a:endParaRPr>
                    </a:p>
                  </a:txBody>
                  <a:tcPr marT="91425" marB="91425" marR="91425" marL="91425" anchor="ctr">
                    <a:lnR cap="flat" cmpd="sng" w="19050">
                      <a:solidFill>
                        <a:srgbClr val="9E9E9E"/>
                      </a:solidFill>
                      <a:prstDash val="solid"/>
                      <a:round/>
                      <a:headEnd len="sm" w="sm" type="none"/>
                      <a:tailEnd len="sm" w="sm" type="none"/>
                    </a:lnR>
                    <a:solidFill>
                      <a:srgbClr val="FFFF00"/>
                    </a:solidFill>
                  </a:tcPr>
                </a:tc>
              </a:tr>
            </a:tbl>
          </a:graphicData>
        </a:graphic>
      </p:graphicFrame>
      <p:sp>
        <p:nvSpPr>
          <p:cNvPr id="189" name="Google Shape;189;p3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rgbClr val="1B57B5"/>
              </a:buClr>
              <a:buSzPct val="96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195" name="Google Shape;195;p34"/>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775"/>
                <a:gridCol w="2404775"/>
                <a:gridCol w="3536575"/>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0525">
                <a:tc>
                  <a:txBody>
                    <a:bodyPr/>
                    <a:lstStyle/>
                    <a:p>
                      <a:pPr indent="0" lvl="0" marL="0" rtl="0" algn="l">
                        <a:spcBef>
                          <a:spcPts val="0"/>
                        </a:spcBef>
                        <a:spcAft>
                          <a:spcPts val="0"/>
                        </a:spcAft>
                        <a:buNone/>
                      </a:pPr>
                      <a:r>
                        <a:rPr b="1" lang="en" sz="1100">
                          <a:solidFill>
                            <a:srgbClr val="595959"/>
                          </a:solidFill>
                        </a:rPr>
                        <a:t>Blockchain based Secure Privacy Preserving Vehicle Accident and Insurance Registration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Proposes a blockchain based framework for reducing the time required by the vehicle's owner to report an accident and file an insurance claim. It is a blockchain based solution for a vehicle insurance network built on hyperledger fabric network.</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Hyperledger Fabric Platform</a:t>
                      </a:r>
                      <a:r>
                        <a:rPr lang="en" sz="1100">
                          <a:solidFill>
                            <a:srgbClr val="595959"/>
                          </a:solidFill>
                        </a:rPr>
                        <a:t> is used along with DLT (</a:t>
                      </a:r>
                      <a:r>
                        <a:rPr b="1" lang="en" sz="1100">
                          <a:solidFill>
                            <a:srgbClr val="595959"/>
                          </a:solidFill>
                        </a:rPr>
                        <a:t>Distributed Ledger Technology</a:t>
                      </a:r>
                      <a:r>
                        <a:rPr lang="en" sz="1100">
                          <a:solidFill>
                            <a:srgbClr val="595959"/>
                          </a:solidFill>
                        </a:rPr>
                        <a:t>) and PKI (</a:t>
                      </a:r>
                      <a:r>
                        <a:rPr b="1" lang="en" sz="1100">
                          <a:solidFill>
                            <a:srgbClr val="595959"/>
                          </a:solidFill>
                        </a:rPr>
                        <a:t>Public Key Infrastructure</a:t>
                      </a:r>
                      <a:r>
                        <a:rPr lang="en" sz="1100">
                          <a:solidFill>
                            <a:srgbClr val="595959"/>
                          </a:solidFill>
                        </a:rPr>
                        <a:t>)</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b="1" lang="en" sz="1100">
                          <a:solidFill>
                            <a:srgbClr val="595959"/>
                          </a:solidFill>
                        </a:rPr>
                        <a:t>Transactions</a:t>
                      </a:r>
                      <a:r>
                        <a:rPr lang="en" sz="1100">
                          <a:solidFill>
                            <a:srgbClr val="595959"/>
                          </a:solidFill>
                        </a:rPr>
                        <a:t> involved:</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Insurance transaction method</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Accident transaction  procedure</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Repair transaction procedure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Advantages of this system:</a:t>
                      </a:r>
                      <a:endParaRPr sz="1100">
                        <a:solidFill>
                          <a:srgbClr val="595959"/>
                        </a:solidFill>
                      </a:endParaRPr>
                    </a:p>
                    <a:p>
                      <a:pPr indent="0" lvl="0" marL="0" rtl="0" algn="l">
                        <a:spcBef>
                          <a:spcPts val="0"/>
                        </a:spcBef>
                        <a:spcAft>
                          <a:spcPts val="0"/>
                        </a:spcAft>
                        <a:buNone/>
                      </a:pPr>
                      <a:r>
                        <a:rPr lang="en" sz="1100">
                          <a:solidFill>
                            <a:srgbClr val="595959"/>
                          </a:solidFill>
                        </a:rPr>
                        <a:t>Reduced human errors, Increased public interest, Greater scalability, Improved reliability, increased resiliency, improved auditability, greater verifiability, information ownership, improved access to information, increased data quality, greater transparency, reduced operational costs, improved efficiency and speed</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Yadav AS, Charles V, Pandey DK, Kushwaha DS</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2023</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96" name="Google Shape;196;p34"/>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02" name="Google Shape;202;p35"/>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775"/>
                <a:gridCol w="2393600"/>
                <a:gridCol w="354775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6350">
                <a:tc>
                  <a:txBody>
                    <a:bodyPr/>
                    <a:lstStyle/>
                    <a:p>
                      <a:pPr indent="0" lvl="0" marL="0" rtl="0" algn="l">
                        <a:spcBef>
                          <a:spcPts val="0"/>
                        </a:spcBef>
                        <a:spcAft>
                          <a:spcPts val="0"/>
                        </a:spcAft>
                        <a:buNone/>
                      </a:pPr>
                      <a:r>
                        <a:rPr b="1" lang="en" sz="1100">
                          <a:solidFill>
                            <a:srgbClr val="595959"/>
                          </a:solidFill>
                        </a:rPr>
                        <a:t>Blockchain Adoption in the Vehicle Leasing Business to Increase the Transparency of Transactions</a:t>
                      </a:r>
                      <a:endParaRPr b="1" sz="1100">
                        <a:solidFill>
                          <a:srgbClr val="595959"/>
                        </a:solidFill>
                      </a:endParaRPr>
                    </a:p>
                    <a:p>
                      <a:pPr indent="0" lvl="0" marL="0" rtl="0" algn="l">
                        <a:spcBef>
                          <a:spcPts val="0"/>
                        </a:spcBef>
                        <a:spcAft>
                          <a:spcPts val="0"/>
                        </a:spcAft>
                        <a:buNone/>
                      </a:pPr>
                      <a:r>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To build a blockchain architectural model (DSS - Design Support System)  to increase transaction transparency in the car rental business. Here </a:t>
                      </a:r>
                      <a:r>
                        <a:rPr b="1" lang="en" sz="1100">
                          <a:solidFill>
                            <a:srgbClr val="595959"/>
                          </a:solidFill>
                        </a:rPr>
                        <a:t>smart contracts</a:t>
                      </a:r>
                      <a:r>
                        <a:rPr lang="en" sz="1100">
                          <a:solidFill>
                            <a:srgbClr val="595959"/>
                          </a:solidFill>
                        </a:rPr>
                        <a:t> are used by renters and automobile owners to conduct transactions with mutually agreed terms. Various </a:t>
                      </a:r>
                      <a:r>
                        <a:rPr b="1" lang="en" sz="1100">
                          <a:solidFill>
                            <a:srgbClr val="595959"/>
                          </a:solidFill>
                        </a:rPr>
                        <a:t>subscription services</a:t>
                      </a:r>
                      <a:r>
                        <a:rPr lang="en" sz="1100">
                          <a:solidFill>
                            <a:srgbClr val="595959"/>
                          </a:solidFill>
                        </a:rPr>
                        <a:t> are involved such as automobile insurance, parking rental, toll road payments, vehicle inspection can be automated with smart contracts, payments can be done with cryptocurrency, saving time and money.</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ADVANTAGES: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third party is required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central authority</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Accessible to anyone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transaction cost</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No infrastructure fees</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Djajasinga ND, Mutaufiq A, Hasan MR.</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2022</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03" name="Google Shape;203;p35"/>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09" name="Google Shape;209;p36"/>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775"/>
                <a:gridCol w="1956525"/>
                <a:gridCol w="3984850"/>
                <a:gridCol w="1026450"/>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b="1" lang="en" sz="1100">
                          <a:solidFill>
                            <a:srgbClr val="595959"/>
                          </a:solidFill>
                        </a:rPr>
                        <a:t>A study for efficiency improvement of used car trading based on a public blockchain</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Used car transaction management system used to solve the problem of asymmetry of information between the seller and the buyer and provides a reliable transaction environment through smart contracts based on the public blockchain Ethereum.</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The system uses</a:t>
                      </a:r>
                      <a:r>
                        <a:rPr b="1" lang="en" sz="1100">
                          <a:solidFill>
                            <a:srgbClr val="595959"/>
                          </a:solidFill>
                        </a:rPr>
                        <a:t> IPFS</a:t>
                      </a:r>
                      <a:r>
                        <a:rPr lang="en" sz="1100">
                          <a:solidFill>
                            <a:srgbClr val="595959"/>
                          </a:solidFill>
                        </a:rPr>
                        <a:t> (</a:t>
                      </a:r>
                      <a:r>
                        <a:rPr lang="en" sz="1100">
                          <a:solidFill>
                            <a:srgbClr val="595959"/>
                          </a:solidFill>
                          <a:highlight>
                            <a:srgbClr val="FFFFFF"/>
                          </a:highlight>
                        </a:rPr>
                        <a:t>InterPlanetary File System</a:t>
                      </a:r>
                      <a:r>
                        <a:rPr lang="en" sz="1100">
                          <a:solidFill>
                            <a:srgbClr val="595959"/>
                          </a:solidFill>
                        </a:rPr>
                        <a:t>) to store data using the </a:t>
                      </a:r>
                      <a:r>
                        <a:rPr b="1" lang="en" sz="1100">
                          <a:solidFill>
                            <a:srgbClr val="595959"/>
                          </a:solidFill>
                        </a:rPr>
                        <a:t>Mongo</a:t>
                      </a:r>
                      <a:r>
                        <a:rPr lang="en" sz="1100">
                          <a:solidFill>
                            <a:srgbClr val="595959"/>
                          </a:solidFill>
                        </a:rPr>
                        <a:t> database based on the </a:t>
                      </a:r>
                      <a:r>
                        <a:rPr b="1" lang="en" sz="1100">
                          <a:solidFill>
                            <a:srgbClr val="595959"/>
                          </a:solidFill>
                        </a:rPr>
                        <a:t>Node.js</a:t>
                      </a:r>
                      <a:r>
                        <a:rPr lang="en" sz="1100">
                          <a:solidFill>
                            <a:srgbClr val="595959"/>
                          </a:solidFill>
                        </a:rPr>
                        <a:t> server and returns the hash function stored in the smart contract. The server uses Web3.JS to interact with the functions of the smart contract and Tx to invoke the smart contract. The blockchain transactions are then sent to the </a:t>
                      </a:r>
                      <a:r>
                        <a:rPr lang="en" sz="1100">
                          <a:solidFill>
                            <a:srgbClr val="595959"/>
                          </a:solidFill>
                        </a:rPr>
                        <a:t>Ethereum</a:t>
                      </a:r>
                      <a:r>
                        <a:rPr lang="en" sz="1100">
                          <a:solidFill>
                            <a:srgbClr val="595959"/>
                          </a:solidFill>
                        </a:rPr>
                        <a:t> blockchain via Geth.</a:t>
                      </a:r>
                      <a:endParaRPr sz="1100">
                        <a:solidFill>
                          <a:srgbClr val="595959"/>
                        </a:solidFill>
                      </a:endParaRPr>
                    </a:p>
                    <a:p>
                      <a:pPr indent="0" lvl="0" marL="0" rtl="0" algn="l">
                        <a:spcBef>
                          <a:spcPts val="1200"/>
                        </a:spcBef>
                        <a:spcAft>
                          <a:spcPts val="0"/>
                        </a:spcAft>
                        <a:buNone/>
                      </a:pPr>
                      <a:r>
                        <a:rPr lang="en" sz="1100">
                          <a:solidFill>
                            <a:srgbClr val="595959"/>
                          </a:solidFill>
                        </a:rPr>
                        <a:t>User and commands:</a:t>
                      </a:r>
                      <a:endParaRPr sz="1100">
                        <a:solidFill>
                          <a:srgbClr val="595959"/>
                        </a:solidFill>
                      </a:endParaRPr>
                    </a:p>
                    <a:p>
                      <a:pPr indent="-298450" lvl="0" marL="457200" rtl="0" algn="l">
                        <a:spcBef>
                          <a:spcPts val="1200"/>
                        </a:spcBef>
                        <a:spcAft>
                          <a:spcPts val="0"/>
                        </a:spcAft>
                        <a:buClr>
                          <a:srgbClr val="595959"/>
                        </a:buClr>
                        <a:buSzPts val="1100"/>
                        <a:buAutoNum type="arabicPeriod"/>
                      </a:pPr>
                      <a:r>
                        <a:rPr b="1" lang="en" sz="1100">
                          <a:solidFill>
                            <a:srgbClr val="595959"/>
                          </a:solidFill>
                        </a:rPr>
                        <a:t>Personal user</a:t>
                      </a:r>
                      <a:r>
                        <a:rPr lang="en" sz="1100">
                          <a:solidFill>
                            <a:srgbClr val="595959"/>
                          </a:solidFill>
                        </a:rPr>
                        <a:t> - User used car listing, Vehicle information inquiry, Used car list inquiry, Contract writing, Contract lookup, Messenger</a:t>
                      </a:r>
                      <a:endParaRPr sz="1100">
                        <a:solidFill>
                          <a:srgbClr val="595959"/>
                        </a:solidFill>
                      </a:endParaRPr>
                    </a:p>
                    <a:p>
                      <a:pPr indent="-298450" lvl="0" marL="457200" rtl="0" algn="l">
                        <a:spcBef>
                          <a:spcPts val="0"/>
                        </a:spcBef>
                        <a:spcAft>
                          <a:spcPts val="0"/>
                        </a:spcAft>
                        <a:buClr>
                          <a:srgbClr val="595959"/>
                        </a:buClr>
                        <a:buSzPts val="1100"/>
                        <a:buAutoNum type="arabicPeriod"/>
                      </a:pPr>
                      <a:r>
                        <a:rPr b="1" lang="en" sz="1100">
                          <a:solidFill>
                            <a:srgbClr val="595959"/>
                          </a:solidFill>
                        </a:rPr>
                        <a:t>Manufacturer, Insurance Company &amp; Auto Body Shop </a:t>
                      </a:r>
                      <a:r>
                        <a:rPr lang="en" sz="1100">
                          <a:solidFill>
                            <a:srgbClr val="595959"/>
                          </a:solidFill>
                        </a:rPr>
                        <a:t>- My vehicle status, Vehicle status update, Vehicle information inquiry</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Seung Gyun Yoo, Byeongtae Ahn</a:t>
                      </a:r>
                      <a:endParaRPr sz="1100">
                        <a:solidFill>
                          <a:srgbClr val="595959"/>
                        </a:solidFill>
                      </a:endParaRPr>
                    </a:p>
                    <a:p>
                      <a:pPr indent="0" lvl="0" marL="0" rtl="0" algn="l">
                        <a:spcBef>
                          <a:spcPts val="1200"/>
                        </a:spcBef>
                        <a:spcAft>
                          <a:spcPts val="0"/>
                        </a:spcAft>
                        <a:buNone/>
                      </a:pPr>
                      <a:r>
                        <a:rPr lang="en" sz="1100">
                          <a:solidFill>
                            <a:srgbClr val="595959"/>
                          </a:solidFill>
                        </a:rPr>
                        <a:t>2021</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10" name="Google Shape;210;p36"/>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16" name="Google Shape;216;p37"/>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775"/>
                <a:gridCol w="1945350"/>
                <a:gridCol w="3996025"/>
                <a:gridCol w="1026450"/>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100">
                          <a:solidFill>
                            <a:srgbClr val="595959"/>
                          </a:solidFill>
                        </a:rPr>
                        <a:t>Blockchain-based vehicle condition Recording System for Second-Hand Vehicle Market</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Proposes a use of blockchain architecture provided by Ethereum to record the information of vehicle condition.Here smart contracts are used to create decentralized applications which will be used to construct the vehicle condition recording system.</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Smart contracts</a:t>
                      </a:r>
                      <a:r>
                        <a:rPr lang="en" sz="1100">
                          <a:solidFill>
                            <a:srgbClr val="595959"/>
                          </a:solidFill>
                        </a:rPr>
                        <a:t> in Ethereum are written using </a:t>
                      </a:r>
                      <a:r>
                        <a:rPr b="1" lang="en" sz="1100">
                          <a:solidFill>
                            <a:srgbClr val="595959"/>
                          </a:solidFill>
                        </a:rPr>
                        <a:t>solidity</a:t>
                      </a:r>
                      <a:r>
                        <a:rPr lang="en" sz="1100">
                          <a:solidFill>
                            <a:srgbClr val="595959"/>
                          </a:solidFill>
                        </a:rPr>
                        <a:t>  which is then compiled to Ethereum bytecode and run the code in EVM (Ethereum Virtual Machine).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The system is built on Go Ethereum (private network),  uses Clique PoA consensus algorithm and smart contracts are used for access control.</a:t>
                      </a:r>
                      <a:endParaRPr sz="1100">
                        <a:solidFill>
                          <a:srgbClr val="595959"/>
                        </a:solidFill>
                      </a:endParaRPr>
                    </a:p>
                    <a:p>
                      <a:pPr indent="0" lvl="0" marL="0" rtl="0" algn="l">
                        <a:lnSpc>
                          <a:spcPct val="115000"/>
                        </a:lnSpc>
                        <a:spcBef>
                          <a:spcPts val="0"/>
                        </a:spcBef>
                        <a:spcAft>
                          <a:spcPts val="0"/>
                        </a:spcAft>
                        <a:buNone/>
                      </a:pPr>
                      <a:r>
                        <a:t/>
                      </a:r>
                      <a:endParaRPr sz="1100">
                        <a:solidFill>
                          <a:srgbClr val="595959"/>
                        </a:solidFill>
                      </a:endParaRPr>
                    </a:p>
                    <a:p>
                      <a:pPr indent="0" lvl="0" marL="0" rtl="0" algn="l">
                        <a:lnSpc>
                          <a:spcPct val="115000"/>
                        </a:lnSpc>
                        <a:spcBef>
                          <a:spcPts val="0"/>
                        </a:spcBef>
                        <a:spcAft>
                          <a:spcPts val="0"/>
                        </a:spcAft>
                        <a:buNone/>
                      </a:pPr>
                      <a:r>
                        <a:rPr lang="en" sz="1100">
                          <a:solidFill>
                            <a:srgbClr val="595959"/>
                          </a:solidFill>
                        </a:rPr>
                        <a:t>Limitations of the system:</a:t>
                      </a:r>
                      <a:endParaRPr sz="1100">
                        <a:solidFill>
                          <a:srgbClr val="595959"/>
                        </a:solidFill>
                      </a:endParaRPr>
                    </a:p>
                    <a:p>
                      <a:pPr indent="-298450" lvl="0" marL="457200" rtl="0" algn="l">
                        <a:lnSpc>
                          <a:spcPct val="115000"/>
                        </a:lnSpc>
                        <a:spcBef>
                          <a:spcPts val="0"/>
                        </a:spcBef>
                        <a:spcAft>
                          <a:spcPts val="0"/>
                        </a:spcAft>
                        <a:buClr>
                          <a:srgbClr val="595959"/>
                        </a:buClr>
                        <a:buSzPts val="1100"/>
                        <a:buChar char="●"/>
                      </a:pPr>
                      <a:r>
                        <a:rPr lang="en" sz="1100">
                          <a:solidFill>
                            <a:srgbClr val="595959"/>
                          </a:solidFill>
                        </a:rPr>
                        <a:t>Relies on an existing system and hence the overall performance is finally determined by it.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highlight>
                            <a:srgbClr val="FFFFFF"/>
                          </a:highlight>
                        </a:rPr>
                        <a:t>Jiang YT, Sun HM. A </a:t>
                      </a:r>
                      <a:endParaRPr sz="1100">
                        <a:solidFill>
                          <a:srgbClr val="595959"/>
                        </a:solidFill>
                        <a:highlight>
                          <a:srgbClr val="FFFFFF"/>
                        </a:highlight>
                      </a:endParaRPr>
                    </a:p>
                    <a:p>
                      <a:pPr indent="0" lvl="0" marL="0" rtl="0" algn="l">
                        <a:spcBef>
                          <a:spcPts val="0"/>
                        </a:spcBef>
                        <a:spcAft>
                          <a:spcPts val="0"/>
                        </a:spcAft>
                        <a:buNone/>
                      </a:pPr>
                      <a:r>
                        <a:t/>
                      </a:r>
                      <a:endParaRPr sz="1100">
                        <a:solidFill>
                          <a:srgbClr val="595959"/>
                        </a:solidFill>
                        <a:highlight>
                          <a:srgbClr val="FFFFFF"/>
                        </a:highlight>
                      </a:endParaRPr>
                    </a:p>
                    <a:p>
                      <a:pPr indent="0" lvl="0" marL="0" rtl="0" algn="l">
                        <a:spcBef>
                          <a:spcPts val="0"/>
                        </a:spcBef>
                        <a:spcAft>
                          <a:spcPts val="0"/>
                        </a:spcAft>
                        <a:buNone/>
                      </a:pPr>
                      <a:r>
                        <a:rPr lang="en" sz="1100">
                          <a:solidFill>
                            <a:srgbClr val="595959"/>
                          </a:solidFill>
                          <a:highlight>
                            <a:srgbClr val="FFFFFF"/>
                          </a:highlight>
                        </a:rPr>
                        <a:t>2021</a:t>
                      </a:r>
                      <a:endParaRPr sz="1100">
                        <a:solidFill>
                          <a:srgbClr val="595959"/>
                        </a:solidFill>
                        <a:highlight>
                          <a:srgbClr val="FFFFFF"/>
                        </a:highlight>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17" name="Google Shape;217;p37"/>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23" name="Google Shape;223;p38"/>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800"/>
                <a:gridCol w="1474725"/>
                <a:gridCol w="446660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100">
                          <a:solidFill>
                            <a:srgbClr val="595959"/>
                          </a:solidFill>
                        </a:rPr>
                        <a:t>Second-Hand car Trading Framework based on Blockchain in Cloud Service Environment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To use blockchain technology as an auxiliary means to solve the long-standing problems in the used car market. The blockchain based transaction framework is built in the cloud service environment.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Second hand car trade </a:t>
                      </a:r>
                      <a:r>
                        <a:rPr b="1" lang="en" sz="1100">
                          <a:solidFill>
                            <a:srgbClr val="595959"/>
                          </a:solidFill>
                        </a:rPr>
                        <a:t>problems</a:t>
                      </a:r>
                      <a:r>
                        <a:rPr lang="en" sz="1100">
                          <a:solidFill>
                            <a:srgbClr val="595959"/>
                          </a:solidFill>
                        </a:rPr>
                        <a:t>:</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Selling cars as new ones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Mileage fraud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Tampering with VIN - Vehicle Identification Number</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Concealing accident vehicle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Testing standards are not unified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Appraisal standard nit unified</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Hard to fulfill service promise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Consumers lack of professional identification ability</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Opaque circulation information</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Limitations: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If a car manufacturer did not obey the law and forged documents in the very beginning in order to make profits.</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It cannot reach 100% accuracy for the mileage usage.</a:t>
                      </a:r>
                      <a:endParaRPr sz="1100">
                        <a:solidFill>
                          <a:srgbClr val="595959"/>
                        </a:solidFill>
                      </a:endParaRPr>
                    </a:p>
                    <a:p>
                      <a:pPr indent="-298450" lvl="0" marL="457200" rtl="0" algn="l">
                        <a:spcBef>
                          <a:spcPts val="0"/>
                        </a:spcBef>
                        <a:spcAft>
                          <a:spcPts val="0"/>
                        </a:spcAft>
                        <a:buClr>
                          <a:srgbClr val="595959"/>
                        </a:buClr>
                        <a:buSzPts val="1100"/>
                        <a:buChar char="●"/>
                      </a:pPr>
                      <a:r>
                        <a:rPr lang="en" sz="1100">
                          <a:solidFill>
                            <a:srgbClr val="595959"/>
                          </a:solidFill>
                        </a:rPr>
                        <a:t>Must improve the work efficiency between nodes and make sure the normal operation of the framework.</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Yu Y, Yao C, Zhang Y, Jiang R.</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2021</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24" name="Google Shape;224;p38"/>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30" name="Google Shape;230;p39"/>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800"/>
                <a:gridCol w="1956525"/>
                <a:gridCol w="3984800"/>
                <a:gridCol w="1026475"/>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b="1" lang="en" sz="1100">
                          <a:solidFill>
                            <a:srgbClr val="595959"/>
                          </a:solidFill>
                        </a:rPr>
                        <a:t>A Blockchain-Based System for Recording Vehicle Conditions for the Used Car Market</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595959"/>
                          </a:solidFill>
                        </a:rPr>
                        <a:t>Proposes a blockchain-based system for recording the condition of second-hand vehicles in order to create a more transparent and trustworthy market for used vehicles, by providing an immutable record of the vehicle's condition that cannot be altered or deleted.</a:t>
                      </a:r>
                      <a:endParaRPr sz="1100">
                        <a:solidFill>
                          <a:srgbClr val="595959"/>
                        </a:solidFill>
                      </a:endParaRPr>
                    </a:p>
                    <a:p>
                      <a:pPr indent="0" lvl="0" marL="0" rtl="0" algn="l">
                        <a:lnSpc>
                          <a:spcPct val="115000"/>
                        </a:lnSpc>
                        <a:spcBef>
                          <a:spcPts val="0"/>
                        </a:spcBef>
                        <a:spcAft>
                          <a:spcPts val="0"/>
                        </a:spcAft>
                        <a:buNone/>
                      </a:pPr>
                      <a:r>
                        <a:t/>
                      </a:r>
                      <a:endParaRPr sz="1100">
                        <a:solidFill>
                          <a:srgbClr val="595959"/>
                        </a:solidFill>
                      </a:endParaRPr>
                    </a:p>
                    <a:p>
                      <a:pPr indent="0" lvl="0" marL="0" rtl="0" algn="l">
                        <a:spcBef>
                          <a:spcPts val="0"/>
                        </a:spcBef>
                        <a:spcAft>
                          <a:spcPts val="0"/>
                        </a:spcAft>
                        <a:buNone/>
                      </a:pPr>
                      <a:r>
                        <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System users</a:t>
                      </a:r>
                      <a:r>
                        <a:rPr lang="en" sz="1100">
                          <a:solidFill>
                            <a:srgbClr val="595959"/>
                          </a:solidFill>
                        </a:rPr>
                        <a:t>: Vehicle manufacturer, Maintenance plant, Government branch, Customer, Second-hand vehicle dealer, Authority node.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b="1" lang="en" sz="1100">
                          <a:solidFill>
                            <a:srgbClr val="595959"/>
                          </a:solidFill>
                        </a:rPr>
                        <a:t>System operations:</a:t>
                      </a:r>
                      <a:endParaRPr b="1" sz="1100">
                        <a:solidFill>
                          <a:srgbClr val="595959"/>
                        </a:solidFill>
                      </a:endParaRPr>
                    </a:p>
                    <a:p>
                      <a:pPr indent="-298450" lvl="0" marL="457200" rtl="0" algn="l">
                        <a:spcBef>
                          <a:spcPts val="1200"/>
                        </a:spcBef>
                        <a:spcAft>
                          <a:spcPts val="0"/>
                        </a:spcAft>
                        <a:buClr>
                          <a:srgbClr val="595959"/>
                        </a:buClr>
                        <a:buSzPts val="1100"/>
                        <a:buAutoNum type="arabicPeriod"/>
                      </a:pPr>
                      <a:r>
                        <a:rPr lang="en" sz="1100">
                          <a:solidFill>
                            <a:srgbClr val="595959"/>
                          </a:solidFill>
                        </a:rPr>
                        <a:t>Log-in process</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customer: authenticate to query vehicle information</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vehicle manufacturer: input the initial information of the vehicle and deploy the contract</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maintenance plant: record maintenance history and mileage of vehicles</a:t>
                      </a:r>
                      <a:endParaRPr sz="1100">
                        <a:solidFill>
                          <a:srgbClr val="595959"/>
                        </a:solidFill>
                      </a:endParaRPr>
                    </a:p>
                    <a:p>
                      <a:pPr indent="-298450" lvl="0" marL="457200" rtl="0" algn="l">
                        <a:spcBef>
                          <a:spcPts val="0"/>
                        </a:spcBef>
                        <a:spcAft>
                          <a:spcPts val="0"/>
                        </a:spcAft>
                        <a:buClr>
                          <a:srgbClr val="595959"/>
                        </a:buClr>
                        <a:buSzPts val="1100"/>
                        <a:buAutoNum type="arabicPeriod"/>
                      </a:pPr>
                      <a:r>
                        <a:rPr lang="en" sz="1100">
                          <a:solidFill>
                            <a:srgbClr val="595959"/>
                          </a:solidFill>
                        </a:rPr>
                        <a:t>Operation of government branch: maintain ownership history</a:t>
                      </a:r>
                      <a:endParaRPr sz="1100">
                        <a:solidFill>
                          <a:srgbClr val="595959"/>
                        </a:solidFill>
                      </a:endParaRPr>
                    </a:p>
                    <a:p>
                      <a:pPr indent="0" lvl="0" marL="0" rtl="0" algn="l">
                        <a:spcBef>
                          <a:spcPts val="1200"/>
                        </a:spcBef>
                        <a:spcAft>
                          <a:spcPts val="0"/>
                        </a:spcAft>
                        <a:buNone/>
                      </a:pPr>
                      <a:r>
                        <a:rPr lang="en" sz="1100">
                          <a:solidFill>
                            <a:srgbClr val="595959"/>
                          </a:solidFill>
                        </a:rPr>
                        <a:t>System evaluation: Gas Limit and Transaction Throughput</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You-Ting Jiang, Hung-Min Sun</a:t>
                      </a:r>
                      <a:endParaRPr sz="1100">
                        <a:solidFill>
                          <a:srgbClr val="595959"/>
                        </a:solidFill>
                      </a:endParaRPr>
                    </a:p>
                    <a:p>
                      <a:pPr indent="0" lvl="0" marL="0" rtl="0" algn="l">
                        <a:spcBef>
                          <a:spcPts val="1200"/>
                        </a:spcBef>
                        <a:spcAft>
                          <a:spcPts val="0"/>
                        </a:spcAft>
                        <a:buNone/>
                      </a:pPr>
                      <a:r>
                        <a:rPr lang="en" sz="1100">
                          <a:solidFill>
                            <a:srgbClr val="595959"/>
                          </a:solidFill>
                        </a:rPr>
                        <a:t>2020</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31" name="Google Shape;231;p39"/>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457200" y="205978"/>
            <a:ext cx="8229600" cy="594000"/>
          </a:xfrm>
          <a:prstGeom prst="rect">
            <a:avLst/>
          </a:prstGeom>
        </p:spPr>
        <p:txBody>
          <a:bodyPr anchorCtr="0" anchor="ctr" bIns="34275" lIns="34275" spcFirstLastPara="1" rIns="34275" wrap="square" tIns="34275">
            <a:normAutofit fontScale="90000"/>
          </a:bodyPr>
          <a:lstStyle/>
          <a:p>
            <a:pPr indent="0" lvl="0" marL="0" rtl="0" algn="ctr">
              <a:spcBef>
                <a:spcPts val="0"/>
              </a:spcBef>
              <a:spcAft>
                <a:spcPts val="0"/>
              </a:spcAft>
              <a:buClr>
                <a:schemeClr val="dk1"/>
              </a:buClr>
              <a:buSzPct val="44000"/>
              <a:buFont typeface="Arial"/>
              <a:buNone/>
            </a:pPr>
            <a:r>
              <a:rPr lang="en" sz="2500"/>
              <a:t>LITERATURE SURVEY</a:t>
            </a:r>
            <a:endParaRPr sz="2500"/>
          </a:p>
          <a:p>
            <a:pPr indent="0" lvl="0" marL="0" rtl="0" algn="ctr">
              <a:spcBef>
                <a:spcPts val="0"/>
              </a:spcBef>
              <a:spcAft>
                <a:spcPts val="0"/>
              </a:spcAft>
              <a:buNone/>
            </a:pPr>
            <a:r>
              <a:t/>
            </a:r>
            <a:endParaRPr/>
          </a:p>
        </p:txBody>
      </p:sp>
      <p:graphicFrame>
        <p:nvGraphicFramePr>
          <p:cNvPr id="237" name="Google Shape;237;p40"/>
          <p:cNvGraphicFramePr/>
          <p:nvPr/>
        </p:nvGraphicFramePr>
        <p:xfrm>
          <a:off x="457200" y="799975"/>
          <a:ext cx="3000000" cy="3000000"/>
        </p:xfrm>
        <a:graphic>
          <a:graphicData uri="http://schemas.openxmlformats.org/drawingml/2006/table">
            <a:tbl>
              <a:tblPr>
                <a:noFill/>
                <a:tableStyleId>{BFC8C471-2192-4D45-A437-DB3116A11D2A}</a:tableStyleId>
              </a:tblPr>
              <a:tblGrid>
                <a:gridCol w="1261775"/>
                <a:gridCol w="1956550"/>
                <a:gridCol w="3984825"/>
                <a:gridCol w="1026450"/>
              </a:tblGrid>
              <a:tr h="381000">
                <a:tc>
                  <a:txBody>
                    <a:bodyPr/>
                    <a:lstStyle/>
                    <a:p>
                      <a:pPr indent="0" lvl="0" marL="0" rtl="0" algn="l">
                        <a:spcBef>
                          <a:spcPts val="0"/>
                        </a:spcBef>
                        <a:spcAft>
                          <a:spcPts val="0"/>
                        </a:spcAft>
                        <a:buNone/>
                      </a:pPr>
                      <a:r>
                        <a:rPr b="1" lang="en" sz="1100">
                          <a:solidFill>
                            <a:srgbClr val="595959"/>
                          </a:solidFill>
                        </a:rPr>
                        <a:t>TITLE </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SUMMARY</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INFERENCES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solidFill>
                            <a:srgbClr val="595959"/>
                          </a:solidFill>
                        </a:rPr>
                        <a:t>AUTHORS</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b="1" lang="en" sz="1100">
                          <a:solidFill>
                            <a:srgbClr val="595959"/>
                          </a:solidFill>
                        </a:rPr>
                        <a:t>Towards Transparency and Trustworthy: a Used-Car Deposit Platform Based on Blockchain</a:t>
                      </a:r>
                      <a:endParaRPr b="1"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sz="1100">
                          <a:solidFill>
                            <a:srgbClr val="595959"/>
                          </a:solidFill>
                        </a:rPr>
                        <a:t>A used car trading system based on Blockchain technology to provide a transparent and trustworthy trading channel for used car buyers and sellers, including used car platforms, banks, insurance companies and corresponding used car dealers.</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595959"/>
                          </a:solidFill>
                        </a:rPr>
                        <a:t>System model is divided into </a:t>
                      </a:r>
                      <a:r>
                        <a:rPr b="1" lang="en" sz="1100">
                          <a:solidFill>
                            <a:srgbClr val="595959"/>
                          </a:solidFill>
                        </a:rPr>
                        <a:t>six modules</a:t>
                      </a:r>
                      <a:r>
                        <a:rPr lang="en" sz="1100">
                          <a:solidFill>
                            <a:srgbClr val="595959"/>
                          </a:solidFill>
                        </a:rPr>
                        <a:t>: the underlying service module, a consensus module, a data integration module, the token module, an estimation module, and a transaction module.</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b="1" lang="en" sz="1100">
                          <a:solidFill>
                            <a:srgbClr val="595959"/>
                          </a:solidFill>
                        </a:rPr>
                        <a:t>System architecture</a:t>
                      </a:r>
                      <a:r>
                        <a:rPr lang="en" sz="1100">
                          <a:solidFill>
                            <a:srgbClr val="595959"/>
                          </a:solidFill>
                        </a:rPr>
                        <a:t> is divided into three levels: Blockchain system, automatic valuation component, and the client.</a:t>
                      </a:r>
                      <a:endParaRPr sz="1100">
                        <a:solidFill>
                          <a:srgbClr val="595959"/>
                        </a:solidFill>
                      </a:endParaRPr>
                    </a:p>
                    <a:p>
                      <a:pPr indent="0" lvl="0" marL="0" rtl="0" algn="l">
                        <a:spcBef>
                          <a:spcPts val="0"/>
                        </a:spcBef>
                        <a:spcAft>
                          <a:spcPts val="0"/>
                        </a:spcAft>
                        <a:buNone/>
                      </a:pPr>
                      <a:r>
                        <a:t/>
                      </a:r>
                      <a:endParaRPr sz="1100">
                        <a:solidFill>
                          <a:srgbClr val="595959"/>
                        </a:solidFill>
                      </a:endParaRPr>
                    </a:p>
                    <a:p>
                      <a:pPr indent="0" lvl="0" marL="0" rtl="0" algn="l">
                        <a:spcBef>
                          <a:spcPts val="0"/>
                        </a:spcBef>
                        <a:spcAft>
                          <a:spcPts val="0"/>
                        </a:spcAft>
                        <a:buNone/>
                      </a:pPr>
                      <a:r>
                        <a:rPr lang="en" sz="1100">
                          <a:solidFill>
                            <a:srgbClr val="595959"/>
                          </a:solidFill>
                        </a:rPr>
                        <a:t>Technical route: </a:t>
                      </a:r>
                      <a:r>
                        <a:rPr b="1" lang="en" sz="1100">
                          <a:solidFill>
                            <a:srgbClr val="595959"/>
                          </a:solidFill>
                        </a:rPr>
                        <a:t>Chaincode to operate ledger</a:t>
                      </a:r>
                      <a:r>
                        <a:rPr lang="en" sz="1100">
                          <a:solidFill>
                            <a:srgbClr val="595959"/>
                          </a:solidFill>
                        </a:rPr>
                        <a:t>, Hyperledger fabric (consortium blockchain), optimized BFT consensus protocol and P2P communication protocol (consensus algorithm).</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0"/>
                        </a:spcAft>
                        <a:buNone/>
                      </a:pPr>
                      <a:r>
                        <a:rPr lang="en" sz="1100">
                          <a:solidFill>
                            <a:srgbClr val="595959"/>
                          </a:solidFill>
                        </a:rPr>
                        <a:t>Jinyu Zhang, Honghui Zhao, Yumeng Yang, Jiaqi Yan</a:t>
                      </a:r>
                      <a:endParaRPr sz="1100">
                        <a:solidFill>
                          <a:srgbClr val="595959"/>
                        </a:solidFill>
                      </a:endParaRPr>
                    </a:p>
                    <a:p>
                      <a:pPr indent="0" lvl="0" marL="0" rtl="0" algn="l">
                        <a:spcBef>
                          <a:spcPts val="1200"/>
                        </a:spcBef>
                        <a:spcAft>
                          <a:spcPts val="1200"/>
                        </a:spcAft>
                        <a:buNone/>
                      </a:pPr>
                      <a:r>
                        <a:rPr lang="en" sz="1100">
                          <a:solidFill>
                            <a:srgbClr val="595959"/>
                          </a:solidFill>
                        </a:rPr>
                        <a:t>2019</a:t>
                      </a:r>
                      <a:endParaRPr sz="1100">
                        <a:solidFill>
                          <a:srgbClr val="595959"/>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38" name="Google Shape;238;p40"/>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1"/>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CHALLENGES FACED</a:t>
            </a:r>
            <a:endParaRPr sz="2500"/>
          </a:p>
        </p:txBody>
      </p:sp>
      <p:sp>
        <p:nvSpPr>
          <p:cNvPr id="244" name="Google Shape;244;p41"/>
          <p:cNvSpPr txBox="1"/>
          <p:nvPr>
            <p:ph idx="1" type="body"/>
          </p:nvPr>
        </p:nvSpPr>
        <p:spPr>
          <a:xfrm>
            <a:off x="457200" y="914399"/>
            <a:ext cx="8229600" cy="3141600"/>
          </a:xfrm>
          <a:prstGeom prst="rect">
            <a:avLst/>
          </a:prstGeom>
          <a:noFill/>
          <a:ln>
            <a:noFill/>
          </a:ln>
        </p:spPr>
        <p:txBody>
          <a:bodyPr anchorCtr="0" anchor="t" bIns="34275" lIns="34275" spcFirstLastPara="1" rIns="34275" wrap="square" tIns="34275">
            <a:noAutofit/>
          </a:bodyPr>
          <a:lstStyle/>
          <a:p>
            <a:pPr indent="0" lvl="0" marL="914400" rtl="0" algn="l">
              <a:lnSpc>
                <a:spcPct val="150000"/>
              </a:lnSpc>
              <a:spcBef>
                <a:spcPts val="0"/>
              </a:spcBef>
              <a:spcAft>
                <a:spcPts val="0"/>
              </a:spcAft>
              <a:buNone/>
            </a:pPr>
            <a:r>
              <a:t/>
            </a:r>
            <a:endParaRPr sz="1410">
              <a:solidFill>
                <a:srgbClr val="595959"/>
              </a:solidFill>
              <a:highlight>
                <a:schemeClr val="lt1"/>
              </a:highlight>
            </a:endParaRPr>
          </a:p>
          <a:p>
            <a:pPr indent="-318135" lvl="0" marL="457200" rtl="0" algn="l">
              <a:lnSpc>
                <a:spcPct val="150000"/>
              </a:lnSpc>
              <a:spcBef>
                <a:spcPts val="0"/>
              </a:spcBef>
              <a:spcAft>
                <a:spcPts val="0"/>
              </a:spcAft>
              <a:buClr>
                <a:srgbClr val="595959"/>
              </a:buClr>
              <a:buSzPts val="1410"/>
              <a:buAutoNum type="arabicPeriod"/>
            </a:pPr>
            <a:r>
              <a:rPr lang="en" sz="1410">
                <a:solidFill>
                  <a:srgbClr val="595959"/>
                </a:solidFill>
                <a:highlight>
                  <a:schemeClr val="lt1"/>
                </a:highlight>
              </a:rPr>
              <a:t>Small workshops which doesn’t have access to technology cannot update changes to the blockchain.</a:t>
            </a:r>
            <a:endParaRPr sz="1410">
              <a:solidFill>
                <a:srgbClr val="595959"/>
              </a:solidFill>
              <a:highlight>
                <a:schemeClr val="lt1"/>
              </a:highlight>
            </a:endParaRPr>
          </a:p>
          <a:p>
            <a:pPr indent="-318135" lvl="0" marL="457200" rtl="0" algn="l">
              <a:lnSpc>
                <a:spcPct val="150000"/>
              </a:lnSpc>
              <a:spcBef>
                <a:spcPts val="0"/>
              </a:spcBef>
              <a:spcAft>
                <a:spcPts val="0"/>
              </a:spcAft>
              <a:buClr>
                <a:srgbClr val="595959"/>
              </a:buClr>
              <a:buSzPts val="1410"/>
              <a:buAutoNum type="arabicPeriod"/>
            </a:pPr>
            <a:r>
              <a:rPr lang="en" sz="1410">
                <a:solidFill>
                  <a:srgbClr val="595959"/>
                </a:solidFill>
                <a:highlight>
                  <a:schemeClr val="lt1"/>
                </a:highlight>
              </a:rPr>
              <a:t>Data can be potentially manipulated in the manufacturing phase.</a:t>
            </a:r>
            <a:endParaRPr sz="1410">
              <a:solidFill>
                <a:srgbClr val="595959"/>
              </a:solidFill>
              <a:highlight>
                <a:schemeClr val="lt1"/>
              </a:highlight>
            </a:endParaRPr>
          </a:p>
          <a:p>
            <a:pPr indent="0" lvl="0" marL="0" rtl="0" algn="l">
              <a:lnSpc>
                <a:spcPct val="80000"/>
              </a:lnSpc>
              <a:spcBef>
                <a:spcPts val="0"/>
              </a:spcBef>
              <a:spcAft>
                <a:spcPts val="0"/>
              </a:spcAft>
              <a:buClr>
                <a:schemeClr val="dk1"/>
              </a:buClr>
              <a:buSzPts val="1100"/>
              <a:buFont typeface="Arial"/>
              <a:buNone/>
            </a:pPr>
            <a:r>
              <a:t/>
            </a:r>
            <a:endParaRPr sz="1210">
              <a:solidFill>
                <a:srgbClr val="595959"/>
              </a:solidFill>
              <a:highlight>
                <a:schemeClr val="lt1"/>
              </a:highlight>
            </a:endParaRPr>
          </a:p>
          <a:p>
            <a:pPr indent="0" lvl="0" marL="0" rtl="0" algn="l">
              <a:lnSpc>
                <a:spcPct val="80000"/>
              </a:lnSpc>
              <a:spcBef>
                <a:spcPts val="0"/>
              </a:spcBef>
              <a:spcAft>
                <a:spcPts val="0"/>
              </a:spcAft>
              <a:buNone/>
            </a:pPr>
            <a:r>
              <a:t/>
            </a:r>
            <a:endParaRPr sz="1210">
              <a:solidFill>
                <a:srgbClr val="595959"/>
              </a:solidFill>
              <a:highlight>
                <a:schemeClr val="lt1"/>
              </a:highlight>
            </a:endParaRPr>
          </a:p>
        </p:txBody>
      </p:sp>
      <p:sp>
        <p:nvSpPr>
          <p:cNvPr id="245" name="Google Shape;245;p41"/>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457200" y="2059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REFERENCE</a:t>
            </a:r>
            <a:endParaRPr sz="2500"/>
          </a:p>
        </p:txBody>
      </p:sp>
      <p:sp>
        <p:nvSpPr>
          <p:cNvPr id="251" name="Google Shape;251;p42"/>
          <p:cNvSpPr txBox="1"/>
          <p:nvPr>
            <p:ph idx="1" type="body"/>
          </p:nvPr>
        </p:nvSpPr>
        <p:spPr>
          <a:xfrm>
            <a:off x="457200" y="999450"/>
            <a:ext cx="8229600" cy="3144600"/>
          </a:xfrm>
          <a:prstGeom prst="rect">
            <a:avLst/>
          </a:prstGeom>
          <a:noFill/>
          <a:ln>
            <a:noFill/>
          </a:ln>
        </p:spPr>
        <p:txBody>
          <a:bodyPr anchorCtr="0" anchor="t" bIns="34275" lIns="34275" spcFirstLastPara="1" rIns="34275" wrap="square" tIns="34275">
            <a:noAutofit/>
          </a:bodyPr>
          <a:lstStyle/>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Yadav AS, Charles V, Pandey DK and Kushwaha DS (2023), Blockchain based Secure Privacy Preserving Vehicle Accident and Insurance Registration</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Djajasinga ND, Mutaufiq A and Hasan MR (2022), Blockchain Adoption in the Vehicle Leasing Business to Increase the Transparency of Transactions</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Seung Gyun Yoo and </a:t>
            </a:r>
            <a:r>
              <a:rPr lang="en" sz="1200">
                <a:solidFill>
                  <a:srgbClr val="595959"/>
                </a:solidFill>
              </a:rPr>
              <a:t>Byeongtae</a:t>
            </a:r>
            <a:r>
              <a:rPr lang="en" sz="1200">
                <a:solidFill>
                  <a:srgbClr val="595959"/>
                </a:solidFill>
              </a:rPr>
              <a:t> Ahn (2021), A study for efficiency improvement of used car trading based on a public blockchain</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highlight>
                  <a:srgbClr val="FFFFFF"/>
                </a:highlight>
              </a:rPr>
              <a:t>Jiang YT and Sun HM. A (2021), </a:t>
            </a:r>
            <a:r>
              <a:rPr lang="en" sz="1200">
                <a:solidFill>
                  <a:srgbClr val="595959"/>
                </a:solidFill>
              </a:rPr>
              <a:t>Blockchain-based vehicle condition Recording System for Second-Hand Vehicle Market</a:t>
            </a:r>
            <a:endParaRPr sz="1200">
              <a:solidFill>
                <a:srgbClr val="595959"/>
              </a:solidFill>
              <a:highlight>
                <a:srgbClr val="FFFFFF"/>
              </a:highlight>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Yu Y, Yao C, Zhang Y and Jiang R (2021), Second-Hand car Trading Framework based on Blockchain in Cloud Service Environment</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You-Ting Jiang and Hung-Min Sun (2020), A Blockchain-Based Vehicle Condition Recording System for Second-Hand Vehicle Market</a:t>
            </a:r>
            <a:endParaRPr sz="1200">
              <a:solidFill>
                <a:srgbClr val="595959"/>
              </a:solidFill>
            </a:endParaRPr>
          </a:p>
          <a:p>
            <a:pPr indent="-304800" lvl="0" marL="457200" rtl="0" algn="just">
              <a:lnSpc>
                <a:spcPct val="115000"/>
              </a:lnSpc>
              <a:spcBef>
                <a:spcPts val="0"/>
              </a:spcBef>
              <a:spcAft>
                <a:spcPts val="0"/>
              </a:spcAft>
              <a:buClr>
                <a:srgbClr val="595959"/>
              </a:buClr>
              <a:buSzPts val="1200"/>
              <a:buAutoNum type="arabicPeriod"/>
            </a:pPr>
            <a:r>
              <a:rPr lang="en" sz="1200">
                <a:solidFill>
                  <a:srgbClr val="595959"/>
                </a:solidFill>
              </a:rPr>
              <a:t>Jinyu Zhang, Honghui Zhao, Yumeng Yang and Jiaqi Yan (2019), Towards Transparency and Trustworthy: a Used-Car Deposit Platform Based on Blockchain</a:t>
            </a:r>
            <a:endParaRPr sz="1200">
              <a:solidFill>
                <a:srgbClr val="595959"/>
              </a:solidFill>
            </a:endParaRPr>
          </a:p>
          <a:p>
            <a:pPr indent="0" lvl="0" marL="457200" rtl="0" algn="l">
              <a:lnSpc>
                <a:spcPct val="115000"/>
              </a:lnSpc>
              <a:spcBef>
                <a:spcPts val="1200"/>
              </a:spcBef>
              <a:spcAft>
                <a:spcPts val="0"/>
              </a:spcAft>
              <a:buSzPts val="1018"/>
              <a:buNone/>
            </a:pPr>
            <a:r>
              <a:t/>
            </a:r>
            <a:endParaRPr sz="1200">
              <a:solidFill>
                <a:srgbClr val="595959"/>
              </a:solidFill>
              <a:highlight>
                <a:schemeClr val="lt1"/>
              </a:highlight>
            </a:endParaRPr>
          </a:p>
        </p:txBody>
      </p:sp>
      <p:sp>
        <p:nvSpPr>
          <p:cNvPr id="252" name="Google Shape;252;p42"/>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txBox="1"/>
          <p:nvPr>
            <p:ph type="title"/>
          </p:nvPr>
        </p:nvSpPr>
        <p:spPr>
          <a:xfrm>
            <a:off x="457200" y="2097078"/>
            <a:ext cx="8229600" cy="594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rgbClr val="1B57B5"/>
              </a:buClr>
              <a:buSzPts val="2400"/>
              <a:buFont typeface="Arial"/>
              <a:buNone/>
            </a:pPr>
            <a:r>
              <a:rPr lang="en" sz="2500"/>
              <a:t>THANK YOU</a:t>
            </a:r>
            <a:endParaRPr sz="2500"/>
          </a:p>
        </p:txBody>
      </p:sp>
      <p:sp>
        <p:nvSpPr>
          <p:cNvPr id="258" name="Google Shape;258;p43"/>
          <p:cNvSpPr txBox="1"/>
          <p:nvPr>
            <p:ph idx="12" type="sldNum"/>
          </p:nvPr>
        </p:nvSpPr>
        <p:spPr>
          <a:xfrm>
            <a:off x="0" y="4686365"/>
            <a:ext cx="685800" cy="1848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accent2"/>
              </a:buClr>
              <a:buSzPts val="1200"/>
              <a:buFont typeface="Calibri"/>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SN">
  <a:themeElements>
    <a:clrScheme name="SS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