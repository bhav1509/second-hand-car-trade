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D9AF74-C248-4F9B-BE29-622A796E0B3A}">
  <a:tblStyle styleId="{01D9AF74-C248-4F9B-BE29-622A796E0B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file/d/1xV9TocRGyj72LvN5jco7XN7z4AwS-B_C/view?usp=share_link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file/d/1xHXmgeqKBqesKdHNN6KnDNzCBV7kHKZr/view?usp=share_link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file/d/1JG_6vk5xWjbX-fBBlpejwbS3BbrXq-mM/view?usp=share_link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099a7fa4ca_0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2099a7fa4ca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099a7fa4ca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97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7" name="Google Shape;77;g2099a7fa4ca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099a7fa4ca_2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84" name="Google Shape;84;g2099a7fa4ca_2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099a7fa4ca_2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97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91" name="Google Shape;91;g2099a7fa4ca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099a7fa4c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099a7fa4c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099a7fa4ca_2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099a7fa4ca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https://drive.google.com/file/d/1xV9TocRGyj72LvN5jco7XN7z4AwS-B_C/view?usp=share_link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099a7fa4ca_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099a7fa4ca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https://drive.google.com/file/d/1xHXmgeqKBqesKdHNN6KnDNzCBV7kHKZr/view?usp=share_link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099a7fa4ca_2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099a7fa4ca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https://drive.google.com/file/d/1JG_6vk5xWjbX-fBBlpejwbS3BbrXq-mM/view?usp=share_link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099a7fa4c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099a7fa4c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099a7fa4ca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099a7fa4c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099a7fa4ca_1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099a7fa4ca_1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099a7fa4ca_1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099a7fa4ca_1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099a7fa4ca_1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099a7fa4ca_1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099a7fa4ca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099a7fa4ca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099a7fa4ca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099a7fa4ca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099a7fa4ca_2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099a7fa4ca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099a7fa4ca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099a7fa4ca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099a7fa4ca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099a7fa4ca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099a7fa4ca_2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099a7fa4ca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099a7fa4ca_2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099a7fa4ca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099a7fa4ca_2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099a7fa4ca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099a7fa4ca_2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099a7fa4ca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099a7fa4ca_1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099a7fa4ca_1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099a7fa4ca_1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099a7fa4ca_1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099a7fa4ca_1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099a7fa4ca_1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1"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187426"/>
            <a:ext cx="9128125" cy="966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0" y="0"/>
            <a:ext cx="9144000" cy="1314600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685800" y="17145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1371600" y="285750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2100"/>
              <a:buFont typeface="Arial"/>
              <a:buNone/>
              <a:defRPr sz="2100">
                <a:solidFill>
                  <a:srgbClr val="808080"/>
                </a:solidFill>
              </a:defRPr>
            </a:lvl1pPr>
            <a:lvl2pPr indent="-361950" lvl="1" marL="91440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2100"/>
              <a:buFont typeface="Arial"/>
              <a:buChar char="–"/>
              <a:defRPr sz="2100">
                <a:solidFill>
                  <a:srgbClr val="808080"/>
                </a:solidFill>
              </a:defRPr>
            </a:lvl2pPr>
            <a:lvl3pPr indent="-361950" lvl="2" marL="137160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2100"/>
              <a:buFont typeface="Arial"/>
              <a:buChar char="•"/>
              <a:defRPr sz="2100">
                <a:solidFill>
                  <a:srgbClr val="808080"/>
                </a:solidFill>
              </a:defRPr>
            </a:lvl3pPr>
            <a:lvl4pPr indent="-361950" lvl="3" marL="182880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2100"/>
              <a:buFont typeface="Arial"/>
              <a:buChar char="–"/>
              <a:defRPr sz="2100">
                <a:solidFill>
                  <a:srgbClr val="808080"/>
                </a:solidFill>
              </a:defRPr>
            </a:lvl4pPr>
            <a:lvl5pPr indent="-361950" lvl="4" marL="228600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2100"/>
              <a:buFont typeface="Arial"/>
              <a:buChar char="»"/>
              <a:defRPr sz="2100">
                <a:solidFill>
                  <a:srgbClr val="808080"/>
                </a:solidFill>
              </a:defRPr>
            </a:lvl5pPr>
            <a:lvl6pPr indent="-317500" lvl="5" marL="2743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400"/>
              <a:buChar char="»"/>
              <a:defRPr/>
            </a:lvl6pPr>
            <a:lvl7pPr indent="-317500" lvl="6" marL="3200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400"/>
              <a:buChar char="»"/>
              <a:defRPr/>
            </a:lvl7pPr>
            <a:lvl8pPr indent="-317500" lvl="7" marL="3657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400"/>
              <a:buChar char="»"/>
              <a:defRPr/>
            </a:lvl8pPr>
            <a:lvl9pPr indent="-317500" lvl="8" marL="4114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400"/>
              <a:buChar char="»"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4419600" y="4629150"/>
            <a:ext cx="213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0" y="4686365"/>
            <a:ext cx="685800" cy="184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57200" y="914402"/>
            <a:ext cx="8229600" cy="3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400"/>
              <a:buChar char="–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400"/>
              <a:buChar char="–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400"/>
              <a:buChar char="»"/>
              <a:defRPr/>
            </a:lvl5pPr>
            <a:lvl6pPr indent="-317500" lvl="5" marL="2743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400"/>
              <a:buChar char="»"/>
              <a:defRPr/>
            </a:lvl6pPr>
            <a:lvl7pPr indent="-317500" lvl="6" marL="3200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400"/>
              <a:buChar char="»"/>
              <a:defRPr/>
            </a:lvl7pPr>
            <a:lvl8pPr indent="-317500" lvl="7" marL="3657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400"/>
              <a:buChar char="»"/>
              <a:defRPr/>
            </a:lvl8pPr>
            <a:lvl9pPr indent="-317500" lvl="8" marL="4114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1" id="67" name="Google Shape;6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176545"/>
            <a:ext cx="9142413" cy="96695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0" y="4686365"/>
            <a:ext cx="685800" cy="184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21"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" y="4176545"/>
            <a:ext cx="9142413" cy="96695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0" y="4686365"/>
            <a:ext cx="685800" cy="184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  <a:defRPr b="1" i="0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13"/>
          <p:cNvCxnSpPr/>
          <p:nvPr/>
        </p:nvCxnSpPr>
        <p:spPr>
          <a:xfrm>
            <a:off x="457200" y="800100"/>
            <a:ext cx="8229600" cy="1200"/>
          </a:xfrm>
          <a:prstGeom prst="straightConnector1">
            <a:avLst/>
          </a:prstGeom>
          <a:noFill/>
          <a:ln cap="flat" cmpd="sng" w="9525">
            <a:solidFill>
              <a:srgbClr val="B7E3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B57B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B57B5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B57B5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B57B5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B57B5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B57B5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B57B5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B57B5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B57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914402"/>
            <a:ext cx="8229600" cy="3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85800" y="1419875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2400"/>
              <a:buFont typeface="Arial"/>
              <a:buNone/>
            </a:pPr>
            <a:r>
              <a:rPr b="0" i="0" lang="en" sz="2500" u="none" cap="none" strike="noStrike">
                <a:solidFill>
                  <a:srgbClr val="1B57B5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sz="2500"/>
              <a:t>econd-Hand Car Trade</a:t>
            </a:r>
            <a:r>
              <a:rPr b="0" i="0" lang="en" sz="2500" u="none" cap="none" strike="noStrike">
                <a:solidFill>
                  <a:srgbClr val="1B57B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500"/>
              <a:t>U</a:t>
            </a:r>
            <a:r>
              <a:rPr b="0" i="0" lang="en" sz="2500" u="none" cap="none" strike="noStrike">
                <a:solidFill>
                  <a:srgbClr val="1B57B5"/>
                </a:solidFill>
                <a:latin typeface="Arial"/>
                <a:ea typeface="Arial"/>
                <a:cs typeface="Arial"/>
                <a:sym typeface="Arial"/>
              </a:rPr>
              <a:t>sing Blockchain</a:t>
            </a:r>
            <a:endParaRPr sz="2500"/>
          </a:p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1371600" y="25717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10"/>
              <a:buFont typeface="Arial"/>
              <a:buNone/>
            </a:pPr>
            <a:r>
              <a:rPr lang="en" sz="1500"/>
              <a:t>By:</a:t>
            </a:r>
            <a:endParaRPr sz="1500"/>
          </a:p>
          <a:p>
            <a:pPr indent="0" lvl="0" marL="0" rtl="0" algn="ctr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rgbClr val="808080"/>
              </a:buClr>
              <a:buSzPts val="1110"/>
              <a:buFont typeface="Arial"/>
              <a:buNone/>
            </a:pPr>
            <a:r>
              <a:rPr lang="en" sz="1500"/>
              <a:t>Arun Pradeep		195002014</a:t>
            </a:r>
            <a:endParaRPr sz="1500"/>
          </a:p>
          <a:p>
            <a:pPr indent="0" lvl="0" marL="0" rtl="0" algn="ctr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rgbClr val="808080"/>
              </a:buClr>
              <a:buSzPts val="1110"/>
              <a:buFont typeface="Arial"/>
              <a:buNone/>
            </a:pPr>
            <a:r>
              <a:rPr lang="en" sz="1500"/>
              <a:t>Bhavna Magendiran	195002021</a:t>
            </a:r>
            <a:endParaRPr sz="1500"/>
          </a:p>
          <a:p>
            <a:pPr indent="0" lvl="0" marL="0" rtl="0" algn="ctr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rgbClr val="808080"/>
              </a:buClr>
              <a:buSzPts val="111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rgbClr val="808080"/>
              </a:buClr>
              <a:buSzPts val="1110"/>
              <a:buFont typeface="Arial"/>
              <a:buNone/>
            </a:pPr>
            <a:r>
              <a:rPr lang="en" sz="1500"/>
              <a:t>Guided by:</a:t>
            </a:r>
            <a:endParaRPr sz="1500"/>
          </a:p>
          <a:p>
            <a:pPr indent="0" lvl="0" marL="0" rtl="0" algn="ctr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rgbClr val="808080"/>
              </a:buClr>
              <a:buSzPts val="1110"/>
              <a:buFont typeface="Arial"/>
              <a:buNone/>
            </a:pPr>
            <a:r>
              <a:rPr lang="en" sz="1500">
                <a:highlight>
                  <a:srgbClr val="FFFFFF"/>
                </a:highlight>
              </a:rPr>
              <a:t>Dr. S. Mohanavalli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2400"/>
              <a:buFont typeface="Arial"/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914400"/>
            <a:ext cx="8229600" cy="36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●"/>
            </a:pPr>
            <a:r>
              <a:rPr lang="en" sz="1500">
                <a:solidFill>
                  <a:srgbClr val="595959"/>
                </a:solidFill>
              </a:rPr>
              <a:t>Expected Outcomes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●"/>
            </a:pPr>
            <a:r>
              <a:rPr lang="en" sz="1500">
                <a:solidFill>
                  <a:srgbClr val="595959"/>
                </a:solidFill>
              </a:rPr>
              <a:t>Project Timeline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●"/>
            </a:pPr>
            <a:r>
              <a:rPr lang="en" sz="1500">
                <a:solidFill>
                  <a:srgbClr val="595959"/>
                </a:solidFill>
              </a:rPr>
              <a:t>System Design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●"/>
            </a:pPr>
            <a:r>
              <a:rPr lang="en" sz="1500">
                <a:solidFill>
                  <a:srgbClr val="595959"/>
                </a:solidFill>
              </a:rPr>
              <a:t>Implementation</a:t>
            </a:r>
            <a:r>
              <a:rPr lang="en" sz="1500">
                <a:solidFill>
                  <a:srgbClr val="595959"/>
                </a:solidFill>
              </a:rPr>
              <a:t> with results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●"/>
            </a:pPr>
            <a:r>
              <a:rPr lang="en" sz="1500">
                <a:solidFill>
                  <a:srgbClr val="595959"/>
                </a:solidFill>
              </a:rPr>
              <a:t>Cost (</a:t>
            </a:r>
            <a:r>
              <a:rPr lang="en" sz="1500">
                <a:solidFill>
                  <a:srgbClr val="595959"/>
                </a:solidFill>
              </a:rPr>
              <a:t>Techstack used)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●"/>
            </a:pPr>
            <a:r>
              <a:rPr lang="en" sz="1500">
                <a:solidFill>
                  <a:srgbClr val="595959"/>
                </a:solidFill>
              </a:rPr>
              <a:t>Future work</a:t>
            </a:r>
            <a:endParaRPr sz="1500">
              <a:solidFill>
                <a:srgbClr val="595959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</a:endParaRPr>
          </a:p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0" y="4686365"/>
            <a:ext cx="685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2400"/>
              <a:buFont typeface="Arial"/>
              <a:buNone/>
            </a:pPr>
            <a:r>
              <a:rPr lang="en" sz="2500"/>
              <a:t>EXPECTED OUTCOMES</a:t>
            </a:r>
            <a:endParaRPr sz="2500"/>
          </a:p>
        </p:txBody>
      </p:sp>
      <p:graphicFrame>
        <p:nvGraphicFramePr>
          <p:cNvPr id="87" name="Google Shape;87;p19"/>
          <p:cNvGraphicFramePr/>
          <p:nvPr/>
        </p:nvGraphicFramePr>
        <p:xfrm>
          <a:off x="952500" y="136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{01D9AF74-C248-4F9B-BE29-622A796E0B3A}</a:tableStyleId>
              </a:tblPr>
              <a:tblGrid>
                <a:gridCol w="1243075"/>
                <a:gridCol w="1938700"/>
                <a:gridCol w="4057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</a:rPr>
                        <a:t>PHASE 1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10">
                          <a:solidFill>
                            <a:srgbClr val="595959"/>
                          </a:solidFill>
                        </a:rPr>
                        <a:t>Planning Phase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</a:rPr>
                        <a:t>Requirements of the project, identifying business problem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</a:rPr>
                        <a:t>PHASE 2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10">
                          <a:solidFill>
                            <a:srgbClr val="595959"/>
                          </a:solidFill>
                        </a:rPr>
                        <a:t>Design Phase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</a:rPr>
                        <a:t>Blockchain architecture, other technical details 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</a:rPr>
                        <a:t>PHASE 3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10">
                          <a:solidFill>
                            <a:srgbClr val="595959"/>
                          </a:solidFill>
                        </a:rPr>
                        <a:t>Development Phase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</a:rPr>
                        <a:t>development of application (Front-end, Back-end </a:t>
                      </a:r>
                      <a:r>
                        <a:rPr lang="en">
                          <a:solidFill>
                            <a:srgbClr val="595959"/>
                          </a:solidFill>
                        </a:rPr>
                        <a:t>separately)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</a:rPr>
                        <a:t>PHASE 4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10">
                          <a:solidFill>
                            <a:srgbClr val="595959"/>
                          </a:solidFill>
                        </a:rPr>
                        <a:t>Deployment Phase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</a:rPr>
                        <a:t>Integration of Front-end and Back-end </a:t>
                      </a:r>
                      <a:r>
                        <a:rPr lang="en">
                          <a:solidFill>
                            <a:srgbClr val="595959"/>
                          </a:solidFill>
                        </a:rPr>
                        <a:t>Deployment of application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</a:rPr>
                        <a:t>PHASE 5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10">
                          <a:solidFill>
                            <a:srgbClr val="595959"/>
                          </a:solidFill>
                        </a:rPr>
                        <a:t>Production Phase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</a:rPr>
                        <a:t>Testing, </a:t>
                      </a:r>
                      <a:r>
                        <a:rPr lang="en">
                          <a:solidFill>
                            <a:srgbClr val="595959"/>
                          </a:solidFill>
                        </a:rPr>
                        <a:t>Deploying application</a:t>
                      </a:r>
                      <a:endParaRPr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0" y="4686365"/>
            <a:ext cx="685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7B5"/>
              </a:buClr>
              <a:buSzPts val="2400"/>
              <a:buFont typeface="Arial"/>
              <a:buNone/>
            </a:pPr>
            <a:r>
              <a:rPr lang="en" sz="2500"/>
              <a:t>PROJECT TIMELINE</a:t>
            </a:r>
            <a:endParaRPr sz="2500"/>
          </a:p>
        </p:txBody>
      </p:sp>
      <p:graphicFrame>
        <p:nvGraphicFramePr>
          <p:cNvPr id="94" name="Google Shape;94;p20"/>
          <p:cNvGraphicFramePr/>
          <p:nvPr/>
        </p:nvGraphicFramePr>
        <p:xfrm>
          <a:off x="734063" y="124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{01D9AF74-C248-4F9B-BE29-622A796E0B3A}</a:tableStyleId>
              </a:tblPr>
              <a:tblGrid>
                <a:gridCol w="1165925"/>
                <a:gridCol w="818775"/>
                <a:gridCol w="791100"/>
                <a:gridCol w="796125"/>
                <a:gridCol w="831350"/>
                <a:gridCol w="804925"/>
                <a:gridCol w="822550"/>
                <a:gridCol w="822550"/>
                <a:gridCol w="822550"/>
              </a:tblGrid>
              <a:tr h="396200">
                <a:tc>
                  <a:txBody>
                    <a:bodyPr/>
                    <a:lstStyle/>
                    <a:p>
                      <a:pPr indent="-9144" lvl="0" marL="914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9144" lvl="0" marL="10058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WEEK 1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9144" lvl="0" marL="10058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WEEK 2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9144" lvl="0" marL="10058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WEEK 3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9144" lvl="0" marL="10058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WEEK 4</a:t>
                      </a:r>
                      <a:endParaRPr sz="1000"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-9144" lvl="0" marL="10058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WEEK 5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-9144" lvl="0" marL="10058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WEEK 6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9144" lvl="0" marL="10058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WEEK 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9144" lvl="0" marL="10058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WEEK 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05700">
                <a:tc>
                  <a:txBody>
                    <a:bodyPr/>
                    <a:lstStyle/>
                    <a:p>
                      <a:pPr indent="-9144" lvl="0" marL="914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Proof of concept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26th Feb - 4th Mar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-9144" lvl="0" marL="914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Develop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5th Mar - 1st Apr</a:t>
                      </a:r>
                      <a:endParaRPr sz="1000"/>
                    </a:p>
                  </a:txBody>
                  <a:tcPr marT="91425" marB="91425" marR="91425" marL="91425" anchor="ctr">
                    <a:solidFill>
                      <a:srgbClr val="FF0000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-9144" lvl="0" marL="914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Integrate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26th Mar - 8th Apr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990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-9144" lvl="0" marL="914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</a:rPr>
                        <a:t>9</a:t>
                      </a:r>
                      <a:r>
                        <a:rPr lang="en" sz="1000">
                          <a:solidFill>
                            <a:schemeClr val="lt1"/>
                          </a:solidFill>
                        </a:rPr>
                        <a:t>nd Apr - 15th Apr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-9144" lvl="0" marL="9144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Deploy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15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th Apr - 22th Apr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0" y="4686365"/>
            <a:ext cx="685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- Top-level Design</a:t>
            </a:r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57200" y="905427"/>
            <a:ext cx="8229600" cy="3680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95959"/>
                </a:solidFill>
              </a:rPr>
              <a:t>Top-level design</a:t>
            </a:r>
            <a:endParaRPr b="1" sz="15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Front-end</a:t>
            </a:r>
            <a:endParaRPr sz="1300">
              <a:solidFill>
                <a:srgbClr val="595959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■"/>
            </a:pPr>
            <a:r>
              <a:rPr lang="en" sz="1300">
                <a:solidFill>
                  <a:srgbClr val="595959"/>
                </a:solidFill>
              </a:rPr>
              <a:t>Html</a:t>
            </a:r>
            <a:endParaRPr sz="1300">
              <a:solidFill>
                <a:srgbClr val="595959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■"/>
            </a:pPr>
            <a:r>
              <a:rPr lang="en" sz="1300">
                <a:solidFill>
                  <a:srgbClr val="595959"/>
                </a:solidFill>
              </a:rPr>
              <a:t>CSS</a:t>
            </a:r>
            <a:endParaRPr sz="1300">
              <a:solidFill>
                <a:srgbClr val="595959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■"/>
            </a:pPr>
            <a:r>
              <a:rPr lang="en" sz="1300">
                <a:solidFill>
                  <a:srgbClr val="595959"/>
                </a:solidFill>
              </a:rPr>
              <a:t>AngularJS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Backend - Server</a:t>
            </a:r>
            <a:endParaRPr sz="1300">
              <a:solidFill>
                <a:srgbClr val="595959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■"/>
            </a:pPr>
            <a:r>
              <a:rPr lang="en" sz="1300">
                <a:solidFill>
                  <a:srgbClr val="595959"/>
                </a:solidFill>
              </a:rPr>
              <a:t>NodeJS</a:t>
            </a:r>
            <a:endParaRPr sz="1300">
              <a:solidFill>
                <a:srgbClr val="595959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■"/>
            </a:pPr>
            <a:r>
              <a:rPr lang="en" sz="1300">
                <a:solidFill>
                  <a:srgbClr val="595959"/>
                </a:solidFill>
              </a:rPr>
              <a:t>ExpressJS</a:t>
            </a:r>
            <a:endParaRPr sz="1300">
              <a:solidFill>
                <a:srgbClr val="595959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■"/>
            </a:pPr>
            <a:r>
              <a:rPr lang="en" sz="1300">
                <a:solidFill>
                  <a:srgbClr val="595959"/>
                </a:solidFill>
              </a:rPr>
              <a:t>MongoDB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Backend - Blockchain</a:t>
            </a:r>
            <a:endParaRPr sz="1300">
              <a:solidFill>
                <a:srgbClr val="595959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■"/>
            </a:pPr>
            <a:r>
              <a:rPr lang="en" sz="1300">
                <a:solidFill>
                  <a:srgbClr val="595959"/>
                </a:solidFill>
              </a:rPr>
              <a:t>Hyperledger fabric</a:t>
            </a:r>
            <a:endParaRPr sz="1300">
              <a:solidFill>
                <a:srgbClr val="595959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■"/>
            </a:pPr>
            <a:r>
              <a:rPr lang="en" sz="1300">
                <a:solidFill>
                  <a:srgbClr val="595959"/>
                </a:solidFill>
              </a:rPr>
              <a:t>Docker</a:t>
            </a:r>
            <a:endParaRPr sz="1300">
              <a:solidFill>
                <a:srgbClr val="595959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■"/>
            </a:pPr>
            <a:r>
              <a:rPr lang="en" sz="1300">
                <a:solidFill>
                  <a:srgbClr val="595959"/>
                </a:solidFill>
              </a:rPr>
              <a:t>Smart contracts - GO</a:t>
            </a:r>
            <a:endParaRPr sz="1300">
              <a:solidFill>
                <a:srgbClr val="595959"/>
              </a:solidFill>
            </a:endParaRPr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96" y="973850"/>
            <a:ext cx="4572002" cy="3195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-  Use Case Diagram</a:t>
            </a:r>
            <a:endParaRPr/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4363" y="799978"/>
            <a:ext cx="3255270" cy="4038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- Front-end - Use Case</a:t>
            </a:r>
            <a:endParaRPr/>
          </a:p>
        </p:txBody>
      </p:sp>
      <p:pic>
        <p:nvPicPr>
          <p:cNvPr id="114" name="Google Shape;1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112" y="799978"/>
            <a:ext cx="3733773" cy="403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- Class Diagram</a:t>
            </a:r>
            <a:endParaRPr/>
          </a:p>
        </p:txBody>
      </p:sp>
      <p:pic>
        <p:nvPicPr>
          <p:cNvPr id="120" name="Google Shape;1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4138" y="799978"/>
            <a:ext cx="4235733" cy="4038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- Front-end - Wireframe</a:t>
            </a:r>
            <a:endParaRPr/>
          </a:p>
        </p:txBody>
      </p:sp>
      <p:pic>
        <p:nvPicPr>
          <p:cNvPr id="126" name="Google Shape;12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3225" y="1099736"/>
            <a:ext cx="5077550" cy="294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- Blockchain Architecture</a:t>
            </a:r>
            <a:endParaRPr/>
          </a:p>
        </p:txBody>
      </p:sp>
      <p:pic>
        <p:nvPicPr>
          <p:cNvPr id="132" name="Google Shape;1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1725" y="884312"/>
            <a:ext cx="5580550" cy="352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6"/>
          <p:cNvSpPr txBox="1"/>
          <p:nvPr/>
        </p:nvSpPr>
        <p:spPr>
          <a:xfrm>
            <a:off x="2109725" y="4365775"/>
            <a:ext cx="137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Certificate Authority</a:t>
            </a:r>
            <a:endParaRPr sz="900"/>
          </a:p>
        </p:txBody>
      </p:sp>
      <p:sp>
        <p:nvSpPr>
          <p:cNvPr id="134" name="Google Shape;134;p26"/>
          <p:cNvSpPr txBox="1"/>
          <p:nvPr/>
        </p:nvSpPr>
        <p:spPr>
          <a:xfrm>
            <a:off x="7362275" y="2517825"/>
            <a:ext cx="137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Network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Configuration</a:t>
            </a:r>
            <a:endParaRPr sz="900"/>
          </a:p>
        </p:txBody>
      </p:sp>
      <p:sp>
        <p:nvSpPr>
          <p:cNvPr id="135" name="Google Shape;135;p26"/>
          <p:cNvSpPr txBox="1"/>
          <p:nvPr/>
        </p:nvSpPr>
        <p:spPr>
          <a:xfrm>
            <a:off x="3655925" y="3911600"/>
            <a:ext cx="8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Manufacturer</a:t>
            </a:r>
            <a:endParaRPr sz="900"/>
          </a:p>
        </p:txBody>
      </p:sp>
      <p:sp>
        <p:nvSpPr>
          <p:cNvPr id="136" name="Google Shape;136;p26"/>
          <p:cNvSpPr txBox="1"/>
          <p:nvPr/>
        </p:nvSpPr>
        <p:spPr>
          <a:xfrm>
            <a:off x="3484325" y="1374425"/>
            <a:ext cx="8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Distributer</a:t>
            </a:r>
            <a:endParaRPr sz="900"/>
          </a:p>
        </p:txBody>
      </p:sp>
      <p:sp>
        <p:nvSpPr>
          <p:cNvPr id="137" name="Google Shape;137;p26"/>
          <p:cNvSpPr txBox="1"/>
          <p:nvPr/>
        </p:nvSpPr>
        <p:spPr>
          <a:xfrm>
            <a:off x="4657425" y="1330375"/>
            <a:ext cx="8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Retailer</a:t>
            </a:r>
            <a:endParaRPr sz="900"/>
          </a:p>
        </p:txBody>
      </p:sp>
      <p:sp>
        <p:nvSpPr>
          <p:cNvPr id="138" name="Google Shape;138;p26"/>
          <p:cNvSpPr txBox="1"/>
          <p:nvPr/>
        </p:nvSpPr>
        <p:spPr>
          <a:xfrm>
            <a:off x="5308625" y="1374425"/>
            <a:ext cx="56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Seller</a:t>
            </a:r>
            <a:endParaRPr sz="900"/>
          </a:p>
        </p:txBody>
      </p:sp>
      <p:sp>
        <p:nvSpPr>
          <p:cNvPr id="139" name="Google Shape;139;p26"/>
          <p:cNvSpPr txBox="1"/>
          <p:nvPr/>
        </p:nvSpPr>
        <p:spPr>
          <a:xfrm>
            <a:off x="5344600" y="3911600"/>
            <a:ext cx="8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Buyer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with results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457200" y="914402"/>
            <a:ext cx="8229600" cy="3680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>
                <a:solidFill>
                  <a:srgbClr val="595959"/>
                </a:solidFill>
              </a:rPr>
              <a:t>Login page (screenshot)</a:t>
            </a:r>
            <a:endParaRPr>
              <a:solidFill>
                <a:srgbClr val="595959"/>
              </a:solidFill>
            </a:endParaRPr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1324425"/>
            <a:ext cx="4572001" cy="2860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with results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457200" y="914402"/>
            <a:ext cx="8229600" cy="3680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>
                <a:solidFill>
                  <a:srgbClr val="595959"/>
                </a:solidFill>
              </a:rPr>
              <a:t>Others</a:t>
            </a:r>
            <a:r>
              <a:rPr lang="en">
                <a:solidFill>
                  <a:srgbClr val="595959"/>
                </a:solidFill>
              </a:rPr>
              <a:t> page</a:t>
            </a:r>
            <a:r>
              <a:rPr lang="en">
                <a:solidFill>
                  <a:srgbClr val="595959"/>
                </a:solidFill>
              </a:rPr>
              <a:t> (screenshot)</a:t>
            </a:r>
            <a:endParaRPr>
              <a:solidFill>
                <a:srgbClr val="595959"/>
              </a:solidFill>
            </a:endParaRPr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1324425"/>
            <a:ext cx="4572001" cy="2860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with results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457200" y="914402"/>
            <a:ext cx="8229600" cy="3680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-317500" lvl="0" marL="457200" rtl="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>
                <a:solidFill>
                  <a:srgbClr val="595959"/>
                </a:solidFill>
              </a:rPr>
              <a:t>Others page (sample code)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1325700"/>
            <a:ext cx="4572001" cy="285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of Blockchain</a:t>
            </a:r>
            <a:endParaRPr/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2378"/>
            <a:ext cx="8839199" cy="339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Implementation of Blockchain - Network Creation</a:t>
            </a:r>
            <a:endParaRPr/>
          </a:p>
        </p:txBody>
      </p:sp>
      <p:pic>
        <p:nvPicPr>
          <p:cNvPr id="172" name="Google Shape;17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250" y="799975"/>
            <a:ext cx="5399502" cy="367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of Blockchain - Docker Images </a:t>
            </a:r>
            <a:endParaRPr/>
          </a:p>
        </p:txBody>
      </p:sp>
      <p:pic>
        <p:nvPicPr>
          <p:cNvPr id="178" name="Google Shape;1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1025" y="799978"/>
            <a:ext cx="6461957" cy="403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of Blockchain - Creating Network</a:t>
            </a:r>
            <a:endParaRPr/>
          </a:p>
        </p:txBody>
      </p:sp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2378"/>
            <a:ext cx="8839198" cy="36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19803"/>
            <a:ext cx="8839199" cy="266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of Blockchain - Creating Channel</a:t>
            </a:r>
            <a:endParaRPr/>
          </a:p>
        </p:txBody>
      </p:sp>
      <p:pic>
        <p:nvPicPr>
          <p:cNvPr id="191" name="Google Shape;1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2378"/>
            <a:ext cx="8839201" cy="1488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41306"/>
            <a:ext cx="8839200" cy="893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334686"/>
            <a:ext cx="8839201" cy="618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of Blockchain - Installing chaincode</a:t>
            </a:r>
            <a:endParaRPr/>
          </a:p>
        </p:txBody>
      </p:sp>
      <p:pic>
        <p:nvPicPr>
          <p:cNvPr id="199" name="Google Shape;1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2378"/>
            <a:ext cx="8839199" cy="774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78862"/>
            <a:ext cx="8839199" cy="74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772210"/>
            <a:ext cx="8839204" cy="103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of Blockchain - Creating Chaincode package</a:t>
            </a:r>
            <a:endParaRPr/>
          </a:p>
        </p:txBody>
      </p:sp>
      <p:pic>
        <p:nvPicPr>
          <p:cNvPr id="207" name="Google Shape;20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2378"/>
            <a:ext cx="8839199" cy="2207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of Blockchain - Chaincode Approval</a:t>
            </a:r>
            <a:endParaRPr/>
          </a:p>
        </p:txBody>
      </p:sp>
      <p:pic>
        <p:nvPicPr>
          <p:cNvPr id="213" name="Google Shape;2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4785"/>
            <a:ext cx="8839204" cy="103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74010"/>
            <a:ext cx="8839204" cy="1005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231817"/>
            <a:ext cx="8839204" cy="1466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of Blockchain - Invoking Chaincode</a:t>
            </a:r>
            <a:endParaRPr/>
          </a:p>
        </p:txBody>
      </p:sp>
      <p:pic>
        <p:nvPicPr>
          <p:cNvPr id="221" name="Google Shape;22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2378"/>
            <a:ext cx="8839201" cy="2222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327685"/>
            <a:ext cx="8839199" cy="1056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</a:t>
            </a:r>
            <a:endParaRPr/>
          </a:p>
        </p:txBody>
      </p:sp>
      <p:sp>
        <p:nvSpPr>
          <p:cNvPr id="228" name="Google Shape;228;p39"/>
          <p:cNvSpPr txBox="1"/>
          <p:nvPr>
            <p:ph idx="1" type="body"/>
          </p:nvPr>
        </p:nvSpPr>
        <p:spPr>
          <a:xfrm>
            <a:off x="457200" y="914402"/>
            <a:ext cx="8229600" cy="3680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1018"/>
              <a:buNone/>
            </a:pPr>
            <a:r>
              <a:rPr lang="en" sz="1500">
                <a:solidFill>
                  <a:srgbClr val="595959"/>
                </a:solidFill>
              </a:rPr>
              <a:t>Tech stack used: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500"/>
              <a:buChar char="●"/>
            </a:pPr>
            <a:r>
              <a:rPr lang="en" sz="1500">
                <a:solidFill>
                  <a:srgbClr val="595959"/>
                </a:solidFill>
              </a:rPr>
              <a:t>Front-end</a:t>
            </a:r>
            <a:endParaRPr sz="1500">
              <a:solidFill>
                <a:srgbClr val="595959"/>
              </a:solidFill>
            </a:endParaRPr>
          </a:p>
          <a:p>
            <a:pPr indent="-3238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○"/>
            </a:pPr>
            <a:r>
              <a:rPr lang="en" sz="1500">
                <a:solidFill>
                  <a:srgbClr val="595959"/>
                </a:solidFill>
              </a:rPr>
              <a:t>HTML, CSS, AngularJS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●"/>
            </a:pPr>
            <a:r>
              <a:rPr lang="en" sz="1500">
                <a:solidFill>
                  <a:srgbClr val="595959"/>
                </a:solidFill>
              </a:rPr>
              <a:t>Back-end - Server</a:t>
            </a:r>
            <a:endParaRPr sz="1500">
              <a:solidFill>
                <a:srgbClr val="595959"/>
              </a:solidFill>
            </a:endParaRPr>
          </a:p>
          <a:p>
            <a:pPr indent="-3238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○"/>
            </a:pPr>
            <a:r>
              <a:rPr lang="en" sz="1500">
                <a:solidFill>
                  <a:srgbClr val="595959"/>
                </a:solidFill>
              </a:rPr>
              <a:t>NodeJS, ExpressJS</a:t>
            </a:r>
            <a:endParaRPr sz="1500">
              <a:solidFill>
                <a:srgbClr val="595959"/>
              </a:solidFill>
            </a:endParaRPr>
          </a:p>
          <a:p>
            <a:pPr indent="-3238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○"/>
            </a:pPr>
            <a:r>
              <a:rPr lang="en" sz="1500">
                <a:solidFill>
                  <a:srgbClr val="595959"/>
                </a:solidFill>
              </a:rPr>
              <a:t>MongoDB</a:t>
            </a:r>
            <a:endParaRPr sz="1500">
              <a:solidFill>
                <a:srgbClr val="595959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●"/>
            </a:pPr>
            <a:r>
              <a:rPr lang="en" sz="1500">
                <a:solidFill>
                  <a:srgbClr val="595959"/>
                </a:solidFill>
              </a:rPr>
              <a:t>Back-end - Blockchain</a:t>
            </a:r>
            <a:endParaRPr sz="1500">
              <a:solidFill>
                <a:srgbClr val="595959"/>
              </a:solidFill>
            </a:endParaRPr>
          </a:p>
          <a:p>
            <a:pPr indent="-3238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○"/>
            </a:pPr>
            <a:r>
              <a:rPr lang="en" sz="1500">
                <a:solidFill>
                  <a:srgbClr val="595959"/>
                </a:solidFill>
              </a:rPr>
              <a:t>Hyperledger fabric</a:t>
            </a:r>
            <a:endParaRPr sz="1500">
              <a:solidFill>
                <a:srgbClr val="595959"/>
              </a:solidFill>
            </a:endParaRPr>
          </a:p>
          <a:p>
            <a:pPr indent="-32385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■"/>
            </a:pPr>
            <a:r>
              <a:rPr lang="en" sz="1500">
                <a:solidFill>
                  <a:srgbClr val="595959"/>
                </a:solidFill>
              </a:rPr>
              <a:t>Git</a:t>
            </a:r>
            <a:endParaRPr sz="1500">
              <a:solidFill>
                <a:srgbClr val="595959"/>
              </a:solidFill>
            </a:endParaRPr>
          </a:p>
          <a:p>
            <a:pPr indent="-32385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■"/>
            </a:pPr>
            <a:r>
              <a:rPr lang="en" sz="1500">
                <a:solidFill>
                  <a:srgbClr val="595959"/>
                </a:solidFill>
              </a:rPr>
              <a:t>cURL</a:t>
            </a:r>
            <a:endParaRPr sz="1500">
              <a:solidFill>
                <a:srgbClr val="595959"/>
              </a:solidFill>
            </a:endParaRPr>
          </a:p>
          <a:p>
            <a:pPr indent="-32385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■"/>
            </a:pPr>
            <a:r>
              <a:rPr lang="en" sz="1500">
                <a:solidFill>
                  <a:srgbClr val="595959"/>
                </a:solidFill>
              </a:rPr>
              <a:t>Docker</a:t>
            </a:r>
            <a:endParaRPr sz="1500">
              <a:solidFill>
                <a:srgbClr val="595959"/>
              </a:solidFill>
            </a:endParaRPr>
          </a:p>
          <a:p>
            <a:pPr indent="-32385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■"/>
            </a:pPr>
            <a:r>
              <a:rPr lang="en" sz="1500">
                <a:solidFill>
                  <a:srgbClr val="595959"/>
                </a:solidFill>
              </a:rPr>
              <a:t>GO</a:t>
            </a:r>
            <a:endParaRPr sz="1500">
              <a:solidFill>
                <a:srgbClr val="595959"/>
              </a:solidFill>
            </a:endParaRPr>
          </a:p>
          <a:p>
            <a:pPr indent="-32385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■"/>
            </a:pPr>
            <a:r>
              <a:rPr lang="en" sz="1500">
                <a:solidFill>
                  <a:srgbClr val="595959"/>
                </a:solidFill>
              </a:rPr>
              <a:t>j</a:t>
            </a:r>
            <a:r>
              <a:rPr lang="en" sz="1500">
                <a:solidFill>
                  <a:srgbClr val="595959"/>
                </a:solidFill>
              </a:rPr>
              <a:t>k</a:t>
            </a:r>
            <a:endParaRPr sz="15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5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1018"/>
              <a:buNone/>
            </a:pPr>
            <a:r>
              <a:rPr lang="en" sz="1500" u="sng">
                <a:solidFill>
                  <a:srgbClr val="595959"/>
                </a:solidFill>
              </a:rPr>
              <a:t>Cost associated</a:t>
            </a:r>
            <a:r>
              <a:rPr lang="en" sz="1500">
                <a:solidFill>
                  <a:srgbClr val="595959"/>
                </a:solidFill>
              </a:rPr>
              <a:t>: None. (All the softwares and </a:t>
            </a:r>
            <a:r>
              <a:rPr lang="en" sz="1500">
                <a:solidFill>
                  <a:srgbClr val="595959"/>
                </a:solidFill>
              </a:rPr>
              <a:t>technology</a:t>
            </a:r>
            <a:r>
              <a:rPr lang="en" sz="1500">
                <a:solidFill>
                  <a:srgbClr val="595959"/>
                </a:solidFill>
              </a:rPr>
              <a:t> used are </a:t>
            </a:r>
            <a:r>
              <a:rPr lang="en" sz="1500">
                <a:solidFill>
                  <a:srgbClr val="595959"/>
                </a:solidFill>
              </a:rPr>
              <a:t>open</a:t>
            </a:r>
            <a:r>
              <a:rPr lang="en" sz="1500">
                <a:solidFill>
                  <a:srgbClr val="595959"/>
                </a:solidFill>
              </a:rPr>
              <a:t> source)</a:t>
            </a:r>
            <a:endParaRPr sz="1500">
              <a:solidFill>
                <a:srgbClr val="595959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5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/>
          <p:nvPr>
            <p:ph type="title"/>
          </p:nvPr>
        </p:nvSpPr>
        <p:spPr>
          <a:xfrm>
            <a:off x="457200" y="205978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</a:t>
            </a:r>
            <a:r>
              <a:rPr lang="en"/>
              <a:t> work</a:t>
            </a:r>
            <a:endParaRPr/>
          </a:p>
        </p:txBody>
      </p:sp>
      <p:sp>
        <p:nvSpPr>
          <p:cNvPr id="234" name="Google Shape;234;p40"/>
          <p:cNvSpPr txBox="1"/>
          <p:nvPr>
            <p:ph idx="1" type="body"/>
          </p:nvPr>
        </p:nvSpPr>
        <p:spPr>
          <a:xfrm>
            <a:off x="457200" y="914402"/>
            <a:ext cx="8229600" cy="3680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eriod"/>
            </a:pPr>
            <a:r>
              <a:rPr lang="en">
                <a:solidFill>
                  <a:srgbClr val="595959"/>
                </a:solidFill>
              </a:rPr>
              <a:t>Front-end</a:t>
            </a:r>
            <a:endParaRPr>
              <a:solidFill>
                <a:srgbClr val="595959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lphaLcPeriod"/>
            </a:pPr>
            <a:r>
              <a:rPr lang="en">
                <a:solidFill>
                  <a:srgbClr val="595959"/>
                </a:solidFill>
              </a:rPr>
              <a:t>Create 3 webpages - seller, buyer &amp; car history</a:t>
            </a:r>
            <a:endParaRPr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eriod"/>
            </a:pPr>
            <a:r>
              <a:rPr lang="en">
                <a:solidFill>
                  <a:srgbClr val="595959"/>
                </a:solidFill>
              </a:rPr>
              <a:t>Back-end - Server</a:t>
            </a:r>
            <a:endParaRPr>
              <a:solidFill>
                <a:srgbClr val="595959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lphaLcPeriod"/>
            </a:pPr>
            <a:r>
              <a:rPr lang="en">
                <a:solidFill>
                  <a:srgbClr val="595959"/>
                </a:solidFill>
              </a:rPr>
              <a:t>Route all the webpages</a:t>
            </a:r>
            <a:endParaRPr>
              <a:solidFill>
                <a:srgbClr val="595959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lphaLcPeriod"/>
            </a:pPr>
            <a:r>
              <a:rPr lang="en">
                <a:solidFill>
                  <a:srgbClr val="595959"/>
                </a:solidFill>
              </a:rPr>
              <a:t>Connect to database</a:t>
            </a:r>
            <a:endParaRPr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eriod"/>
            </a:pPr>
            <a:r>
              <a:rPr lang="en">
                <a:solidFill>
                  <a:srgbClr val="595959"/>
                </a:solidFill>
              </a:rPr>
              <a:t>Back-end - Blockchain</a:t>
            </a:r>
            <a:endParaRPr>
              <a:solidFill>
                <a:srgbClr val="595959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lphaLcPeriod"/>
            </a:pPr>
            <a:r>
              <a:rPr lang="en">
                <a:solidFill>
                  <a:srgbClr val="595959"/>
                </a:solidFill>
              </a:rPr>
              <a:t>Develope full network</a:t>
            </a:r>
            <a:endParaRPr>
              <a:solidFill>
                <a:srgbClr val="595959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lphaLcPeriod"/>
            </a:pPr>
            <a:r>
              <a:rPr lang="en">
                <a:solidFill>
                  <a:srgbClr val="595959"/>
                </a:solidFill>
              </a:rPr>
              <a:t>Deploy smart contracts</a:t>
            </a:r>
            <a:endParaRPr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eriod"/>
            </a:pPr>
            <a:r>
              <a:rPr lang="en">
                <a:solidFill>
                  <a:srgbClr val="595959"/>
                </a:solidFill>
              </a:rPr>
              <a:t>Integration 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>
            <p:ph type="title"/>
          </p:nvPr>
        </p:nvSpPr>
        <p:spPr>
          <a:xfrm>
            <a:off x="457200" y="2274753"/>
            <a:ext cx="8229600" cy="594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SN">
  <a:themeElements>
    <a:clrScheme name="SS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