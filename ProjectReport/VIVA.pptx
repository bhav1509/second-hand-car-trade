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B21FBC-CD1E-4340-89F5-D5FBE4A2B8EF}">
  <a:tblStyle styleId="{B2B21FBC-CD1E-4340-89F5-D5FBE4A2B8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f41efe2396_0_15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 name="Google Shape;71;g1f41efe2396_0_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f41efe2396_0_18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77" name="Google Shape;77;g1f41efe2396_0_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3e3f5d46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3e3f5d46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3e3f5d462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3e3f5d462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3e3f5d462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3e3f5d462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3e3f5d4625_0_3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900"/>
              </a:spcBef>
              <a:spcAft>
                <a:spcPts val="2900"/>
              </a:spcAft>
              <a:buNone/>
            </a:pPr>
            <a:r>
              <a:rPr lang="en"/>
              <a:t>A</a:t>
            </a:r>
            <a:endParaRPr/>
          </a:p>
        </p:txBody>
      </p:sp>
      <p:sp>
        <p:nvSpPr>
          <p:cNvPr id="105" name="Google Shape;105;g23e3f5d4625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3e3f5d4625_0_7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114" name="Google Shape;114;g23e3f5d4625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e3f5d462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3e3f5d462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3e3f5d462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3e3f5d462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3e3f5d462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3e3f5d462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3e3f5d462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3e3f5d462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3e3f5d462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3e3f5d462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3e3f5d462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3e3f5d462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3e7b2344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3e7b2344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3e3f5d462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3e3f5d462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3e7b23442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3e7b23442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e7b2344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3e7b2344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3e7b23442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3e7b23442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3e7b23442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3e7b23442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3e7b23442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3e7b23442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3e7b2344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3e7b2344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3e7b234422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3e7b234422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3e7b234422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3e7b234422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3e7b234422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3e7b234422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3e7b234422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3e7b234422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3e7b234422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3e7b234422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3e7b234422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3e7b234422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3e7b234422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3e7b234422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3e7b234422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3e7b234422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3e7b234422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3e7b234422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3e3f5d462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3e3f5d462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3e7b234422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3e7b234422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3e7b234422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3e7b234422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3e7b234422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3e7b234422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3e7b234422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3e7b234422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3e7b234422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3e7b234422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3e76407fdd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3e76407fdd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3e76407fd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3e76407fd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3e76407fdd_1_1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362" name="Google Shape;362;g23e76407fdd_1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f41efe2396_0_21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369" name="Google Shape;369;g1f41efe2396_0_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x">
  <p:cSld name="TITLE_AND_BODY">
    <p:spTree>
      <p:nvGrpSpPr>
        <p:cNvPr id="56" name="Shape 56"/>
        <p:cNvGrpSpPr/>
        <p:nvPr/>
      </p:nvGrpSpPr>
      <p:grpSpPr>
        <a:xfrm>
          <a:off x="0" y="0"/>
          <a:ext cx="0" cy="0"/>
          <a:chOff x="0" y="0"/>
          <a:chExt cx="0" cy="0"/>
        </a:xfrm>
      </p:grpSpPr>
      <p:pic>
        <p:nvPicPr>
          <p:cNvPr descr="Picture 11" id="57" name="Google Shape;57;p14"/>
          <p:cNvPicPr preferRelativeResize="0"/>
          <p:nvPr/>
        </p:nvPicPr>
        <p:blipFill rotWithShape="1">
          <a:blip r:embed="rId2">
            <a:alphaModFix/>
          </a:blip>
          <a:srcRect b="0" l="0" r="0" t="0"/>
          <a:stretch/>
        </p:blipFill>
        <p:spPr>
          <a:xfrm>
            <a:off x="1" y="4187426"/>
            <a:ext cx="9128125" cy="966791"/>
          </a:xfrm>
          <a:prstGeom prst="rect">
            <a:avLst/>
          </a:prstGeom>
          <a:noFill/>
          <a:ln>
            <a:noFill/>
          </a:ln>
        </p:spPr>
      </p:pic>
      <p:sp>
        <p:nvSpPr>
          <p:cNvPr id="58" name="Google Shape;58;p14"/>
          <p:cNvSpPr/>
          <p:nvPr/>
        </p:nvSpPr>
        <p:spPr>
          <a:xfrm>
            <a:off x="0" y="0"/>
            <a:ext cx="9144000" cy="1314600"/>
          </a:xfrm>
          <a:prstGeom prst="rect">
            <a:avLst/>
          </a:prstGeom>
          <a:solidFill>
            <a:srgbClr val="335295"/>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txBox="1"/>
          <p:nvPr>
            <p:ph type="title"/>
          </p:nvPr>
        </p:nvSpPr>
        <p:spPr>
          <a:xfrm>
            <a:off x="685800" y="1714500"/>
            <a:ext cx="7772400" cy="857400"/>
          </a:xfrm>
          <a:prstGeom prst="rect">
            <a:avLst/>
          </a:prstGeom>
          <a:noFill/>
          <a:ln>
            <a:noFill/>
          </a:ln>
        </p:spPr>
        <p:txBody>
          <a:bodyPr anchorCtr="0" anchor="ctr" bIns="34275" lIns="34275" spcFirstLastPara="1" rIns="34275" wrap="square" tIns="34275">
            <a:normAutofit/>
          </a:bodyPr>
          <a:lstStyle>
            <a:lvl1pPr lvl="0" rtl="0" algn="ctr">
              <a:lnSpc>
                <a:spcPct val="100000"/>
              </a:lnSpc>
              <a:spcBef>
                <a:spcPts val="0"/>
              </a:spcBef>
              <a:spcAft>
                <a:spcPts val="0"/>
              </a:spcAft>
              <a:buClr>
                <a:srgbClr val="1B57B5"/>
              </a:buClr>
              <a:buSzPts val="1400"/>
              <a:buNone/>
              <a:defRPr/>
            </a:lvl1pPr>
            <a:lvl2pPr lvl="1" rtl="0" algn="ctr">
              <a:lnSpc>
                <a:spcPct val="100000"/>
              </a:lnSpc>
              <a:spcBef>
                <a:spcPts val="0"/>
              </a:spcBef>
              <a:spcAft>
                <a:spcPts val="0"/>
              </a:spcAft>
              <a:buClr>
                <a:srgbClr val="1B57B5"/>
              </a:buClr>
              <a:buSzPts val="1400"/>
              <a:buNone/>
              <a:defRPr/>
            </a:lvl2pPr>
            <a:lvl3pPr lvl="2" rtl="0" algn="ctr">
              <a:lnSpc>
                <a:spcPct val="100000"/>
              </a:lnSpc>
              <a:spcBef>
                <a:spcPts val="0"/>
              </a:spcBef>
              <a:spcAft>
                <a:spcPts val="0"/>
              </a:spcAft>
              <a:buClr>
                <a:srgbClr val="1B57B5"/>
              </a:buClr>
              <a:buSzPts val="1400"/>
              <a:buNone/>
              <a:defRPr/>
            </a:lvl3pPr>
            <a:lvl4pPr lvl="3" rtl="0" algn="ctr">
              <a:lnSpc>
                <a:spcPct val="100000"/>
              </a:lnSpc>
              <a:spcBef>
                <a:spcPts val="0"/>
              </a:spcBef>
              <a:spcAft>
                <a:spcPts val="0"/>
              </a:spcAft>
              <a:buClr>
                <a:srgbClr val="1B57B5"/>
              </a:buClr>
              <a:buSzPts val="1400"/>
              <a:buNone/>
              <a:defRPr/>
            </a:lvl4pPr>
            <a:lvl5pPr lvl="4" rtl="0" algn="ctr">
              <a:lnSpc>
                <a:spcPct val="100000"/>
              </a:lnSpc>
              <a:spcBef>
                <a:spcPts val="0"/>
              </a:spcBef>
              <a:spcAft>
                <a:spcPts val="0"/>
              </a:spcAft>
              <a:buClr>
                <a:srgbClr val="1B57B5"/>
              </a:buClr>
              <a:buSzPts val="1400"/>
              <a:buNone/>
              <a:defRPr/>
            </a:lvl5pPr>
            <a:lvl6pPr lvl="5" rtl="0" algn="ctr">
              <a:lnSpc>
                <a:spcPct val="100000"/>
              </a:lnSpc>
              <a:spcBef>
                <a:spcPts val="0"/>
              </a:spcBef>
              <a:spcAft>
                <a:spcPts val="0"/>
              </a:spcAft>
              <a:buClr>
                <a:srgbClr val="1B57B5"/>
              </a:buClr>
              <a:buSzPts val="1400"/>
              <a:buNone/>
              <a:defRPr/>
            </a:lvl6pPr>
            <a:lvl7pPr lvl="6" rtl="0" algn="ctr">
              <a:lnSpc>
                <a:spcPct val="100000"/>
              </a:lnSpc>
              <a:spcBef>
                <a:spcPts val="0"/>
              </a:spcBef>
              <a:spcAft>
                <a:spcPts val="0"/>
              </a:spcAft>
              <a:buClr>
                <a:srgbClr val="1B57B5"/>
              </a:buClr>
              <a:buSzPts val="1400"/>
              <a:buNone/>
              <a:defRPr/>
            </a:lvl7pPr>
            <a:lvl8pPr lvl="7" rtl="0" algn="ctr">
              <a:lnSpc>
                <a:spcPct val="100000"/>
              </a:lnSpc>
              <a:spcBef>
                <a:spcPts val="0"/>
              </a:spcBef>
              <a:spcAft>
                <a:spcPts val="0"/>
              </a:spcAft>
              <a:buClr>
                <a:srgbClr val="1B57B5"/>
              </a:buClr>
              <a:buSzPts val="1400"/>
              <a:buNone/>
              <a:defRPr/>
            </a:lvl8pPr>
            <a:lvl9pPr lvl="8" rtl="0" algn="ctr">
              <a:lnSpc>
                <a:spcPct val="100000"/>
              </a:lnSpc>
              <a:spcBef>
                <a:spcPts val="0"/>
              </a:spcBef>
              <a:spcAft>
                <a:spcPts val="0"/>
              </a:spcAft>
              <a:buClr>
                <a:srgbClr val="1B57B5"/>
              </a:buClr>
              <a:buSzPts val="1400"/>
              <a:buNone/>
              <a:defRPr/>
            </a:lvl9pPr>
          </a:lstStyle>
          <a:p/>
        </p:txBody>
      </p:sp>
      <p:sp>
        <p:nvSpPr>
          <p:cNvPr id="60" name="Google Shape;60;p14"/>
          <p:cNvSpPr txBox="1"/>
          <p:nvPr>
            <p:ph idx="1" type="body"/>
          </p:nvPr>
        </p:nvSpPr>
        <p:spPr>
          <a:xfrm>
            <a:off x="1371600" y="2857500"/>
            <a:ext cx="6400800" cy="1314600"/>
          </a:xfrm>
          <a:prstGeom prst="rect">
            <a:avLst/>
          </a:prstGeom>
          <a:noFill/>
          <a:ln>
            <a:noFill/>
          </a:ln>
        </p:spPr>
        <p:txBody>
          <a:bodyPr anchorCtr="0" anchor="t" bIns="34275" lIns="34275" spcFirstLastPara="1" rIns="34275" wrap="square" tIns="34275">
            <a:normAutofit/>
          </a:bodyPr>
          <a:lstStyle>
            <a:lvl1pPr indent="-228600" lvl="0" marL="457200" rtl="0" algn="ctr">
              <a:lnSpc>
                <a:spcPct val="100000"/>
              </a:lnSpc>
              <a:spcBef>
                <a:spcPts val="500"/>
              </a:spcBef>
              <a:spcAft>
                <a:spcPts val="0"/>
              </a:spcAft>
              <a:buClr>
                <a:srgbClr val="808080"/>
              </a:buClr>
              <a:buSzPts val="2100"/>
              <a:buFont typeface="Arial"/>
              <a:buNone/>
              <a:defRPr sz="2100">
                <a:solidFill>
                  <a:srgbClr val="808080"/>
                </a:solidFill>
              </a:defRPr>
            </a:lvl1pPr>
            <a:lvl2pPr indent="-361950" lvl="1" marL="914400" rtl="0" algn="ctr">
              <a:lnSpc>
                <a:spcPct val="100000"/>
              </a:lnSpc>
              <a:spcBef>
                <a:spcPts val="500"/>
              </a:spcBef>
              <a:spcAft>
                <a:spcPts val="0"/>
              </a:spcAft>
              <a:buClr>
                <a:srgbClr val="808080"/>
              </a:buClr>
              <a:buSzPts val="2100"/>
              <a:buFont typeface="Arial"/>
              <a:buChar char="–"/>
              <a:defRPr sz="2100">
                <a:solidFill>
                  <a:srgbClr val="808080"/>
                </a:solidFill>
              </a:defRPr>
            </a:lvl2pPr>
            <a:lvl3pPr indent="-361950" lvl="2" marL="1371600" rtl="0" algn="ctr">
              <a:lnSpc>
                <a:spcPct val="100000"/>
              </a:lnSpc>
              <a:spcBef>
                <a:spcPts val="500"/>
              </a:spcBef>
              <a:spcAft>
                <a:spcPts val="0"/>
              </a:spcAft>
              <a:buClr>
                <a:srgbClr val="808080"/>
              </a:buClr>
              <a:buSzPts val="2100"/>
              <a:buFont typeface="Arial"/>
              <a:buChar char="•"/>
              <a:defRPr sz="2100">
                <a:solidFill>
                  <a:srgbClr val="808080"/>
                </a:solidFill>
              </a:defRPr>
            </a:lvl3pPr>
            <a:lvl4pPr indent="-361950" lvl="3" marL="1828800" rtl="0" algn="ctr">
              <a:lnSpc>
                <a:spcPct val="100000"/>
              </a:lnSpc>
              <a:spcBef>
                <a:spcPts val="500"/>
              </a:spcBef>
              <a:spcAft>
                <a:spcPts val="0"/>
              </a:spcAft>
              <a:buClr>
                <a:srgbClr val="808080"/>
              </a:buClr>
              <a:buSzPts val="2100"/>
              <a:buFont typeface="Arial"/>
              <a:buChar char="–"/>
              <a:defRPr sz="2100">
                <a:solidFill>
                  <a:srgbClr val="808080"/>
                </a:solidFill>
              </a:defRPr>
            </a:lvl4pPr>
            <a:lvl5pPr indent="-361950" lvl="4" marL="2286000" rtl="0" algn="ctr">
              <a:lnSpc>
                <a:spcPct val="100000"/>
              </a:lnSpc>
              <a:spcBef>
                <a:spcPts val="500"/>
              </a:spcBef>
              <a:spcAft>
                <a:spcPts val="0"/>
              </a:spcAft>
              <a:buClr>
                <a:srgbClr val="808080"/>
              </a:buClr>
              <a:buSzPts val="2100"/>
              <a:buFont typeface="Arial"/>
              <a:buChar char="»"/>
              <a:defRPr sz="2100">
                <a:solidFill>
                  <a:srgbClr val="808080"/>
                </a:solidFill>
              </a:defRPr>
            </a:lvl5pPr>
            <a:lvl6pPr indent="-317500" lvl="5" marL="2743200" rtl="0" algn="l">
              <a:lnSpc>
                <a:spcPct val="100000"/>
              </a:lnSpc>
              <a:spcBef>
                <a:spcPts val="400"/>
              </a:spcBef>
              <a:spcAft>
                <a:spcPts val="0"/>
              </a:spcAft>
              <a:buClr>
                <a:srgbClr val="0000FF"/>
              </a:buClr>
              <a:buSzPts val="1400"/>
              <a:buChar char="»"/>
              <a:defRPr/>
            </a:lvl6pPr>
            <a:lvl7pPr indent="-317500" lvl="6" marL="3200400" rtl="0" algn="l">
              <a:lnSpc>
                <a:spcPct val="100000"/>
              </a:lnSpc>
              <a:spcBef>
                <a:spcPts val="400"/>
              </a:spcBef>
              <a:spcAft>
                <a:spcPts val="0"/>
              </a:spcAft>
              <a:buClr>
                <a:srgbClr val="0000FF"/>
              </a:buClr>
              <a:buSzPts val="1400"/>
              <a:buChar char="»"/>
              <a:defRPr/>
            </a:lvl7pPr>
            <a:lvl8pPr indent="-317500" lvl="7" marL="3657600" rtl="0" algn="l">
              <a:lnSpc>
                <a:spcPct val="100000"/>
              </a:lnSpc>
              <a:spcBef>
                <a:spcPts val="400"/>
              </a:spcBef>
              <a:spcAft>
                <a:spcPts val="0"/>
              </a:spcAft>
              <a:buClr>
                <a:srgbClr val="0000FF"/>
              </a:buClr>
              <a:buSzPts val="1400"/>
              <a:buChar char="»"/>
              <a:defRPr/>
            </a:lvl8pPr>
            <a:lvl9pPr indent="-317500" lvl="8" marL="4114800" rtl="0" algn="l">
              <a:lnSpc>
                <a:spcPct val="100000"/>
              </a:lnSpc>
              <a:spcBef>
                <a:spcPts val="400"/>
              </a:spcBef>
              <a:spcAft>
                <a:spcPts val="0"/>
              </a:spcAft>
              <a:buClr>
                <a:srgbClr val="0000FF"/>
              </a:buClr>
              <a:buSzPts val="1400"/>
              <a:buChar char="»"/>
              <a:defRPr/>
            </a:lvl9pPr>
          </a:lstStyle>
          <a:p/>
        </p:txBody>
      </p:sp>
      <p:sp>
        <p:nvSpPr>
          <p:cNvPr id="61" name="Google Shape;61;p14"/>
          <p:cNvSpPr txBox="1"/>
          <p:nvPr>
            <p:ph idx="12" type="sldNum"/>
          </p:nvPr>
        </p:nvSpPr>
        <p:spPr>
          <a:xfrm>
            <a:off x="4419600" y="4629150"/>
            <a:ext cx="2133600" cy="207900"/>
          </a:xfrm>
          <a:prstGeom prst="rect">
            <a:avLst/>
          </a:prstGeom>
          <a:no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b="1" sz="1200">
              <a:solidFill>
                <a:schemeClr val="accent2"/>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2" name="Shape 62"/>
        <p:cNvGrpSpPr/>
        <p:nvPr/>
      </p:nvGrpSpPr>
      <p:grpSpPr>
        <a:xfrm>
          <a:off x="0" y="0"/>
          <a:ext cx="0" cy="0"/>
          <a:chOff x="0" y="0"/>
          <a:chExt cx="0" cy="0"/>
        </a:xfrm>
      </p:grpSpPr>
      <p:sp>
        <p:nvSpPr>
          <p:cNvPr id="63" name="Google Shape;63;p15"/>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
        <p:nvSpPr>
          <p:cNvPr id="64" name="Google Shape;64;p15"/>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lvl1pPr lvl="0" rtl="0" algn="ctr">
              <a:lnSpc>
                <a:spcPct val="100000"/>
              </a:lnSpc>
              <a:spcBef>
                <a:spcPts val="0"/>
              </a:spcBef>
              <a:spcAft>
                <a:spcPts val="0"/>
              </a:spcAft>
              <a:buClr>
                <a:srgbClr val="1B57B5"/>
              </a:buClr>
              <a:buSzPts val="1400"/>
              <a:buNone/>
              <a:defRPr/>
            </a:lvl1pPr>
            <a:lvl2pPr lvl="1" rtl="0" algn="ctr">
              <a:lnSpc>
                <a:spcPct val="100000"/>
              </a:lnSpc>
              <a:spcBef>
                <a:spcPts val="0"/>
              </a:spcBef>
              <a:spcAft>
                <a:spcPts val="0"/>
              </a:spcAft>
              <a:buClr>
                <a:srgbClr val="1B57B5"/>
              </a:buClr>
              <a:buSzPts val="1400"/>
              <a:buNone/>
              <a:defRPr/>
            </a:lvl2pPr>
            <a:lvl3pPr lvl="2" rtl="0" algn="ctr">
              <a:lnSpc>
                <a:spcPct val="100000"/>
              </a:lnSpc>
              <a:spcBef>
                <a:spcPts val="0"/>
              </a:spcBef>
              <a:spcAft>
                <a:spcPts val="0"/>
              </a:spcAft>
              <a:buClr>
                <a:srgbClr val="1B57B5"/>
              </a:buClr>
              <a:buSzPts val="1400"/>
              <a:buNone/>
              <a:defRPr/>
            </a:lvl3pPr>
            <a:lvl4pPr lvl="3" rtl="0" algn="ctr">
              <a:lnSpc>
                <a:spcPct val="100000"/>
              </a:lnSpc>
              <a:spcBef>
                <a:spcPts val="0"/>
              </a:spcBef>
              <a:spcAft>
                <a:spcPts val="0"/>
              </a:spcAft>
              <a:buClr>
                <a:srgbClr val="1B57B5"/>
              </a:buClr>
              <a:buSzPts val="1400"/>
              <a:buNone/>
              <a:defRPr/>
            </a:lvl4pPr>
            <a:lvl5pPr lvl="4" rtl="0" algn="ctr">
              <a:lnSpc>
                <a:spcPct val="100000"/>
              </a:lnSpc>
              <a:spcBef>
                <a:spcPts val="0"/>
              </a:spcBef>
              <a:spcAft>
                <a:spcPts val="0"/>
              </a:spcAft>
              <a:buClr>
                <a:srgbClr val="1B57B5"/>
              </a:buClr>
              <a:buSzPts val="1400"/>
              <a:buNone/>
              <a:defRPr/>
            </a:lvl5pPr>
            <a:lvl6pPr lvl="5" rtl="0" algn="ctr">
              <a:lnSpc>
                <a:spcPct val="100000"/>
              </a:lnSpc>
              <a:spcBef>
                <a:spcPts val="0"/>
              </a:spcBef>
              <a:spcAft>
                <a:spcPts val="0"/>
              </a:spcAft>
              <a:buClr>
                <a:srgbClr val="1B57B5"/>
              </a:buClr>
              <a:buSzPts val="1400"/>
              <a:buNone/>
              <a:defRPr/>
            </a:lvl6pPr>
            <a:lvl7pPr lvl="6" rtl="0" algn="ctr">
              <a:lnSpc>
                <a:spcPct val="100000"/>
              </a:lnSpc>
              <a:spcBef>
                <a:spcPts val="0"/>
              </a:spcBef>
              <a:spcAft>
                <a:spcPts val="0"/>
              </a:spcAft>
              <a:buClr>
                <a:srgbClr val="1B57B5"/>
              </a:buClr>
              <a:buSzPts val="1400"/>
              <a:buNone/>
              <a:defRPr/>
            </a:lvl7pPr>
            <a:lvl8pPr lvl="7" rtl="0" algn="ctr">
              <a:lnSpc>
                <a:spcPct val="100000"/>
              </a:lnSpc>
              <a:spcBef>
                <a:spcPts val="0"/>
              </a:spcBef>
              <a:spcAft>
                <a:spcPts val="0"/>
              </a:spcAft>
              <a:buClr>
                <a:srgbClr val="1B57B5"/>
              </a:buClr>
              <a:buSzPts val="1400"/>
              <a:buNone/>
              <a:defRPr/>
            </a:lvl8pPr>
            <a:lvl9pPr lvl="8" rtl="0" algn="ctr">
              <a:lnSpc>
                <a:spcPct val="100000"/>
              </a:lnSpc>
              <a:spcBef>
                <a:spcPts val="0"/>
              </a:spcBef>
              <a:spcAft>
                <a:spcPts val="0"/>
              </a:spcAft>
              <a:buClr>
                <a:srgbClr val="1B57B5"/>
              </a:buClr>
              <a:buSzPts val="1400"/>
              <a:buNone/>
              <a:defRPr/>
            </a:lvl9pPr>
          </a:lstStyle>
          <a:p/>
        </p:txBody>
      </p:sp>
      <p:sp>
        <p:nvSpPr>
          <p:cNvPr id="65" name="Google Shape;65;p15"/>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rmAutofit/>
          </a:bodyPr>
          <a:lstStyle>
            <a:lvl1pPr indent="-317500" lvl="0" marL="457200" rtl="0" algn="l">
              <a:lnSpc>
                <a:spcPct val="100000"/>
              </a:lnSpc>
              <a:spcBef>
                <a:spcPts val="400"/>
              </a:spcBef>
              <a:spcAft>
                <a:spcPts val="0"/>
              </a:spcAft>
              <a:buClr>
                <a:srgbClr val="0000FF"/>
              </a:buClr>
              <a:buSzPts val="1400"/>
              <a:buChar char="•"/>
              <a:defRPr/>
            </a:lvl1pPr>
            <a:lvl2pPr indent="-317500" lvl="1" marL="914400" rtl="0" algn="l">
              <a:lnSpc>
                <a:spcPct val="100000"/>
              </a:lnSpc>
              <a:spcBef>
                <a:spcPts val="400"/>
              </a:spcBef>
              <a:spcAft>
                <a:spcPts val="0"/>
              </a:spcAft>
              <a:buClr>
                <a:srgbClr val="0000FF"/>
              </a:buClr>
              <a:buSzPts val="1400"/>
              <a:buChar char="–"/>
              <a:defRPr/>
            </a:lvl2pPr>
            <a:lvl3pPr indent="-317500" lvl="2" marL="1371600" rtl="0" algn="l">
              <a:lnSpc>
                <a:spcPct val="100000"/>
              </a:lnSpc>
              <a:spcBef>
                <a:spcPts val="400"/>
              </a:spcBef>
              <a:spcAft>
                <a:spcPts val="0"/>
              </a:spcAft>
              <a:buClr>
                <a:srgbClr val="0000FF"/>
              </a:buClr>
              <a:buSzPts val="1400"/>
              <a:buChar char="•"/>
              <a:defRPr/>
            </a:lvl3pPr>
            <a:lvl4pPr indent="-317500" lvl="3" marL="1828800" rtl="0" algn="l">
              <a:lnSpc>
                <a:spcPct val="100000"/>
              </a:lnSpc>
              <a:spcBef>
                <a:spcPts val="400"/>
              </a:spcBef>
              <a:spcAft>
                <a:spcPts val="0"/>
              </a:spcAft>
              <a:buClr>
                <a:srgbClr val="0000FF"/>
              </a:buClr>
              <a:buSzPts val="1400"/>
              <a:buChar char="–"/>
              <a:defRPr/>
            </a:lvl4pPr>
            <a:lvl5pPr indent="-317500" lvl="4" marL="2286000" rtl="0" algn="l">
              <a:lnSpc>
                <a:spcPct val="100000"/>
              </a:lnSpc>
              <a:spcBef>
                <a:spcPts val="400"/>
              </a:spcBef>
              <a:spcAft>
                <a:spcPts val="0"/>
              </a:spcAft>
              <a:buClr>
                <a:srgbClr val="0000FF"/>
              </a:buClr>
              <a:buSzPts val="1400"/>
              <a:buChar char="»"/>
              <a:defRPr/>
            </a:lvl5pPr>
            <a:lvl6pPr indent="-317500" lvl="5" marL="2743200" rtl="0" algn="l">
              <a:lnSpc>
                <a:spcPct val="100000"/>
              </a:lnSpc>
              <a:spcBef>
                <a:spcPts val="400"/>
              </a:spcBef>
              <a:spcAft>
                <a:spcPts val="0"/>
              </a:spcAft>
              <a:buClr>
                <a:srgbClr val="0000FF"/>
              </a:buClr>
              <a:buSzPts val="1400"/>
              <a:buChar char="»"/>
              <a:defRPr/>
            </a:lvl6pPr>
            <a:lvl7pPr indent="-317500" lvl="6" marL="3200400" rtl="0" algn="l">
              <a:lnSpc>
                <a:spcPct val="100000"/>
              </a:lnSpc>
              <a:spcBef>
                <a:spcPts val="400"/>
              </a:spcBef>
              <a:spcAft>
                <a:spcPts val="0"/>
              </a:spcAft>
              <a:buClr>
                <a:srgbClr val="0000FF"/>
              </a:buClr>
              <a:buSzPts val="1400"/>
              <a:buChar char="»"/>
              <a:defRPr/>
            </a:lvl7pPr>
            <a:lvl8pPr indent="-317500" lvl="7" marL="3657600" rtl="0" algn="l">
              <a:lnSpc>
                <a:spcPct val="100000"/>
              </a:lnSpc>
              <a:spcBef>
                <a:spcPts val="400"/>
              </a:spcBef>
              <a:spcAft>
                <a:spcPts val="0"/>
              </a:spcAft>
              <a:buClr>
                <a:srgbClr val="0000FF"/>
              </a:buClr>
              <a:buSzPts val="1400"/>
              <a:buChar char="»"/>
              <a:defRPr/>
            </a:lvl8pPr>
            <a:lvl9pPr indent="-317500" lvl="8" marL="4114800" rtl="0" algn="l">
              <a:lnSpc>
                <a:spcPct val="100000"/>
              </a:lnSpc>
              <a:spcBef>
                <a:spcPts val="400"/>
              </a:spcBef>
              <a:spcAft>
                <a:spcPts val="0"/>
              </a:spcAft>
              <a:buClr>
                <a:srgbClr val="0000FF"/>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66" name="Shape 66"/>
        <p:cNvGrpSpPr/>
        <p:nvPr/>
      </p:nvGrpSpPr>
      <p:grpSpPr>
        <a:xfrm>
          <a:off x="0" y="0"/>
          <a:ext cx="0" cy="0"/>
          <a:chOff x="0" y="0"/>
          <a:chExt cx="0" cy="0"/>
        </a:xfrm>
      </p:grpSpPr>
      <p:pic>
        <p:nvPicPr>
          <p:cNvPr descr="Picture 21" id="67" name="Google Shape;67;p16"/>
          <p:cNvPicPr preferRelativeResize="0"/>
          <p:nvPr/>
        </p:nvPicPr>
        <p:blipFill rotWithShape="1">
          <a:blip r:embed="rId2">
            <a:alphaModFix/>
          </a:blip>
          <a:srcRect b="0" l="0" r="0" t="0"/>
          <a:stretch/>
        </p:blipFill>
        <p:spPr>
          <a:xfrm>
            <a:off x="1" y="4176545"/>
            <a:ext cx="9142413" cy="966956"/>
          </a:xfrm>
          <a:prstGeom prst="rect">
            <a:avLst/>
          </a:prstGeom>
          <a:noFill/>
          <a:ln>
            <a:noFill/>
          </a:ln>
        </p:spPr>
      </p:pic>
      <p:sp>
        <p:nvSpPr>
          <p:cNvPr id="68" name="Google Shape;68;p16"/>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pic>
        <p:nvPicPr>
          <p:cNvPr descr="Picture 21" id="51" name="Google Shape;51;p13"/>
          <p:cNvPicPr preferRelativeResize="0"/>
          <p:nvPr/>
        </p:nvPicPr>
        <p:blipFill rotWithShape="1">
          <a:blip r:embed="rId1">
            <a:alphaModFix/>
          </a:blip>
          <a:srcRect b="0" l="0" r="0" t="0"/>
          <a:stretch/>
        </p:blipFill>
        <p:spPr>
          <a:xfrm>
            <a:off x="1" y="4176545"/>
            <a:ext cx="9142413" cy="966956"/>
          </a:xfrm>
          <a:prstGeom prst="rect">
            <a:avLst/>
          </a:prstGeom>
          <a:noFill/>
          <a:ln>
            <a:noFill/>
          </a:ln>
        </p:spPr>
      </p:pic>
      <p:sp>
        <p:nvSpPr>
          <p:cNvPr id="52" name="Google Shape;52;p13"/>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b="0" sz="1100">
              <a:solidFill>
                <a:srgbClr val="000000"/>
              </a:solidFill>
              <a:latin typeface="Arial"/>
              <a:ea typeface="Arial"/>
              <a:cs typeface="Arial"/>
              <a:sym typeface="Arial"/>
            </a:endParaRPr>
          </a:p>
        </p:txBody>
      </p:sp>
      <p:cxnSp>
        <p:nvCxnSpPr>
          <p:cNvPr id="53" name="Google Shape;53;p13"/>
          <p:cNvCxnSpPr/>
          <p:nvPr/>
        </p:nvCxnSpPr>
        <p:spPr>
          <a:xfrm>
            <a:off x="457200" y="800100"/>
            <a:ext cx="8229600" cy="1200"/>
          </a:xfrm>
          <a:prstGeom prst="straightConnector1">
            <a:avLst/>
          </a:prstGeom>
          <a:noFill/>
          <a:ln cap="flat" cmpd="sng" w="9525">
            <a:solidFill>
              <a:srgbClr val="B7E3E7"/>
            </a:solidFill>
            <a:prstDash val="solid"/>
            <a:round/>
            <a:headEnd len="sm" w="sm" type="none"/>
            <a:tailEnd len="sm" w="sm" type="none"/>
          </a:ln>
        </p:spPr>
      </p:cxnSp>
      <p:sp>
        <p:nvSpPr>
          <p:cNvPr id="54" name="Google Shape;54;p13"/>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lvl1pPr lvl="0"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1pPr>
            <a:lvl2pPr lvl="1"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2pPr>
            <a:lvl3pPr lvl="2"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3pPr>
            <a:lvl4pPr lvl="3"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4pPr>
            <a:lvl5pPr lvl="4"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5pPr>
            <a:lvl6pPr lvl="5"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6pPr>
            <a:lvl7pPr lvl="6"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7pPr>
            <a:lvl8pPr lvl="7"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8pPr>
            <a:lvl9pPr lvl="8"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9pPr>
          </a:lstStyle>
          <a:p/>
        </p:txBody>
      </p:sp>
      <p:sp>
        <p:nvSpPr>
          <p:cNvPr id="55" name="Google Shape;55;p13"/>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rmAutofit/>
          </a:bodyPr>
          <a:lstStyle>
            <a:lvl1pPr indent="-342900" lvl="0" marL="4572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1pPr>
            <a:lvl2pPr indent="-342900" lvl="1" marL="9144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2pPr>
            <a:lvl3pPr indent="-342900" lvl="2" marL="13716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3pPr>
            <a:lvl4pPr indent="-342900" lvl="3" marL="18288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4pPr>
            <a:lvl5pPr indent="-342900" lvl="4" marL="22860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5pPr>
            <a:lvl6pPr indent="-342900" lvl="5" marL="27432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6pPr>
            <a:lvl7pPr indent="-342900" lvl="6" marL="32004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7pPr>
            <a:lvl8pPr indent="-342900" lvl="7" marL="36576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8pPr>
            <a:lvl9pPr indent="-342900" lvl="8" marL="41148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ph type="title"/>
          </p:nvPr>
        </p:nvSpPr>
        <p:spPr>
          <a:xfrm>
            <a:off x="685800" y="1419875"/>
            <a:ext cx="7772400" cy="8574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SECOND HAND CAR TRADE USING BLOCKCHAIN</a:t>
            </a:r>
            <a:endParaRPr sz="2500"/>
          </a:p>
        </p:txBody>
      </p:sp>
      <p:sp>
        <p:nvSpPr>
          <p:cNvPr id="74" name="Google Shape;74;p17"/>
          <p:cNvSpPr txBox="1"/>
          <p:nvPr>
            <p:ph idx="1" type="body"/>
          </p:nvPr>
        </p:nvSpPr>
        <p:spPr>
          <a:xfrm>
            <a:off x="1371600" y="2571750"/>
            <a:ext cx="6400800" cy="1314600"/>
          </a:xfrm>
          <a:prstGeom prst="rect">
            <a:avLst/>
          </a:prstGeom>
          <a:noFill/>
          <a:ln>
            <a:noFill/>
          </a:ln>
        </p:spPr>
        <p:txBody>
          <a:bodyPr anchorCtr="0" anchor="t" bIns="34275" lIns="34275" spcFirstLastPara="1" rIns="34275" wrap="square" tIns="34275">
            <a:noAutofit/>
          </a:bodyPr>
          <a:lstStyle/>
          <a:p>
            <a:pPr indent="0" lvl="0" marL="0" rtl="0" algn="ctr">
              <a:lnSpc>
                <a:spcPct val="80000"/>
              </a:lnSpc>
              <a:spcBef>
                <a:spcPts val="0"/>
              </a:spcBef>
              <a:spcAft>
                <a:spcPts val="0"/>
              </a:spcAft>
              <a:buClr>
                <a:srgbClr val="808080"/>
              </a:buClr>
              <a:buSzPts val="1110"/>
              <a:buFont typeface="Arial"/>
              <a:buNone/>
            </a:pPr>
            <a:r>
              <a:rPr lang="en" sz="1500"/>
              <a:t>By:</a:t>
            </a:r>
            <a:endParaRPr sz="1500"/>
          </a:p>
          <a:p>
            <a:pPr indent="0" lvl="0" marL="0" rtl="0" algn="ctr">
              <a:lnSpc>
                <a:spcPct val="80000"/>
              </a:lnSpc>
              <a:spcBef>
                <a:spcPts val="200"/>
              </a:spcBef>
              <a:spcAft>
                <a:spcPts val="0"/>
              </a:spcAft>
              <a:buClr>
                <a:srgbClr val="808080"/>
              </a:buClr>
              <a:buSzPts val="1110"/>
              <a:buFont typeface="Arial"/>
              <a:buNone/>
            </a:pPr>
            <a:r>
              <a:rPr lang="en" sz="1500"/>
              <a:t>Arun Pradeep		195002014</a:t>
            </a:r>
            <a:endParaRPr sz="1500"/>
          </a:p>
          <a:p>
            <a:pPr indent="0" lvl="0" marL="0" rtl="0" algn="ctr">
              <a:lnSpc>
                <a:spcPct val="80000"/>
              </a:lnSpc>
              <a:spcBef>
                <a:spcPts val="200"/>
              </a:spcBef>
              <a:spcAft>
                <a:spcPts val="0"/>
              </a:spcAft>
              <a:buClr>
                <a:srgbClr val="808080"/>
              </a:buClr>
              <a:buSzPts val="1110"/>
              <a:buFont typeface="Arial"/>
              <a:buNone/>
            </a:pPr>
            <a:r>
              <a:rPr lang="en" sz="1500"/>
              <a:t>Bhavna Magendiran	195002021</a:t>
            </a:r>
            <a:endParaRPr sz="1500"/>
          </a:p>
          <a:p>
            <a:pPr indent="0" lvl="0" marL="0" rtl="0" algn="ctr">
              <a:lnSpc>
                <a:spcPct val="80000"/>
              </a:lnSpc>
              <a:spcBef>
                <a:spcPts val="200"/>
              </a:spcBef>
              <a:spcAft>
                <a:spcPts val="0"/>
              </a:spcAft>
              <a:buClr>
                <a:srgbClr val="808080"/>
              </a:buClr>
              <a:buSzPts val="1110"/>
              <a:buFont typeface="Arial"/>
              <a:buNone/>
            </a:pPr>
            <a:r>
              <a:t/>
            </a:r>
            <a:endParaRPr sz="1500"/>
          </a:p>
          <a:p>
            <a:pPr indent="0" lvl="0" marL="0" rtl="0" algn="ctr">
              <a:lnSpc>
                <a:spcPct val="80000"/>
              </a:lnSpc>
              <a:spcBef>
                <a:spcPts val="200"/>
              </a:spcBef>
              <a:spcAft>
                <a:spcPts val="0"/>
              </a:spcAft>
              <a:buClr>
                <a:srgbClr val="808080"/>
              </a:buClr>
              <a:buSzPts val="1110"/>
              <a:buFont typeface="Arial"/>
              <a:buNone/>
            </a:pPr>
            <a:r>
              <a:rPr lang="en" sz="1500"/>
              <a:t>Guided by:</a:t>
            </a:r>
            <a:endParaRPr sz="1500"/>
          </a:p>
          <a:p>
            <a:pPr indent="0" lvl="0" marL="0" rtl="0" algn="ctr">
              <a:lnSpc>
                <a:spcPct val="80000"/>
              </a:lnSpc>
              <a:spcBef>
                <a:spcPts val="200"/>
              </a:spcBef>
              <a:spcAft>
                <a:spcPts val="0"/>
              </a:spcAft>
              <a:buClr>
                <a:srgbClr val="808080"/>
              </a:buClr>
              <a:buSzPts val="1110"/>
              <a:buFont typeface="Arial"/>
              <a:buNone/>
            </a:pPr>
            <a:r>
              <a:rPr lang="en" sz="1500">
                <a:highlight>
                  <a:srgbClr val="FFFFFF"/>
                </a:highlight>
              </a:rPr>
              <a:t>Dr. S. Mohanavalli</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a:t>OUTLINE</a:t>
            </a:r>
            <a:endParaRPr/>
          </a:p>
        </p:txBody>
      </p:sp>
      <p:sp>
        <p:nvSpPr>
          <p:cNvPr id="80" name="Google Shape;80;p18"/>
          <p:cNvSpPr txBox="1"/>
          <p:nvPr>
            <p:ph idx="1" type="body"/>
          </p:nvPr>
        </p:nvSpPr>
        <p:spPr>
          <a:xfrm>
            <a:off x="457200" y="914400"/>
            <a:ext cx="4833900" cy="3680100"/>
          </a:xfrm>
          <a:prstGeom prst="rect">
            <a:avLst/>
          </a:prstGeom>
          <a:noFill/>
          <a:ln>
            <a:noFill/>
          </a:ln>
        </p:spPr>
        <p:txBody>
          <a:bodyPr anchorCtr="0" anchor="t" bIns="34275" lIns="34275" spcFirstLastPara="1" rIns="34275" wrap="square" tIns="34275">
            <a:normAutofit lnSpcReduction="10000"/>
          </a:bodyPr>
          <a:lstStyle/>
          <a:p>
            <a:pPr indent="-323850" lvl="0" marL="457200" rtl="0" algn="l">
              <a:lnSpc>
                <a:spcPct val="115000"/>
              </a:lnSpc>
              <a:spcBef>
                <a:spcPts val="0"/>
              </a:spcBef>
              <a:spcAft>
                <a:spcPts val="0"/>
              </a:spcAft>
              <a:buClr>
                <a:srgbClr val="595959"/>
              </a:buClr>
              <a:buSzPts val="1500"/>
              <a:buChar char="●"/>
            </a:pPr>
            <a:r>
              <a:rPr lang="en" sz="1500">
                <a:solidFill>
                  <a:srgbClr val="595959"/>
                </a:solidFill>
              </a:rPr>
              <a:t>Introduction - Motivation</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Second Hand Car Trade</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Blockchain</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Problem Statement</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Technology Assessment</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Which Blockchain?</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Consensus Algorithm</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Proposed Model</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Implementation</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Result</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Literature Survey</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Conclusion</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Challenges</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Future Scope</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References</a:t>
            </a:r>
            <a:endParaRPr sz="1500">
              <a:solidFill>
                <a:srgbClr val="595959"/>
              </a:solidFill>
            </a:endParaRPr>
          </a:p>
        </p:txBody>
      </p:sp>
      <p:sp>
        <p:nvSpPr>
          <p:cNvPr id="81" name="Google Shape;81;p1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87" name="Google Shape;87;p19"/>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INTRODUCTION - MOTIVATION</a:t>
            </a:r>
            <a:endParaRPr/>
          </a:p>
        </p:txBody>
      </p:sp>
      <p:sp>
        <p:nvSpPr>
          <p:cNvPr id="88" name="Google Shape;88;p19"/>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Clr>
                <a:schemeClr val="dk1"/>
              </a:buClr>
              <a:buSzPts val="1100"/>
              <a:buFont typeface="Arial"/>
              <a:buNone/>
            </a:pPr>
            <a:r>
              <a:rPr b="1" lang="en" sz="2000">
                <a:solidFill>
                  <a:srgbClr val="595959"/>
                </a:solidFill>
              </a:rPr>
              <a:t>SECOND HAND CAR TRADE</a:t>
            </a:r>
            <a:endParaRPr b="1" sz="2000">
              <a:solidFill>
                <a:srgbClr val="595959"/>
              </a:solidFill>
            </a:endParaRPr>
          </a:p>
          <a:p>
            <a:pPr indent="0" lvl="0" marL="0" rtl="0" algn="l">
              <a:lnSpc>
                <a:spcPct val="115000"/>
              </a:lnSpc>
              <a:spcBef>
                <a:spcPts val="400"/>
              </a:spcBef>
              <a:spcAft>
                <a:spcPts val="0"/>
              </a:spcAft>
              <a:buClr>
                <a:schemeClr val="dk1"/>
              </a:buClr>
              <a:buSzPts val="1100"/>
              <a:buFont typeface="Arial"/>
              <a:buNone/>
            </a:pPr>
            <a:r>
              <a:t/>
            </a:r>
            <a:endParaRPr sz="1400">
              <a:solidFill>
                <a:srgbClr val="595959"/>
              </a:solidFill>
            </a:endParaRPr>
          </a:p>
          <a:p>
            <a:pPr indent="-342900" lvl="0" marL="457200" rtl="0" algn="l">
              <a:lnSpc>
                <a:spcPct val="115000"/>
              </a:lnSpc>
              <a:spcBef>
                <a:spcPts val="400"/>
              </a:spcBef>
              <a:spcAft>
                <a:spcPts val="0"/>
              </a:spcAft>
              <a:buClr>
                <a:srgbClr val="595959"/>
              </a:buClr>
              <a:buSzPts val="1800"/>
              <a:buChar char="●"/>
            </a:pPr>
            <a:r>
              <a:rPr lang="en">
                <a:solidFill>
                  <a:srgbClr val="595959"/>
                </a:solidFill>
              </a:rPr>
              <a:t>Why? (Scope)</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Primary motivation: Pre-owned car ownership cost is cheaper than new ones.</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Pandemic situation: People started preferring individual mobility.</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Trends in India: Growing middle class, young population and steady increase in disposable income.</a:t>
            </a:r>
            <a:endParaRPr sz="1400">
              <a:solidFill>
                <a:srgbClr val="595959"/>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a:solidFill>
                  <a:srgbClr val="595959"/>
                </a:solidFill>
              </a:rPr>
              <a:t>Traditional method - Disadvantages</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Data asymmetry between buyer and seller</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Lack of trust</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Tedious paperwork</a:t>
            </a:r>
            <a:endParaRPr sz="140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94" name="Google Shape;94;p2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INTRODUCTION - MOTIVATION</a:t>
            </a:r>
            <a:endParaRPr/>
          </a:p>
        </p:txBody>
      </p:sp>
      <p:sp>
        <p:nvSpPr>
          <p:cNvPr id="95" name="Google Shape;95;p20"/>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0"/>
              </a:spcBef>
              <a:spcAft>
                <a:spcPts val="0"/>
              </a:spcAft>
              <a:buClr>
                <a:schemeClr val="dk1"/>
              </a:buClr>
              <a:buSzPts val="1100"/>
              <a:buFont typeface="Arial"/>
              <a:buNone/>
            </a:pPr>
            <a:r>
              <a:rPr b="1" lang="en" sz="2000">
                <a:solidFill>
                  <a:srgbClr val="595959"/>
                </a:solidFill>
              </a:rPr>
              <a:t>BLOCKCHAIN</a:t>
            </a:r>
            <a:endParaRPr b="1" sz="2000">
              <a:solidFill>
                <a:srgbClr val="595959"/>
              </a:solidFill>
            </a:endParaRPr>
          </a:p>
          <a:p>
            <a:pPr indent="0" lvl="0" marL="0" rtl="0" algn="l">
              <a:lnSpc>
                <a:spcPct val="150000"/>
              </a:lnSpc>
              <a:spcBef>
                <a:spcPts val="0"/>
              </a:spcBef>
              <a:spcAft>
                <a:spcPts val="0"/>
              </a:spcAft>
              <a:buClr>
                <a:schemeClr val="dk1"/>
              </a:buClr>
              <a:buSzPts val="1100"/>
              <a:buFont typeface="Arial"/>
              <a:buNone/>
            </a:pPr>
            <a:r>
              <a:t/>
            </a:r>
            <a:endParaRPr sz="1400">
              <a:solidFill>
                <a:srgbClr val="595959"/>
              </a:solidFill>
            </a:endParaRPr>
          </a:p>
          <a:p>
            <a:pPr indent="-342900" lvl="0" marL="457200" rtl="0" algn="l">
              <a:lnSpc>
                <a:spcPct val="150000"/>
              </a:lnSpc>
              <a:spcBef>
                <a:spcPts val="0"/>
              </a:spcBef>
              <a:spcAft>
                <a:spcPts val="0"/>
              </a:spcAft>
              <a:buClr>
                <a:srgbClr val="595959"/>
              </a:buClr>
              <a:buSzPts val="1800"/>
              <a:buAutoNum type="arabicPeriod"/>
            </a:pPr>
            <a:r>
              <a:rPr lang="en">
                <a:solidFill>
                  <a:srgbClr val="595959"/>
                </a:solidFill>
              </a:rPr>
              <a:t>Distributed ledger</a:t>
            </a:r>
            <a:endParaRPr>
              <a:solidFill>
                <a:srgbClr val="595959"/>
              </a:solidFill>
            </a:endParaRPr>
          </a:p>
          <a:p>
            <a:pPr indent="457200" lvl="0" marL="457200" rtl="0" algn="l">
              <a:lnSpc>
                <a:spcPct val="150000"/>
              </a:lnSpc>
              <a:spcBef>
                <a:spcPts val="0"/>
              </a:spcBef>
              <a:spcAft>
                <a:spcPts val="0"/>
              </a:spcAft>
              <a:buClr>
                <a:schemeClr val="dk1"/>
              </a:buClr>
              <a:buSzPts val="1100"/>
              <a:buFont typeface="Arial"/>
              <a:buNone/>
            </a:pPr>
            <a:r>
              <a:rPr lang="en" sz="1400">
                <a:solidFill>
                  <a:srgbClr val="595959"/>
                </a:solidFill>
              </a:rPr>
              <a:t>Decentralised database -  Data transparency and Traceability</a:t>
            </a:r>
            <a:endParaRPr sz="1400">
              <a:solidFill>
                <a:srgbClr val="595959"/>
              </a:solidFill>
            </a:endParaRPr>
          </a:p>
          <a:p>
            <a:pPr indent="-342900" lvl="0" marL="457200" rtl="0" algn="l">
              <a:lnSpc>
                <a:spcPct val="150000"/>
              </a:lnSpc>
              <a:spcBef>
                <a:spcPts val="0"/>
              </a:spcBef>
              <a:spcAft>
                <a:spcPts val="0"/>
              </a:spcAft>
              <a:buClr>
                <a:srgbClr val="595959"/>
              </a:buClr>
              <a:buSzPts val="1800"/>
              <a:buAutoNum type="arabicPeriod"/>
            </a:pPr>
            <a:r>
              <a:rPr lang="en">
                <a:solidFill>
                  <a:srgbClr val="595959"/>
                </a:solidFill>
              </a:rPr>
              <a:t>Consensus algorithm</a:t>
            </a:r>
            <a:endParaRPr>
              <a:solidFill>
                <a:srgbClr val="595959"/>
              </a:solidFill>
            </a:endParaRPr>
          </a:p>
          <a:p>
            <a:pPr indent="457200" lvl="0" marL="457200" rtl="0" algn="l">
              <a:lnSpc>
                <a:spcPct val="150000"/>
              </a:lnSpc>
              <a:spcBef>
                <a:spcPts val="0"/>
              </a:spcBef>
              <a:spcAft>
                <a:spcPts val="0"/>
              </a:spcAft>
              <a:buClr>
                <a:schemeClr val="dk1"/>
              </a:buClr>
              <a:buSzPts val="1100"/>
              <a:buFont typeface="Arial"/>
              <a:buNone/>
            </a:pPr>
            <a:r>
              <a:rPr lang="en" sz="1400">
                <a:solidFill>
                  <a:srgbClr val="595959"/>
                </a:solidFill>
              </a:rPr>
              <a:t>Data integrity and Reliability</a:t>
            </a:r>
            <a:endParaRPr sz="1400">
              <a:solidFill>
                <a:srgbClr val="595959"/>
              </a:solidFill>
            </a:endParaRPr>
          </a:p>
          <a:p>
            <a:pPr indent="-342900" lvl="0" marL="457200" rtl="0" algn="l">
              <a:lnSpc>
                <a:spcPct val="150000"/>
              </a:lnSpc>
              <a:spcBef>
                <a:spcPts val="0"/>
              </a:spcBef>
              <a:spcAft>
                <a:spcPts val="0"/>
              </a:spcAft>
              <a:buClr>
                <a:srgbClr val="595959"/>
              </a:buClr>
              <a:buSzPts val="1800"/>
              <a:buAutoNum type="arabicPeriod"/>
            </a:pPr>
            <a:r>
              <a:rPr lang="en">
                <a:solidFill>
                  <a:srgbClr val="595959"/>
                </a:solidFill>
              </a:rPr>
              <a:t>Smart contracts</a:t>
            </a:r>
            <a:endParaRPr>
              <a:solidFill>
                <a:srgbClr val="595959"/>
              </a:solidFill>
            </a:endParaRPr>
          </a:p>
          <a:p>
            <a:pPr indent="457200" lvl="0" marL="457200" rtl="0" algn="l">
              <a:lnSpc>
                <a:spcPct val="150000"/>
              </a:lnSpc>
              <a:spcBef>
                <a:spcPts val="0"/>
              </a:spcBef>
              <a:spcAft>
                <a:spcPts val="0"/>
              </a:spcAft>
              <a:buClr>
                <a:schemeClr val="dk1"/>
              </a:buClr>
              <a:buSzPts val="1100"/>
              <a:buFont typeface="Arial"/>
              <a:buNone/>
            </a:pPr>
            <a:r>
              <a:rPr lang="en" sz="1400">
                <a:solidFill>
                  <a:srgbClr val="595959"/>
                </a:solidFill>
              </a:rPr>
              <a:t>Automate business logic</a:t>
            </a:r>
            <a:endParaRPr sz="1400">
              <a:solidFill>
                <a:srgbClr val="595959"/>
              </a:solidFill>
            </a:endParaRPr>
          </a:p>
          <a:p>
            <a:pPr indent="0" lvl="0" marL="0" rtl="0" algn="l">
              <a:spcBef>
                <a:spcPts val="4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01" name="Google Shape;101;p21"/>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PROBLEM STATEMENT</a:t>
            </a:r>
            <a:endParaRPr/>
          </a:p>
        </p:txBody>
      </p:sp>
      <p:sp>
        <p:nvSpPr>
          <p:cNvPr id="102" name="Google Shape;102;p21"/>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0"/>
              </a:spcBef>
              <a:spcAft>
                <a:spcPts val="0"/>
              </a:spcAft>
              <a:buNone/>
            </a:pPr>
            <a:r>
              <a:rPr lang="en">
                <a:solidFill>
                  <a:srgbClr val="595959"/>
                </a:solidFill>
              </a:rPr>
              <a:t>One of the major concerns of </a:t>
            </a:r>
            <a:r>
              <a:rPr lang="en">
                <a:solidFill>
                  <a:srgbClr val="595959"/>
                </a:solidFill>
              </a:rPr>
              <a:t>traditional</a:t>
            </a:r>
            <a:r>
              <a:rPr lang="en">
                <a:solidFill>
                  <a:srgbClr val="595959"/>
                </a:solidFill>
              </a:rPr>
              <a:t> second hand car trade system is data </a:t>
            </a:r>
            <a:r>
              <a:rPr lang="en">
                <a:solidFill>
                  <a:srgbClr val="595959"/>
                </a:solidFill>
              </a:rPr>
              <a:t>asymmetry</a:t>
            </a:r>
            <a:r>
              <a:rPr lang="en">
                <a:solidFill>
                  <a:srgbClr val="595959"/>
                </a:solidFill>
              </a:rPr>
              <a:t> and lack of trust </a:t>
            </a:r>
            <a:r>
              <a:rPr lang="en">
                <a:solidFill>
                  <a:srgbClr val="595959"/>
                </a:solidFill>
              </a:rPr>
              <a:t>between</a:t>
            </a:r>
            <a:r>
              <a:rPr lang="en">
                <a:solidFill>
                  <a:srgbClr val="595959"/>
                </a:solidFill>
              </a:rPr>
              <a:t> buyers and sellers. To address this problem we use distributed ledger system to develop a </a:t>
            </a:r>
            <a:r>
              <a:rPr lang="en">
                <a:solidFill>
                  <a:srgbClr val="595959"/>
                </a:solidFill>
              </a:rPr>
              <a:t>second</a:t>
            </a:r>
            <a:r>
              <a:rPr lang="en">
                <a:solidFill>
                  <a:srgbClr val="595959"/>
                </a:solidFill>
              </a:rPr>
              <a:t> hand car trade system to track the car history.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TECHNOLOGY ASSESSMENT</a:t>
            </a:r>
            <a:endParaRPr sz="2500"/>
          </a:p>
        </p:txBody>
      </p:sp>
      <p:graphicFrame>
        <p:nvGraphicFramePr>
          <p:cNvPr id="108" name="Google Shape;108;p22"/>
          <p:cNvGraphicFramePr/>
          <p:nvPr/>
        </p:nvGraphicFramePr>
        <p:xfrm>
          <a:off x="952500" y="1924063"/>
          <a:ext cx="3000000" cy="3000000"/>
        </p:xfrm>
        <a:graphic>
          <a:graphicData uri="http://schemas.openxmlformats.org/drawingml/2006/table">
            <a:tbl>
              <a:tblPr>
                <a:noFill/>
                <a:tableStyleId>{B2B21FBC-CD1E-4340-89F5-D5FBE4A2B8EF}</a:tableStyleId>
              </a:tblPr>
              <a:tblGrid>
                <a:gridCol w="1809750"/>
                <a:gridCol w="1809750"/>
                <a:gridCol w="1809750"/>
                <a:gridCol w="1809750"/>
              </a:tblGrid>
              <a:tr h="360675">
                <a:tc>
                  <a:txBody>
                    <a:bodyPr/>
                    <a:lstStyle/>
                    <a:p>
                      <a:pPr indent="0" lvl="0" marL="0" rtl="0" algn="l">
                        <a:spcBef>
                          <a:spcPts val="0"/>
                        </a:spcBef>
                        <a:spcAft>
                          <a:spcPts val="0"/>
                        </a:spcAft>
                        <a:buNone/>
                      </a:pPr>
                      <a:r>
                        <a:rPr lang="en">
                          <a:solidFill>
                            <a:srgbClr val="595959"/>
                          </a:solidFill>
                          <a:highlight>
                            <a:schemeClr val="lt1"/>
                          </a:highlight>
                        </a:rPr>
                        <a:t>BLOCKCHAIN</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PUBLIC</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PRIVATE</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HYBRID</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ADVANTAGE</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Decentralization and transparency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Enhanced privacy and security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Flexibility and customization</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DISADVANTAGE</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Scalability and transaction costs</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Centralization and trust</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Complexity and maintenance</a:t>
                      </a:r>
                      <a:endParaRPr>
                        <a:solidFill>
                          <a:srgbClr val="595959"/>
                        </a:solidFill>
                        <a:highlight>
                          <a:schemeClr val="lt1"/>
                        </a:highlight>
                      </a:endParaRPr>
                    </a:p>
                  </a:txBody>
                  <a:tcPr marT="91425" marB="91425" marR="91425" marL="91425"/>
                </a:tc>
              </a:tr>
            </a:tbl>
          </a:graphicData>
        </a:graphic>
      </p:graphicFrame>
      <p:sp>
        <p:nvSpPr>
          <p:cNvPr id="109" name="Google Shape;109;p22"/>
          <p:cNvSpPr txBox="1"/>
          <p:nvPr>
            <p:ph idx="1" type="body"/>
          </p:nvPr>
        </p:nvSpPr>
        <p:spPr>
          <a:xfrm>
            <a:off x="952350" y="3539425"/>
            <a:ext cx="7239000" cy="9717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None/>
            </a:pPr>
            <a:r>
              <a:t/>
            </a:r>
            <a:endParaRPr sz="1400">
              <a:solidFill>
                <a:srgbClr val="595959"/>
              </a:solidFill>
              <a:highlight>
                <a:srgbClr val="FFFFFF"/>
              </a:highlight>
            </a:endParaRPr>
          </a:p>
          <a:p>
            <a:pPr indent="0" lvl="0" marL="0" rtl="0" algn="ctr">
              <a:lnSpc>
                <a:spcPct val="100000"/>
              </a:lnSpc>
              <a:spcBef>
                <a:spcPts val="0"/>
              </a:spcBef>
              <a:spcAft>
                <a:spcPts val="0"/>
              </a:spcAft>
              <a:buNone/>
            </a:pPr>
            <a:r>
              <a:rPr lang="en">
                <a:solidFill>
                  <a:srgbClr val="595959"/>
                </a:solidFill>
                <a:highlight>
                  <a:srgbClr val="FFFFFF"/>
                </a:highlight>
              </a:rPr>
              <a:t>Chosen blockchain type: Public - Ethereum</a:t>
            </a:r>
            <a:endParaRPr>
              <a:solidFill>
                <a:srgbClr val="595959"/>
              </a:solidFill>
              <a:highlight>
                <a:srgbClr val="FFFFFF"/>
              </a:highlight>
            </a:endParaRPr>
          </a:p>
        </p:txBody>
      </p:sp>
      <p:sp>
        <p:nvSpPr>
          <p:cNvPr id="110" name="Google Shape;110;p2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11" name="Google Shape;111;p22"/>
          <p:cNvSpPr txBox="1"/>
          <p:nvPr/>
        </p:nvSpPr>
        <p:spPr>
          <a:xfrm>
            <a:off x="457200" y="799975"/>
            <a:ext cx="8229600" cy="97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400"/>
              </a:spcBef>
              <a:spcAft>
                <a:spcPts val="0"/>
              </a:spcAft>
              <a:buClr>
                <a:schemeClr val="dk1"/>
              </a:buClr>
              <a:buSzPts val="1100"/>
              <a:buFont typeface="Arial"/>
              <a:buNone/>
            </a:pPr>
            <a:r>
              <a:rPr b="1" lang="en" sz="1800">
                <a:solidFill>
                  <a:srgbClr val="595959"/>
                </a:solidFill>
              </a:rPr>
              <a:t>WHICH BLOCKCHAIN?</a:t>
            </a:r>
            <a:endParaRPr sz="1800">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a:solidFill>
                  <a:srgbClr val="595959"/>
                </a:solidFill>
              </a:rPr>
              <a:t>Public or Private or Hybrid Blockchain?</a:t>
            </a:r>
            <a:endParaRPr>
              <a:solidFill>
                <a:srgbClr val="595959"/>
              </a:solidFill>
            </a:endParaRPr>
          </a:p>
          <a:p>
            <a:pPr indent="0" lvl="0" marL="0" rtl="0" algn="l">
              <a:spcBef>
                <a:spcPts val="0"/>
              </a:spcBef>
              <a:spcAft>
                <a:spcPts val="0"/>
              </a:spcAft>
              <a:buNone/>
            </a:pPr>
            <a:r>
              <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TECHNOLOGY ASSESSMENT</a:t>
            </a:r>
            <a:endParaRPr sz="2500"/>
          </a:p>
        </p:txBody>
      </p:sp>
      <p:sp>
        <p:nvSpPr>
          <p:cNvPr id="117" name="Google Shape;117;p2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18" name="Google Shape;118;p23"/>
          <p:cNvSpPr txBox="1"/>
          <p:nvPr>
            <p:ph idx="1" type="body"/>
          </p:nvPr>
        </p:nvSpPr>
        <p:spPr>
          <a:xfrm>
            <a:off x="446700" y="799975"/>
            <a:ext cx="2746200" cy="38283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CONSENSUS ALGORITHM:</a:t>
            </a:r>
            <a:endParaRPr sz="16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lnSpc>
                <a:spcPct val="115000"/>
              </a:lnSpc>
              <a:spcBef>
                <a:spcPts val="400"/>
              </a:spcBef>
              <a:spcAft>
                <a:spcPts val="0"/>
              </a:spcAft>
              <a:buNone/>
            </a:pPr>
            <a:r>
              <a:t/>
            </a:r>
            <a:endParaRPr sz="1500">
              <a:solidFill>
                <a:srgbClr val="595959"/>
              </a:solidFill>
            </a:endParaRPr>
          </a:p>
          <a:p>
            <a:pPr indent="0" lvl="0" marL="0" rtl="0" algn="l">
              <a:spcBef>
                <a:spcPts val="400"/>
              </a:spcBef>
              <a:spcAft>
                <a:spcPts val="0"/>
              </a:spcAft>
              <a:buNone/>
            </a:pPr>
            <a:r>
              <a:rPr lang="en">
                <a:solidFill>
                  <a:srgbClr val="595959"/>
                </a:solidFill>
              </a:rPr>
              <a:t>Chosen Consensus algorithm: PoW</a:t>
            </a:r>
            <a:endParaRPr b="1"/>
          </a:p>
        </p:txBody>
      </p:sp>
      <p:graphicFrame>
        <p:nvGraphicFramePr>
          <p:cNvPr id="119" name="Google Shape;119;p23"/>
          <p:cNvGraphicFramePr/>
          <p:nvPr/>
        </p:nvGraphicFramePr>
        <p:xfrm>
          <a:off x="2437900" y="1337550"/>
          <a:ext cx="3000000" cy="3000000"/>
        </p:xfrm>
        <a:graphic>
          <a:graphicData uri="http://schemas.openxmlformats.org/drawingml/2006/table">
            <a:tbl>
              <a:tblPr>
                <a:noFill/>
                <a:tableStyleId>{B2B21FBC-CD1E-4340-89F5-D5FBE4A2B8EF}</a:tableStyleId>
              </a:tblPr>
              <a:tblGrid>
                <a:gridCol w="1422350"/>
                <a:gridCol w="2743575"/>
                <a:gridCol w="2082975"/>
              </a:tblGrid>
              <a:tr h="618350">
                <a:tc>
                  <a:txBody>
                    <a:bodyPr/>
                    <a:lstStyle/>
                    <a:p>
                      <a:pPr indent="0" lvl="0" marL="0" rtl="0" algn="l">
                        <a:lnSpc>
                          <a:spcPct val="100000"/>
                        </a:lnSpc>
                        <a:spcBef>
                          <a:spcPts val="0"/>
                        </a:spcBef>
                        <a:spcAft>
                          <a:spcPts val="0"/>
                        </a:spcAft>
                        <a:buNone/>
                      </a:pPr>
                      <a:r>
                        <a:rPr b="1" lang="en" sz="1200">
                          <a:solidFill>
                            <a:srgbClr val="595959"/>
                          </a:solidFill>
                          <a:highlight>
                            <a:schemeClr val="lt1"/>
                          </a:highlight>
                        </a:rPr>
                        <a:t>Consensus</a:t>
                      </a:r>
                      <a:endParaRPr b="1" sz="1200">
                        <a:solidFill>
                          <a:srgbClr val="595959"/>
                        </a:solidFill>
                        <a:highlight>
                          <a:schemeClr val="lt1"/>
                        </a:highlight>
                      </a:endParaRPr>
                    </a:p>
                    <a:p>
                      <a:pPr indent="0" lvl="0" marL="0" rtl="0" algn="l">
                        <a:lnSpc>
                          <a:spcPct val="100000"/>
                        </a:lnSpc>
                        <a:spcBef>
                          <a:spcPts val="0"/>
                        </a:spcBef>
                        <a:spcAft>
                          <a:spcPts val="0"/>
                        </a:spcAft>
                        <a:buNone/>
                      </a:pPr>
                      <a:r>
                        <a:rPr b="1" lang="en" sz="1200">
                          <a:solidFill>
                            <a:srgbClr val="595959"/>
                          </a:solidFill>
                          <a:highlight>
                            <a:schemeClr val="lt1"/>
                          </a:highlight>
                        </a:rPr>
                        <a:t>Algorithm</a:t>
                      </a:r>
                      <a:endParaRPr b="1"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1200">
                          <a:solidFill>
                            <a:srgbClr val="595959"/>
                          </a:solidFill>
                          <a:highlight>
                            <a:schemeClr val="lt1"/>
                          </a:highlight>
                        </a:rPr>
                        <a:t>Advantage</a:t>
                      </a:r>
                      <a:endParaRPr b="1"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1200">
                          <a:solidFill>
                            <a:srgbClr val="595959"/>
                          </a:solidFill>
                          <a:highlight>
                            <a:schemeClr val="lt1"/>
                          </a:highlight>
                        </a:rPr>
                        <a:t>Disadvantage</a:t>
                      </a:r>
                      <a:endParaRPr b="1"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25025">
                <a:tc>
                  <a:txBody>
                    <a:bodyPr/>
                    <a:lstStyle/>
                    <a:p>
                      <a:pPr indent="0" lvl="0" marL="0" rtl="0" algn="l">
                        <a:lnSpc>
                          <a:spcPct val="100000"/>
                        </a:lnSpc>
                        <a:spcBef>
                          <a:spcPts val="0"/>
                        </a:spcBef>
                        <a:spcAft>
                          <a:spcPts val="0"/>
                        </a:spcAft>
                        <a:buNone/>
                      </a:pPr>
                      <a:r>
                        <a:rPr b="1" lang="en" sz="1200">
                          <a:solidFill>
                            <a:srgbClr val="595959"/>
                          </a:solidFill>
                          <a:highlight>
                            <a:schemeClr val="lt1"/>
                          </a:highlight>
                        </a:rPr>
                        <a:t>Proof of Work (PoW)</a:t>
                      </a:r>
                      <a:endParaRPr b="1"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Well-established, secure, difficult for attackers to manipulate</a:t>
                      </a:r>
                      <a:endParaRPr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Energy-intensive, large amount of computing power to solve cryptographic puzzles</a:t>
                      </a:r>
                      <a:endParaRPr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25025">
                <a:tc>
                  <a:txBody>
                    <a:bodyPr/>
                    <a:lstStyle/>
                    <a:p>
                      <a:pPr indent="0" lvl="0" marL="0" rtl="0" algn="l">
                        <a:lnSpc>
                          <a:spcPct val="100000"/>
                        </a:lnSpc>
                        <a:spcBef>
                          <a:spcPts val="0"/>
                        </a:spcBef>
                        <a:spcAft>
                          <a:spcPts val="0"/>
                        </a:spcAft>
                        <a:buNone/>
                      </a:pPr>
                      <a:r>
                        <a:rPr b="1" lang="en" sz="1200">
                          <a:solidFill>
                            <a:srgbClr val="595959"/>
                          </a:solidFill>
                          <a:highlight>
                            <a:schemeClr val="lt1"/>
                          </a:highlight>
                        </a:rPr>
                        <a:t>Proof of Stake (PoS)</a:t>
                      </a:r>
                      <a:endParaRPr b="1"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Energy-efficient, lower electricity consumption and a lower environmental impact</a:t>
                      </a:r>
                      <a:endParaRPr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Vulnerable to centralization, most stake in the network may have more influence over decision-making</a:t>
                      </a:r>
                      <a:endParaRPr sz="1200">
                        <a:solidFill>
                          <a:srgbClr val="595959"/>
                        </a:solidFill>
                        <a:highlight>
                          <a:schemeClr val="lt1"/>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25" name="Google Shape;125;p24"/>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PROPOSED MODEL</a:t>
            </a:r>
            <a:endParaRPr/>
          </a:p>
        </p:txBody>
      </p:sp>
      <p:sp>
        <p:nvSpPr>
          <p:cNvPr id="126" name="Google Shape;126;p24"/>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USE CASE DIAGRAMS</a:t>
            </a:r>
            <a:endParaRPr>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sz="1400">
                <a:solidFill>
                  <a:srgbClr val="595959"/>
                </a:solidFill>
              </a:rPr>
              <a:t>Simple use case diagram</a:t>
            </a:r>
            <a:endParaRPr sz="1400">
              <a:solidFill>
                <a:srgbClr val="595959"/>
              </a:solidFill>
            </a:endParaRPr>
          </a:p>
        </p:txBody>
      </p:sp>
      <p:pic>
        <p:nvPicPr>
          <p:cNvPr id="127" name="Google Shape;127;p24"/>
          <p:cNvPicPr preferRelativeResize="0"/>
          <p:nvPr/>
        </p:nvPicPr>
        <p:blipFill>
          <a:blip r:embed="rId3">
            <a:alphaModFix/>
          </a:blip>
          <a:stretch>
            <a:fillRect/>
          </a:stretch>
        </p:blipFill>
        <p:spPr>
          <a:xfrm>
            <a:off x="4038600" y="1173300"/>
            <a:ext cx="4648200" cy="3162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fld id="{00000000-1234-1234-1234-123412341234}" type="slidenum">
              <a:rPr lang="en"/>
              <a:t>‹#›</a:t>
            </a:fld>
            <a:endParaRPr/>
          </a:p>
        </p:txBody>
      </p:sp>
      <p:sp>
        <p:nvSpPr>
          <p:cNvPr id="133" name="Google Shape;133;p25"/>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PROPOSED MODEL</a:t>
            </a:r>
            <a:endParaRPr/>
          </a:p>
        </p:txBody>
      </p:sp>
      <p:sp>
        <p:nvSpPr>
          <p:cNvPr id="134" name="Google Shape;134;p25"/>
          <p:cNvSpPr txBox="1"/>
          <p:nvPr>
            <p:ph idx="1" type="body"/>
          </p:nvPr>
        </p:nvSpPr>
        <p:spPr>
          <a:xfrm>
            <a:off x="457200" y="914400"/>
            <a:ext cx="33720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USE CASE DIAGRAMS</a:t>
            </a:r>
            <a:endParaRPr>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sz="1400">
                <a:solidFill>
                  <a:srgbClr val="595959"/>
                </a:solidFill>
              </a:rPr>
              <a:t>System administrator responsibilities</a:t>
            </a:r>
            <a:endParaRPr sz="1400">
              <a:solidFill>
                <a:srgbClr val="595959"/>
              </a:solidFill>
            </a:endParaRPr>
          </a:p>
        </p:txBody>
      </p:sp>
      <p:pic>
        <p:nvPicPr>
          <p:cNvPr id="135" name="Google Shape;135;p25"/>
          <p:cNvPicPr preferRelativeResize="0"/>
          <p:nvPr/>
        </p:nvPicPr>
        <p:blipFill>
          <a:blip r:embed="rId3">
            <a:alphaModFix/>
          </a:blip>
          <a:stretch>
            <a:fillRect/>
          </a:stretch>
        </p:blipFill>
        <p:spPr>
          <a:xfrm>
            <a:off x="3829050" y="1349513"/>
            <a:ext cx="4857750" cy="2809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fld id="{00000000-1234-1234-1234-123412341234}" type="slidenum">
              <a:rPr lang="en"/>
              <a:t>‹#›</a:t>
            </a:fld>
            <a:endParaRPr/>
          </a:p>
        </p:txBody>
      </p:sp>
      <p:sp>
        <p:nvSpPr>
          <p:cNvPr id="141" name="Google Shape;141;p26"/>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PROPOSED MODEL</a:t>
            </a:r>
            <a:endParaRPr/>
          </a:p>
        </p:txBody>
      </p:sp>
      <p:sp>
        <p:nvSpPr>
          <p:cNvPr id="142" name="Google Shape;142;p26"/>
          <p:cNvSpPr txBox="1"/>
          <p:nvPr>
            <p:ph idx="1" type="body"/>
          </p:nvPr>
        </p:nvSpPr>
        <p:spPr>
          <a:xfrm>
            <a:off x="457200" y="914400"/>
            <a:ext cx="35148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USE CASE DIAGRAMS</a:t>
            </a:r>
            <a:endParaRPr>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sz="1400">
                <a:solidFill>
                  <a:srgbClr val="595959"/>
                </a:solidFill>
              </a:rPr>
              <a:t>Blockchain transactions</a:t>
            </a:r>
            <a:endParaRPr sz="1400">
              <a:solidFill>
                <a:srgbClr val="595959"/>
              </a:solidFill>
            </a:endParaRPr>
          </a:p>
        </p:txBody>
      </p:sp>
      <p:pic>
        <p:nvPicPr>
          <p:cNvPr id="143" name="Google Shape;143;p26"/>
          <p:cNvPicPr preferRelativeResize="0"/>
          <p:nvPr/>
        </p:nvPicPr>
        <p:blipFill>
          <a:blip r:embed="rId3">
            <a:alphaModFix/>
          </a:blip>
          <a:stretch>
            <a:fillRect/>
          </a:stretch>
        </p:blipFill>
        <p:spPr>
          <a:xfrm>
            <a:off x="3971925" y="1320938"/>
            <a:ext cx="4714875" cy="2867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fld id="{00000000-1234-1234-1234-123412341234}" type="slidenum">
              <a:rPr lang="en"/>
              <a:t>‹#›</a:t>
            </a:fld>
            <a:endParaRPr/>
          </a:p>
        </p:txBody>
      </p:sp>
      <p:sp>
        <p:nvSpPr>
          <p:cNvPr id="149" name="Google Shape;149;p27"/>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PROPOSED MODEL</a:t>
            </a:r>
            <a:endParaRPr/>
          </a:p>
        </p:txBody>
      </p:sp>
      <p:sp>
        <p:nvSpPr>
          <p:cNvPr id="150" name="Google Shape;150;p27"/>
          <p:cNvSpPr txBox="1"/>
          <p:nvPr>
            <p:ph idx="1" type="body"/>
          </p:nvPr>
        </p:nvSpPr>
        <p:spPr>
          <a:xfrm>
            <a:off x="457200" y="914400"/>
            <a:ext cx="42678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USE CASE DIAGRAMS</a:t>
            </a:r>
            <a:endParaRPr>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sz="1400">
                <a:solidFill>
                  <a:srgbClr val="595959"/>
                </a:solidFill>
              </a:rPr>
              <a:t>Blockchain administration - Roles and responsibilities</a:t>
            </a:r>
            <a:endParaRPr sz="1400">
              <a:solidFill>
                <a:srgbClr val="595959"/>
              </a:solidFill>
            </a:endParaRPr>
          </a:p>
        </p:txBody>
      </p:sp>
      <p:pic>
        <p:nvPicPr>
          <p:cNvPr id="151" name="Google Shape;151;p27"/>
          <p:cNvPicPr preferRelativeResize="0"/>
          <p:nvPr/>
        </p:nvPicPr>
        <p:blipFill>
          <a:blip r:embed="rId3">
            <a:alphaModFix/>
          </a:blip>
          <a:stretch>
            <a:fillRect/>
          </a:stretch>
        </p:blipFill>
        <p:spPr>
          <a:xfrm>
            <a:off x="4725125" y="852151"/>
            <a:ext cx="3961663" cy="4019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fld id="{00000000-1234-1234-1234-123412341234}" type="slidenum">
              <a:rPr lang="en"/>
              <a:t>‹#›</a:t>
            </a:fld>
            <a:endParaRPr/>
          </a:p>
        </p:txBody>
      </p:sp>
      <p:sp>
        <p:nvSpPr>
          <p:cNvPr id="157" name="Google Shape;157;p28"/>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PROPOSED MODEL</a:t>
            </a:r>
            <a:endParaRPr/>
          </a:p>
        </p:txBody>
      </p:sp>
      <p:sp>
        <p:nvSpPr>
          <p:cNvPr id="158" name="Google Shape;158;p28"/>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SYSTEM DESIGN</a:t>
            </a:r>
            <a:endParaRPr b="1">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sz="1400">
                <a:solidFill>
                  <a:srgbClr val="595959"/>
                </a:solidFill>
              </a:rPr>
              <a:t>Web3 application architecture</a:t>
            </a:r>
            <a:endParaRPr sz="1400">
              <a:solidFill>
                <a:srgbClr val="595959"/>
              </a:solidFill>
            </a:endParaRPr>
          </a:p>
        </p:txBody>
      </p:sp>
      <p:pic>
        <p:nvPicPr>
          <p:cNvPr id="159" name="Google Shape;159;p28"/>
          <p:cNvPicPr preferRelativeResize="0"/>
          <p:nvPr/>
        </p:nvPicPr>
        <p:blipFill>
          <a:blip r:embed="rId3">
            <a:alphaModFix/>
          </a:blip>
          <a:stretch>
            <a:fillRect/>
          </a:stretch>
        </p:blipFill>
        <p:spPr>
          <a:xfrm>
            <a:off x="495350" y="1879001"/>
            <a:ext cx="8153298" cy="2221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fld id="{00000000-1234-1234-1234-123412341234}" type="slidenum">
              <a:rPr lang="en"/>
              <a:t>‹#›</a:t>
            </a:fld>
            <a:endParaRPr/>
          </a:p>
        </p:txBody>
      </p:sp>
      <p:sp>
        <p:nvSpPr>
          <p:cNvPr id="165" name="Google Shape;165;p29"/>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PROPOSED MODEL</a:t>
            </a:r>
            <a:endParaRPr/>
          </a:p>
        </p:txBody>
      </p:sp>
      <p:sp>
        <p:nvSpPr>
          <p:cNvPr id="166" name="Google Shape;166;p29"/>
          <p:cNvSpPr txBox="1"/>
          <p:nvPr>
            <p:ph idx="1" type="body"/>
          </p:nvPr>
        </p:nvSpPr>
        <p:spPr>
          <a:xfrm>
            <a:off x="457200" y="817425"/>
            <a:ext cx="3101700" cy="37770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a:solidFill>
                  <a:srgbClr val="595959"/>
                </a:solidFill>
              </a:rPr>
              <a:t>SYSTEM DESIGN</a:t>
            </a:r>
            <a:endParaRPr>
              <a:solidFill>
                <a:srgbClr val="595959"/>
              </a:solidFill>
            </a:endParaRPr>
          </a:p>
          <a:p>
            <a:pPr indent="-292100" lvl="0" marL="457200" rtl="0" algn="l">
              <a:lnSpc>
                <a:spcPct val="115000"/>
              </a:lnSpc>
              <a:spcBef>
                <a:spcPts val="400"/>
              </a:spcBef>
              <a:spcAft>
                <a:spcPts val="0"/>
              </a:spcAft>
              <a:buClr>
                <a:srgbClr val="595959"/>
              </a:buClr>
              <a:buSzPts val="1000"/>
              <a:buChar char="●"/>
            </a:pPr>
            <a:r>
              <a:rPr lang="en" sz="1400">
                <a:solidFill>
                  <a:srgbClr val="595959"/>
                </a:solidFill>
              </a:rPr>
              <a:t>Customer side application - workflow</a:t>
            </a:r>
            <a:endParaRPr sz="1400">
              <a:solidFill>
                <a:srgbClr val="595959"/>
              </a:solidFill>
            </a:endParaRPr>
          </a:p>
        </p:txBody>
      </p:sp>
      <p:pic>
        <p:nvPicPr>
          <p:cNvPr id="167" name="Google Shape;167;p29"/>
          <p:cNvPicPr preferRelativeResize="0"/>
          <p:nvPr/>
        </p:nvPicPr>
        <p:blipFill>
          <a:blip r:embed="rId3">
            <a:alphaModFix/>
          </a:blip>
          <a:stretch>
            <a:fillRect/>
          </a:stretch>
        </p:blipFill>
        <p:spPr>
          <a:xfrm>
            <a:off x="3558792" y="817425"/>
            <a:ext cx="5128008" cy="3680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73" name="Google Shape;173;p3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174" name="Google Shape;174;p30"/>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Four roles</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175" name="Google Shape;175;p30"/>
          <p:cNvPicPr preferRelativeResize="0"/>
          <p:nvPr/>
        </p:nvPicPr>
        <p:blipFill rotWithShape="1">
          <a:blip r:embed="rId3">
            <a:alphaModFix/>
          </a:blip>
          <a:srcRect b="40737" l="0" r="0" t="0"/>
          <a:stretch/>
        </p:blipFill>
        <p:spPr>
          <a:xfrm>
            <a:off x="914400" y="1388950"/>
            <a:ext cx="7315200" cy="27310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81" name="Google Shape;181;p31"/>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182" name="Google Shape;182;p31"/>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0"/>
              </a:spcBef>
              <a:spcAft>
                <a:spcPts val="0"/>
              </a:spcAft>
              <a:buNone/>
            </a:pPr>
            <a:r>
              <a:rPr lang="en">
                <a:solidFill>
                  <a:srgbClr val="595959"/>
                </a:solidFill>
              </a:rPr>
              <a:t>Adding new role</a:t>
            </a:r>
            <a:endParaRPr>
              <a:solidFill>
                <a:srgbClr val="595959"/>
              </a:solidFill>
            </a:endParaRPr>
          </a:p>
          <a:p>
            <a:pPr indent="0" lvl="0" marL="0" rtl="0" algn="l">
              <a:lnSpc>
                <a:spcPct val="150000"/>
              </a:lnSpc>
              <a:spcBef>
                <a:spcPts val="600"/>
              </a:spcBef>
              <a:spcAft>
                <a:spcPts val="6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183" name="Google Shape;183;p31"/>
          <p:cNvPicPr preferRelativeResize="0"/>
          <p:nvPr/>
        </p:nvPicPr>
        <p:blipFill rotWithShape="1">
          <a:blip r:embed="rId3">
            <a:alphaModFix/>
          </a:blip>
          <a:srcRect b="54740" l="0" r="0" t="0"/>
          <a:stretch/>
        </p:blipFill>
        <p:spPr>
          <a:xfrm>
            <a:off x="457200" y="1584675"/>
            <a:ext cx="8229600" cy="23395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89" name="Google Shape;189;p32"/>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190" name="Google Shape;190;p32"/>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Roles - Authorisation</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191" name="Google Shape;191;p32"/>
          <p:cNvPicPr preferRelativeResize="0"/>
          <p:nvPr/>
        </p:nvPicPr>
        <p:blipFill rotWithShape="1">
          <a:blip r:embed="rId3">
            <a:alphaModFix/>
          </a:blip>
          <a:srcRect b="20735" l="0" r="0" t="0"/>
          <a:stretch/>
        </p:blipFill>
        <p:spPr>
          <a:xfrm>
            <a:off x="1371600" y="1400138"/>
            <a:ext cx="6400800" cy="31943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197" name="Google Shape;197;p33"/>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198" name="Google Shape;198;p33"/>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Adding new car transaction</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199" name="Google Shape;199;p33"/>
          <p:cNvPicPr preferRelativeResize="0"/>
          <p:nvPr/>
        </p:nvPicPr>
        <p:blipFill rotWithShape="1">
          <a:blip r:embed="rId3">
            <a:alphaModFix/>
          </a:blip>
          <a:srcRect b="19980" l="0" r="0" t="0"/>
          <a:stretch/>
        </p:blipFill>
        <p:spPr>
          <a:xfrm>
            <a:off x="1371600" y="1376025"/>
            <a:ext cx="6400800" cy="321848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05" name="Google Shape;205;p34"/>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06" name="Google Shape;206;p34"/>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Gas fee - for completing transaction</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07" name="Google Shape;207;p34"/>
          <p:cNvPicPr preferRelativeResize="0"/>
          <p:nvPr/>
        </p:nvPicPr>
        <p:blipFill rotWithShape="1">
          <a:blip r:embed="rId3">
            <a:alphaModFix/>
          </a:blip>
          <a:srcRect b="13232" l="30105" r="29752" t="0"/>
          <a:stretch/>
        </p:blipFill>
        <p:spPr>
          <a:xfrm>
            <a:off x="3200400" y="1328825"/>
            <a:ext cx="2743200" cy="37135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13" name="Google Shape;213;p35"/>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14" name="Google Shape;214;p35"/>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Showing successful transaction</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15" name="Google Shape;215;p35"/>
          <p:cNvPicPr preferRelativeResize="0"/>
          <p:nvPr/>
        </p:nvPicPr>
        <p:blipFill rotWithShape="1">
          <a:blip r:embed="rId3">
            <a:alphaModFix/>
          </a:blip>
          <a:srcRect b="56491" l="0" r="0" t="0"/>
          <a:stretch/>
        </p:blipFill>
        <p:spPr>
          <a:xfrm>
            <a:off x="457200" y="1631688"/>
            <a:ext cx="8229600" cy="224550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21" name="Google Shape;221;p36"/>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22" name="Google Shape;222;p36"/>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Etherscan - Transaction details</a:t>
            </a:r>
            <a:endParaRPr>
              <a:solidFill>
                <a:srgbClr val="595959"/>
              </a:solidFill>
            </a:endParaRPr>
          </a:p>
          <a:p>
            <a:pPr indent="0" lvl="0" marL="0" rtl="0" algn="l">
              <a:lnSpc>
                <a:spcPct val="150000"/>
              </a:lnSpc>
              <a:spcBef>
                <a:spcPts val="600"/>
              </a:spcBef>
              <a:spcAft>
                <a:spcPts val="6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23" name="Google Shape;223;p36"/>
          <p:cNvPicPr preferRelativeResize="0"/>
          <p:nvPr/>
        </p:nvPicPr>
        <p:blipFill>
          <a:blip r:embed="rId3">
            <a:alphaModFix/>
          </a:blip>
          <a:stretch>
            <a:fillRect/>
          </a:stretch>
        </p:blipFill>
        <p:spPr>
          <a:xfrm>
            <a:off x="1828800" y="1245750"/>
            <a:ext cx="5486400" cy="34406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29" name="Google Shape;229;p37"/>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30" name="Google Shape;230;p37"/>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Gas fee - for completing automobile maintenance transaction</a:t>
            </a:r>
            <a:endParaRPr>
              <a:solidFill>
                <a:srgbClr val="595959"/>
              </a:solidFill>
            </a:endParaRPr>
          </a:p>
          <a:p>
            <a:pPr indent="0" lvl="0" marL="0" rtl="0" algn="l">
              <a:lnSpc>
                <a:spcPct val="150000"/>
              </a:lnSpc>
              <a:spcBef>
                <a:spcPts val="600"/>
              </a:spcBef>
              <a:spcAft>
                <a:spcPts val="6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31" name="Google Shape;231;p37"/>
          <p:cNvPicPr preferRelativeResize="0"/>
          <p:nvPr/>
        </p:nvPicPr>
        <p:blipFill rotWithShape="1">
          <a:blip r:embed="rId3">
            <a:alphaModFix/>
          </a:blip>
          <a:srcRect b="13232" l="28222" r="28971" t="0"/>
          <a:stretch/>
        </p:blipFill>
        <p:spPr>
          <a:xfrm>
            <a:off x="3200400" y="1389075"/>
            <a:ext cx="2743200" cy="348210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37" name="Google Shape;237;p38"/>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38" name="Google Shape;238;p38"/>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Showing automobile maintenance transaction</a:t>
            </a:r>
            <a:endParaRPr>
              <a:solidFill>
                <a:srgbClr val="595959"/>
              </a:solidFill>
            </a:endParaRPr>
          </a:p>
          <a:p>
            <a:pPr indent="0" lvl="0" marL="0" rtl="0" algn="l">
              <a:lnSpc>
                <a:spcPct val="150000"/>
              </a:lnSpc>
              <a:spcBef>
                <a:spcPts val="600"/>
              </a:spcBef>
              <a:spcAft>
                <a:spcPts val="6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39" name="Google Shape;239;p38"/>
          <p:cNvPicPr preferRelativeResize="0"/>
          <p:nvPr/>
        </p:nvPicPr>
        <p:blipFill rotWithShape="1">
          <a:blip r:embed="rId3">
            <a:alphaModFix/>
          </a:blip>
          <a:srcRect b="42236" l="0" r="0" t="0"/>
          <a:stretch/>
        </p:blipFill>
        <p:spPr>
          <a:xfrm>
            <a:off x="914400" y="1244563"/>
            <a:ext cx="7315200" cy="265437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45" name="Google Shape;245;p39"/>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46" name="Google Shape;246;p39"/>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0"/>
              </a:spcBef>
              <a:spcAft>
                <a:spcPts val="0"/>
              </a:spcAft>
              <a:buNone/>
            </a:pPr>
            <a:r>
              <a:rPr lang="en">
                <a:solidFill>
                  <a:srgbClr val="595959"/>
                </a:solidFill>
              </a:rPr>
              <a:t>Example of various completed transactions for a car</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47" name="Google Shape;247;p39"/>
          <p:cNvPicPr preferRelativeResize="0"/>
          <p:nvPr/>
        </p:nvPicPr>
        <p:blipFill rotWithShape="1">
          <a:blip r:embed="rId3">
            <a:alphaModFix/>
          </a:blip>
          <a:srcRect b="27483" l="0" r="0" t="0"/>
          <a:stretch/>
        </p:blipFill>
        <p:spPr>
          <a:xfrm>
            <a:off x="1371600" y="1298263"/>
            <a:ext cx="6400800" cy="29123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53" name="Google Shape;253;p4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54" name="Google Shape;254;p40"/>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0"/>
              </a:spcBef>
              <a:spcAft>
                <a:spcPts val="0"/>
              </a:spcAft>
              <a:buNone/>
            </a:pPr>
            <a:r>
              <a:rPr lang="en">
                <a:solidFill>
                  <a:srgbClr val="595959"/>
                </a:solidFill>
              </a:rPr>
              <a:t>Login page</a:t>
            </a:r>
            <a:endParaRPr>
              <a:solidFill>
                <a:srgbClr val="595959"/>
              </a:solidFill>
            </a:endParaRPr>
          </a:p>
          <a:p>
            <a:pPr indent="0" lvl="0" marL="0" rtl="0" algn="l">
              <a:lnSpc>
                <a:spcPct val="150000"/>
              </a:lnSpc>
              <a:spcBef>
                <a:spcPts val="600"/>
              </a:spcBef>
              <a:spcAft>
                <a:spcPts val="6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55" name="Google Shape;255;p40"/>
          <p:cNvPicPr preferRelativeResize="0"/>
          <p:nvPr/>
        </p:nvPicPr>
        <p:blipFill>
          <a:blip r:embed="rId3">
            <a:alphaModFix/>
          </a:blip>
          <a:stretch>
            <a:fillRect/>
          </a:stretch>
        </p:blipFill>
        <p:spPr>
          <a:xfrm>
            <a:off x="1828800" y="1245625"/>
            <a:ext cx="5486401" cy="344075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61" name="Google Shape;261;p41"/>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62" name="Google Shape;262;p41"/>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0"/>
              </a:spcBef>
              <a:spcAft>
                <a:spcPts val="0"/>
              </a:spcAft>
              <a:buNone/>
            </a:pPr>
            <a:r>
              <a:rPr lang="en">
                <a:solidFill>
                  <a:srgbClr val="595959"/>
                </a:solidFill>
              </a:rPr>
              <a:t>Sell page</a:t>
            </a:r>
            <a:endParaRPr>
              <a:solidFill>
                <a:srgbClr val="595959"/>
              </a:solidFill>
            </a:endParaRPr>
          </a:p>
          <a:p>
            <a:pPr indent="0" lvl="0" marL="0" rtl="0" algn="l">
              <a:lnSpc>
                <a:spcPct val="150000"/>
              </a:lnSpc>
              <a:spcBef>
                <a:spcPts val="600"/>
              </a:spcBef>
              <a:spcAft>
                <a:spcPts val="6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63" name="Google Shape;263;p41"/>
          <p:cNvPicPr preferRelativeResize="0"/>
          <p:nvPr/>
        </p:nvPicPr>
        <p:blipFill>
          <a:blip r:embed="rId3">
            <a:alphaModFix/>
          </a:blip>
          <a:stretch>
            <a:fillRect/>
          </a:stretch>
        </p:blipFill>
        <p:spPr>
          <a:xfrm>
            <a:off x="1828800" y="1253175"/>
            <a:ext cx="5486400" cy="343320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69" name="Google Shape;269;p42"/>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70" name="Google Shape;270;p42"/>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Buy page</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71" name="Google Shape;271;p42"/>
          <p:cNvPicPr preferRelativeResize="0"/>
          <p:nvPr/>
        </p:nvPicPr>
        <p:blipFill>
          <a:blip r:embed="rId3">
            <a:alphaModFix/>
          </a:blip>
          <a:stretch>
            <a:fillRect/>
          </a:stretch>
        </p:blipFill>
        <p:spPr>
          <a:xfrm>
            <a:off x="1828800" y="1245750"/>
            <a:ext cx="5486400" cy="34406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77" name="Google Shape;277;p43"/>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78" name="Google Shape;278;p43"/>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View page</a:t>
            </a:r>
            <a:endParaRPr>
              <a:solidFill>
                <a:srgbClr val="595959"/>
              </a:solidFill>
            </a:endParaRPr>
          </a:p>
          <a:p>
            <a:pPr indent="0" lvl="0" marL="0" rtl="0" algn="l">
              <a:lnSpc>
                <a:spcPct val="150000"/>
              </a:lnSpc>
              <a:spcBef>
                <a:spcPts val="1200"/>
              </a:spcBef>
              <a:spcAft>
                <a:spcPts val="1200"/>
              </a:spcAft>
              <a:buNone/>
            </a:pPr>
            <a:r>
              <a:t/>
            </a:r>
            <a:endParaRPr>
              <a:solidFill>
                <a:srgbClr val="595959"/>
              </a:solidFill>
            </a:endParaRPr>
          </a:p>
        </p:txBody>
      </p:sp>
      <p:pic>
        <p:nvPicPr>
          <p:cNvPr id="279" name="Google Shape;279;p43"/>
          <p:cNvPicPr preferRelativeResize="0"/>
          <p:nvPr/>
        </p:nvPicPr>
        <p:blipFill>
          <a:blip r:embed="rId3">
            <a:alphaModFix/>
          </a:blip>
          <a:stretch>
            <a:fillRect/>
          </a:stretch>
        </p:blipFill>
        <p:spPr>
          <a:xfrm>
            <a:off x="1828800" y="1253450"/>
            <a:ext cx="5486403" cy="343291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85" name="Google Shape;285;p44"/>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86" name="Google Shape;286;p44"/>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View page - update and delete</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87" name="Google Shape;287;p44"/>
          <p:cNvPicPr preferRelativeResize="0"/>
          <p:nvPr/>
        </p:nvPicPr>
        <p:blipFill>
          <a:blip r:embed="rId3">
            <a:alphaModFix/>
          </a:blip>
          <a:stretch>
            <a:fillRect/>
          </a:stretch>
        </p:blipFill>
        <p:spPr>
          <a:xfrm>
            <a:off x="1828800" y="1266425"/>
            <a:ext cx="5486400" cy="34199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293" name="Google Shape;293;p45"/>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294" name="Google Shape;294;p45"/>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View transaction history page</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295" name="Google Shape;295;p45"/>
          <p:cNvPicPr preferRelativeResize="0"/>
          <p:nvPr/>
        </p:nvPicPr>
        <p:blipFill>
          <a:blip r:embed="rId3">
            <a:alphaModFix/>
          </a:blip>
          <a:stretch>
            <a:fillRect/>
          </a:stretch>
        </p:blipFill>
        <p:spPr>
          <a:xfrm>
            <a:off x="1828800" y="1245750"/>
            <a:ext cx="5486400" cy="34406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6"/>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301" name="Google Shape;301;p46"/>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a:t>
            </a:r>
            <a:endParaRPr/>
          </a:p>
        </p:txBody>
      </p:sp>
      <p:sp>
        <p:nvSpPr>
          <p:cNvPr id="302" name="Google Shape;302;p46"/>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50000"/>
              </a:lnSpc>
              <a:spcBef>
                <a:spcPts val="600"/>
              </a:spcBef>
              <a:spcAft>
                <a:spcPts val="0"/>
              </a:spcAft>
              <a:buNone/>
            </a:pPr>
            <a:r>
              <a:rPr lang="en">
                <a:solidFill>
                  <a:srgbClr val="595959"/>
                </a:solidFill>
              </a:rPr>
              <a:t>Log page</a:t>
            </a:r>
            <a:endParaRPr>
              <a:solidFill>
                <a:srgbClr val="595959"/>
              </a:solidFill>
            </a:endParaRPr>
          </a:p>
          <a:p>
            <a:pPr indent="0" lvl="0" marL="0" rtl="0" algn="l">
              <a:lnSpc>
                <a:spcPct val="150000"/>
              </a:lnSpc>
              <a:spcBef>
                <a:spcPts val="1200"/>
              </a:spcBef>
              <a:spcAft>
                <a:spcPts val="120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pic>
        <p:nvPicPr>
          <p:cNvPr id="303" name="Google Shape;303;p46"/>
          <p:cNvPicPr preferRelativeResize="0"/>
          <p:nvPr/>
        </p:nvPicPr>
        <p:blipFill>
          <a:blip r:embed="rId3">
            <a:alphaModFix/>
          </a:blip>
          <a:stretch>
            <a:fillRect/>
          </a:stretch>
        </p:blipFill>
        <p:spPr>
          <a:xfrm>
            <a:off x="1828800" y="1245750"/>
            <a:ext cx="5486400" cy="34406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309" name="Google Shape;309;p47"/>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RESULT</a:t>
            </a:r>
            <a:endParaRPr/>
          </a:p>
        </p:txBody>
      </p:sp>
      <p:sp>
        <p:nvSpPr>
          <p:cNvPr id="310" name="Google Shape;310;p47"/>
          <p:cNvSpPr txBox="1"/>
          <p:nvPr>
            <p:ph idx="1" type="body"/>
          </p:nvPr>
        </p:nvSpPr>
        <p:spPr>
          <a:xfrm>
            <a:off x="457200" y="914402"/>
            <a:ext cx="8229600" cy="3680100"/>
          </a:xfrm>
          <a:prstGeom prst="rect">
            <a:avLst/>
          </a:prstGeom>
        </p:spPr>
        <p:txBody>
          <a:bodyPr anchorCtr="0" anchor="ctr" bIns="34275" lIns="34275" spcFirstLastPara="1" rIns="34275" wrap="square" tIns="34275">
            <a:normAutofit/>
          </a:bodyPr>
          <a:lstStyle/>
          <a:p>
            <a:pPr indent="-323850" lvl="0" marL="457200" rtl="0" algn="l">
              <a:lnSpc>
                <a:spcPct val="200000"/>
              </a:lnSpc>
              <a:spcBef>
                <a:spcPts val="0"/>
              </a:spcBef>
              <a:spcAft>
                <a:spcPts val="0"/>
              </a:spcAft>
              <a:buClr>
                <a:srgbClr val="595959"/>
              </a:buClr>
              <a:buSzPts val="1500"/>
              <a:buChar char="•"/>
            </a:pPr>
            <a:r>
              <a:rPr lang="en" sz="1500">
                <a:solidFill>
                  <a:srgbClr val="595959"/>
                </a:solidFill>
                <a:highlight>
                  <a:schemeClr val="lt1"/>
                </a:highlight>
              </a:rPr>
              <a:t>We are able to achieve a </a:t>
            </a:r>
            <a:r>
              <a:rPr lang="en" sz="1500">
                <a:solidFill>
                  <a:srgbClr val="595959"/>
                </a:solidFill>
                <a:highlight>
                  <a:schemeClr val="lt1"/>
                </a:highlight>
              </a:rPr>
              <a:t>second</a:t>
            </a:r>
            <a:r>
              <a:rPr lang="en" sz="1500">
                <a:solidFill>
                  <a:srgbClr val="595959"/>
                </a:solidFill>
                <a:highlight>
                  <a:schemeClr val="lt1"/>
                </a:highlight>
              </a:rPr>
              <a:t> hand car trade system using blockchain technology to tackle data </a:t>
            </a:r>
            <a:r>
              <a:rPr lang="en" sz="1500">
                <a:solidFill>
                  <a:srgbClr val="595959"/>
                </a:solidFill>
                <a:highlight>
                  <a:schemeClr val="lt1"/>
                </a:highlight>
              </a:rPr>
              <a:t>asymmetry</a:t>
            </a:r>
            <a:r>
              <a:rPr lang="en" sz="1500">
                <a:solidFill>
                  <a:srgbClr val="595959"/>
                </a:solidFill>
                <a:highlight>
                  <a:schemeClr val="lt1"/>
                </a:highlight>
              </a:rPr>
              <a:t> problem.</a:t>
            </a:r>
            <a:endParaRPr sz="1500">
              <a:solidFill>
                <a:srgbClr val="595959"/>
              </a:solidFill>
              <a:highlight>
                <a:schemeClr val="lt1"/>
              </a:highlight>
            </a:endParaRPr>
          </a:p>
          <a:p>
            <a:pPr indent="-323850" lvl="0" marL="457200" rtl="0" algn="l">
              <a:lnSpc>
                <a:spcPct val="200000"/>
              </a:lnSpc>
              <a:spcBef>
                <a:spcPts val="0"/>
              </a:spcBef>
              <a:spcAft>
                <a:spcPts val="0"/>
              </a:spcAft>
              <a:buClr>
                <a:srgbClr val="595959"/>
              </a:buClr>
              <a:buSzPts val="1500"/>
              <a:buChar char="•"/>
            </a:pPr>
            <a:r>
              <a:rPr lang="en" sz="1500">
                <a:solidFill>
                  <a:srgbClr val="595959"/>
                </a:solidFill>
                <a:highlight>
                  <a:schemeClr val="lt1"/>
                </a:highlight>
              </a:rPr>
              <a:t>Lower Transaction Fee: A transaction fee of 0.0001991747505576893 ETH is cheaper compared to the average transaction fee of 0.00485866809534777 ETH, which means it's about 4.1% of the average transaction fee on the network.</a:t>
            </a:r>
            <a:endParaRPr sz="1500">
              <a:solidFill>
                <a:srgbClr val="595959"/>
              </a:solidFill>
              <a:highlight>
                <a:schemeClr val="lt1"/>
              </a:highlight>
            </a:endParaRPr>
          </a:p>
          <a:p>
            <a:pPr indent="0" lvl="0" marL="0" rtl="0" algn="l">
              <a:spcBef>
                <a:spcPts val="4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8"/>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316" name="Google Shape;316;p48"/>
          <p:cNvGraphicFramePr/>
          <p:nvPr/>
        </p:nvGraphicFramePr>
        <p:xfrm>
          <a:off x="457200" y="799975"/>
          <a:ext cx="3000000" cy="3000000"/>
        </p:xfrm>
        <a:graphic>
          <a:graphicData uri="http://schemas.openxmlformats.org/drawingml/2006/table">
            <a:tbl>
              <a:tblPr>
                <a:noFill/>
                <a:tableStyleId>{B2B21FBC-CD1E-4340-89F5-D5FBE4A2B8EF}</a:tableStyleId>
              </a:tblPr>
              <a:tblGrid>
                <a:gridCol w="1261775"/>
                <a:gridCol w="2393600"/>
                <a:gridCol w="3547750"/>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6350">
                <a:tc>
                  <a:txBody>
                    <a:bodyPr/>
                    <a:lstStyle/>
                    <a:p>
                      <a:pPr indent="0" lvl="0" marL="0" rtl="0" algn="l">
                        <a:spcBef>
                          <a:spcPts val="0"/>
                        </a:spcBef>
                        <a:spcAft>
                          <a:spcPts val="0"/>
                        </a:spcAft>
                        <a:buNone/>
                      </a:pPr>
                      <a:r>
                        <a:rPr b="1" lang="en" sz="1100">
                          <a:solidFill>
                            <a:srgbClr val="595959"/>
                          </a:solidFill>
                        </a:rPr>
                        <a:t>Blockchain Adoption in the Vehicle Leasing Business to Increase the Transparency of Transactions</a:t>
                      </a:r>
                      <a:endParaRPr b="1" sz="1100">
                        <a:solidFill>
                          <a:srgbClr val="595959"/>
                        </a:solidFill>
                      </a:endParaRPr>
                    </a:p>
                    <a:p>
                      <a:pPr indent="0" lvl="0" marL="0" rtl="0" algn="l">
                        <a:spcBef>
                          <a:spcPts val="0"/>
                        </a:spcBef>
                        <a:spcAft>
                          <a:spcPts val="0"/>
                        </a:spcAft>
                        <a:buNone/>
                      </a:pPr>
                      <a:r>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To build a blockchain architectural model (DSS - Design Support System)  to increase transaction transparency in the car rental business. Here </a:t>
                      </a:r>
                      <a:r>
                        <a:rPr b="1" lang="en" sz="1100">
                          <a:solidFill>
                            <a:srgbClr val="595959"/>
                          </a:solidFill>
                        </a:rPr>
                        <a:t>smart contracts</a:t>
                      </a:r>
                      <a:r>
                        <a:rPr lang="en" sz="1100">
                          <a:solidFill>
                            <a:srgbClr val="595959"/>
                          </a:solidFill>
                        </a:rPr>
                        <a:t> are used by renters and automobile owners to conduct transactions with mutually agreed terms. Various </a:t>
                      </a:r>
                      <a:r>
                        <a:rPr b="1" lang="en" sz="1100">
                          <a:solidFill>
                            <a:srgbClr val="595959"/>
                          </a:solidFill>
                        </a:rPr>
                        <a:t>subscription services</a:t>
                      </a:r>
                      <a:r>
                        <a:rPr lang="en" sz="1100">
                          <a:solidFill>
                            <a:srgbClr val="595959"/>
                          </a:solidFill>
                        </a:rPr>
                        <a:t> are involved such as automobile insurance, parking rental, toll road payments, vehicle inspection can be automated with smart contracts, payments can be done with cryptocurrency, saving time and money.</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ADVANTAGES: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third party is required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central authority</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Accessible to anyone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transaction cost</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infrastructure fees</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Djajasinga ND, Mutaufiq A, Hasan MR.</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2022</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17" name="Google Shape;317;p4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323" name="Google Shape;323;p49"/>
          <p:cNvGraphicFramePr/>
          <p:nvPr/>
        </p:nvGraphicFramePr>
        <p:xfrm>
          <a:off x="457200" y="799975"/>
          <a:ext cx="3000000" cy="3000000"/>
        </p:xfrm>
        <a:graphic>
          <a:graphicData uri="http://schemas.openxmlformats.org/drawingml/2006/table">
            <a:tbl>
              <a:tblPr>
                <a:noFill/>
                <a:tableStyleId>{B2B21FBC-CD1E-4340-89F5-D5FBE4A2B8EF}</a:tableStyleId>
              </a:tblPr>
              <a:tblGrid>
                <a:gridCol w="1261775"/>
                <a:gridCol w="1956525"/>
                <a:gridCol w="3984850"/>
                <a:gridCol w="1026450"/>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b="1" lang="en" sz="1100">
                          <a:solidFill>
                            <a:srgbClr val="595959"/>
                          </a:solidFill>
                        </a:rPr>
                        <a:t>A study for efficiency improvement of used car trading based on a public blockchain</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Used car transaction management system used to solve the problem of asymmetry of information between the seller and the buyer and provides a reliable transaction environment through smart contracts based on the public blockchain Ethereum.</a:t>
                      </a:r>
                      <a:endParaRPr sz="1100">
                        <a:solidFill>
                          <a:srgbClr val="595959"/>
                        </a:solidFill>
                      </a:endParaRPr>
                    </a:p>
                    <a:p>
                      <a:pPr indent="0" lvl="0" marL="0" rtl="0" algn="l">
                        <a:spcBef>
                          <a:spcPts val="0"/>
                        </a:spcBef>
                        <a:spcAft>
                          <a:spcPts val="0"/>
                        </a:spcAft>
                        <a:buNone/>
                      </a:pPr>
                      <a:r>
                        <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The system uses</a:t>
                      </a:r>
                      <a:r>
                        <a:rPr b="1" lang="en" sz="1100">
                          <a:solidFill>
                            <a:srgbClr val="595959"/>
                          </a:solidFill>
                        </a:rPr>
                        <a:t> IPFS</a:t>
                      </a:r>
                      <a:r>
                        <a:rPr lang="en" sz="1100">
                          <a:solidFill>
                            <a:srgbClr val="595959"/>
                          </a:solidFill>
                        </a:rPr>
                        <a:t> (</a:t>
                      </a:r>
                      <a:r>
                        <a:rPr lang="en" sz="1100">
                          <a:solidFill>
                            <a:srgbClr val="595959"/>
                          </a:solidFill>
                          <a:highlight>
                            <a:srgbClr val="FFFFFF"/>
                          </a:highlight>
                        </a:rPr>
                        <a:t>InterPlanetary File System</a:t>
                      </a:r>
                      <a:r>
                        <a:rPr lang="en" sz="1100">
                          <a:solidFill>
                            <a:srgbClr val="595959"/>
                          </a:solidFill>
                        </a:rPr>
                        <a:t>) to store data using the </a:t>
                      </a:r>
                      <a:r>
                        <a:rPr b="1" lang="en" sz="1100">
                          <a:solidFill>
                            <a:srgbClr val="595959"/>
                          </a:solidFill>
                        </a:rPr>
                        <a:t>Mongo</a:t>
                      </a:r>
                      <a:r>
                        <a:rPr lang="en" sz="1100">
                          <a:solidFill>
                            <a:srgbClr val="595959"/>
                          </a:solidFill>
                        </a:rPr>
                        <a:t> database based on the </a:t>
                      </a:r>
                      <a:r>
                        <a:rPr b="1" lang="en" sz="1100">
                          <a:solidFill>
                            <a:srgbClr val="595959"/>
                          </a:solidFill>
                        </a:rPr>
                        <a:t>Node.js</a:t>
                      </a:r>
                      <a:r>
                        <a:rPr lang="en" sz="1100">
                          <a:solidFill>
                            <a:srgbClr val="595959"/>
                          </a:solidFill>
                        </a:rPr>
                        <a:t> server and returns the hash function stored in the smart contract. The server uses Web3.JS to interact with the functions of the smart contract and Tx to invoke the smart contract. The blockchain transactions are then sent to the Ethereum blockchain via Geth.</a:t>
                      </a:r>
                      <a:endParaRPr sz="1100">
                        <a:solidFill>
                          <a:srgbClr val="595959"/>
                        </a:solidFill>
                      </a:endParaRPr>
                    </a:p>
                    <a:p>
                      <a:pPr indent="0" lvl="0" marL="0" rtl="0" algn="l">
                        <a:spcBef>
                          <a:spcPts val="1200"/>
                        </a:spcBef>
                        <a:spcAft>
                          <a:spcPts val="0"/>
                        </a:spcAft>
                        <a:buNone/>
                      </a:pPr>
                      <a:r>
                        <a:rPr lang="en" sz="1100">
                          <a:solidFill>
                            <a:srgbClr val="595959"/>
                          </a:solidFill>
                        </a:rPr>
                        <a:t>User and commands:</a:t>
                      </a:r>
                      <a:endParaRPr sz="1100">
                        <a:solidFill>
                          <a:srgbClr val="595959"/>
                        </a:solidFill>
                      </a:endParaRPr>
                    </a:p>
                    <a:p>
                      <a:pPr indent="-298450" lvl="0" marL="457200" rtl="0" algn="l">
                        <a:spcBef>
                          <a:spcPts val="1200"/>
                        </a:spcBef>
                        <a:spcAft>
                          <a:spcPts val="0"/>
                        </a:spcAft>
                        <a:buClr>
                          <a:srgbClr val="595959"/>
                        </a:buClr>
                        <a:buSzPts val="1100"/>
                        <a:buAutoNum type="arabicPeriod"/>
                      </a:pPr>
                      <a:r>
                        <a:rPr b="1" lang="en" sz="1100">
                          <a:solidFill>
                            <a:srgbClr val="595959"/>
                          </a:solidFill>
                        </a:rPr>
                        <a:t>Personal user</a:t>
                      </a:r>
                      <a:r>
                        <a:rPr lang="en" sz="1100">
                          <a:solidFill>
                            <a:srgbClr val="595959"/>
                          </a:solidFill>
                        </a:rPr>
                        <a:t> - User used car listing, Vehicle information inquiry, Used car list inquiry, Contract writing, Contract lookup, Messenger</a:t>
                      </a:r>
                      <a:endParaRPr sz="1100">
                        <a:solidFill>
                          <a:srgbClr val="595959"/>
                        </a:solidFill>
                      </a:endParaRPr>
                    </a:p>
                    <a:p>
                      <a:pPr indent="-298450" lvl="0" marL="457200" rtl="0" algn="l">
                        <a:spcBef>
                          <a:spcPts val="0"/>
                        </a:spcBef>
                        <a:spcAft>
                          <a:spcPts val="0"/>
                        </a:spcAft>
                        <a:buClr>
                          <a:srgbClr val="595959"/>
                        </a:buClr>
                        <a:buSzPts val="1100"/>
                        <a:buAutoNum type="arabicPeriod"/>
                      </a:pPr>
                      <a:r>
                        <a:rPr b="1" lang="en" sz="1100">
                          <a:solidFill>
                            <a:srgbClr val="595959"/>
                          </a:solidFill>
                        </a:rPr>
                        <a:t>Manufacturer, Insurance Company &amp; Auto Body Shop </a:t>
                      </a:r>
                      <a:r>
                        <a:rPr lang="en" sz="1100">
                          <a:solidFill>
                            <a:srgbClr val="595959"/>
                          </a:solidFill>
                        </a:rPr>
                        <a:t>- My vehicle status, Vehicle status update, Vehicle information inquiry</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Seung Gyun Yoo, Byeongtae Ahn</a:t>
                      </a:r>
                      <a:endParaRPr sz="1100">
                        <a:solidFill>
                          <a:srgbClr val="595959"/>
                        </a:solidFill>
                      </a:endParaRPr>
                    </a:p>
                    <a:p>
                      <a:pPr indent="0" lvl="0" marL="0" rtl="0" algn="l">
                        <a:spcBef>
                          <a:spcPts val="1200"/>
                        </a:spcBef>
                        <a:spcAft>
                          <a:spcPts val="0"/>
                        </a:spcAft>
                        <a:buNone/>
                      </a:pPr>
                      <a:r>
                        <a:rPr lang="en" sz="1100">
                          <a:solidFill>
                            <a:srgbClr val="595959"/>
                          </a:solidFill>
                        </a:rPr>
                        <a:t>2021</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24" name="Google Shape;324;p4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0"/>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330" name="Google Shape;330;p50"/>
          <p:cNvGraphicFramePr/>
          <p:nvPr/>
        </p:nvGraphicFramePr>
        <p:xfrm>
          <a:off x="457200" y="799975"/>
          <a:ext cx="3000000" cy="3000000"/>
        </p:xfrm>
        <a:graphic>
          <a:graphicData uri="http://schemas.openxmlformats.org/drawingml/2006/table">
            <a:tbl>
              <a:tblPr>
                <a:noFill/>
                <a:tableStyleId>{B2B21FBC-CD1E-4340-89F5-D5FBE4A2B8EF}</a:tableStyleId>
              </a:tblPr>
              <a:tblGrid>
                <a:gridCol w="1261775"/>
                <a:gridCol w="1945350"/>
                <a:gridCol w="3996025"/>
                <a:gridCol w="1026450"/>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100">
                          <a:solidFill>
                            <a:srgbClr val="595959"/>
                          </a:solidFill>
                        </a:rPr>
                        <a:t>Blockchain-based vehicle condition Recording System for Second-Hand Vehicle Market</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Proposes a use of blockchain architecture provided by Ethereum to record the information of vehicle condition.Here smart contracts are used to create decentralized applications which will be used to construct the vehicle condition recording system.</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Smart contracts</a:t>
                      </a:r>
                      <a:r>
                        <a:rPr lang="en" sz="1100">
                          <a:solidFill>
                            <a:srgbClr val="595959"/>
                          </a:solidFill>
                        </a:rPr>
                        <a:t> in Ethereum are written using </a:t>
                      </a:r>
                      <a:r>
                        <a:rPr b="1" lang="en" sz="1100">
                          <a:solidFill>
                            <a:srgbClr val="595959"/>
                          </a:solidFill>
                        </a:rPr>
                        <a:t>solidity</a:t>
                      </a:r>
                      <a:r>
                        <a:rPr lang="en" sz="1100">
                          <a:solidFill>
                            <a:srgbClr val="595959"/>
                          </a:solidFill>
                        </a:rPr>
                        <a:t>  which is then compiled to Ethereum bytecode and run the code in EVM (Ethereum Virtual Machine).</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The system is built on Go Ethereum (private network),  uses Clique PoA consensus algorithm and smart contracts are used for access control.</a:t>
                      </a:r>
                      <a:endParaRPr sz="1100">
                        <a:solidFill>
                          <a:srgbClr val="595959"/>
                        </a:solidFill>
                      </a:endParaRPr>
                    </a:p>
                    <a:p>
                      <a:pPr indent="0" lvl="0" marL="0" rtl="0" algn="l">
                        <a:lnSpc>
                          <a:spcPct val="115000"/>
                        </a:lnSpc>
                        <a:spcBef>
                          <a:spcPts val="0"/>
                        </a:spcBef>
                        <a:spcAft>
                          <a:spcPts val="0"/>
                        </a:spcAft>
                        <a:buNone/>
                      </a:pPr>
                      <a:r>
                        <a:t/>
                      </a:r>
                      <a:endParaRPr sz="1100">
                        <a:solidFill>
                          <a:srgbClr val="595959"/>
                        </a:solidFill>
                      </a:endParaRPr>
                    </a:p>
                    <a:p>
                      <a:pPr indent="0" lvl="0" marL="0" rtl="0" algn="l">
                        <a:lnSpc>
                          <a:spcPct val="115000"/>
                        </a:lnSpc>
                        <a:spcBef>
                          <a:spcPts val="0"/>
                        </a:spcBef>
                        <a:spcAft>
                          <a:spcPts val="0"/>
                        </a:spcAft>
                        <a:buNone/>
                      </a:pPr>
                      <a:r>
                        <a:rPr lang="en" sz="1100">
                          <a:solidFill>
                            <a:srgbClr val="595959"/>
                          </a:solidFill>
                        </a:rPr>
                        <a:t>Limitations of the system:</a:t>
                      </a:r>
                      <a:endParaRPr sz="1100">
                        <a:solidFill>
                          <a:srgbClr val="595959"/>
                        </a:solidFill>
                      </a:endParaRPr>
                    </a:p>
                    <a:p>
                      <a:pPr indent="-298450" lvl="0" marL="457200" rtl="0" algn="l">
                        <a:lnSpc>
                          <a:spcPct val="115000"/>
                        </a:lnSpc>
                        <a:spcBef>
                          <a:spcPts val="0"/>
                        </a:spcBef>
                        <a:spcAft>
                          <a:spcPts val="0"/>
                        </a:spcAft>
                        <a:buClr>
                          <a:srgbClr val="595959"/>
                        </a:buClr>
                        <a:buSzPts val="1100"/>
                        <a:buChar char="●"/>
                      </a:pPr>
                      <a:r>
                        <a:rPr lang="en" sz="1100">
                          <a:solidFill>
                            <a:srgbClr val="595959"/>
                          </a:solidFill>
                        </a:rPr>
                        <a:t>Relies on an existing system and hence the overall performance is finally determined by it.</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highlight>
                            <a:srgbClr val="FFFFFF"/>
                          </a:highlight>
                        </a:rPr>
                        <a:t>Jiang YT, Sun HM. A </a:t>
                      </a:r>
                      <a:endParaRPr sz="1100">
                        <a:solidFill>
                          <a:srgbClr val="595959"/>
                        </a:solidFill>
                        <a:highlight>
                          <a:srgbClr val="FFFFFF"/>
                        </a:highlight>
                      </a:endParaRPr>
                    </a:p>
                    <a:p>
                      <a:pPr indent="0" lvl="0" marL="0" rtl="0" algn="l">
                        <a:spcBef>
                          <a:spcPts val="0"/>
                        </a:spcBef>
                        <a:spcAft>
                          <a:spcPts val="0"/>
                        </a:spcAft>
                        <a:buNone/>
                      </a:pPr>
                      <a:r>
                        <a:t/>
                      </a:r>
                      <a:endParaRPr sz="1100">
                        <a:solidFill>
                          <a:srgbClr val="595959"/>
                        </a:solidFill>
                        <a:highlight>
                          <a:srgbClr val="FFFFFF"/>
                        </a:highlight>
                      </a:endParaRPr>
                    </a:p>
                    <a:p>
                      <a:pPr indent="0" lvl="0" marL="0" rtl="0" algn="l">
                        <a:spcBef>
                          <a:spcPts val="0"/>
                        </a:spcBef>
                        <a:spcAft>
                          <a:spcPts val="0"/>
                        </a:spcAft>
                        <a:buNone/>
                      </a:pPr>
                      <a:r>
                        <a:rPr lang="en" sz="1100">
                          <a:solidFill>
                            <a:srgbClr val="595959"/>
                          </a:solidFill>
                          <a:highlight>
                            <a:srgbClr val="FFFFFF"/>
                          </a:highlight>
                        </a:rPr>
                        <a:t>2021</a:t>
                      </a:r>
                      <a:endParaRPr sz="1100">
                        <a:solidFill>
                          <a:srgbClr val="595959"/>
                        </a:solidFill>
                        <a:highlight>
                          <a:srgbClr val="FFFFFF"/>
                        </a:highligh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31" name="Google Shape;331;p5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1"/>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337" name="Google Shape;337;p51"/>
          <p:cNvGraphicFramePr/>
          <p:nvPr/>
        </p:nvGraphicFramePr>
        <p:xfrm>
          <a:off x="457200" y="799975"/>
          <a:ext cx="3000000" cy="3000000"/>
        </p:xfrm>
        <a:graphic>
          <a:graphicData uri="http://schemas.openxmlformats.org/drawingml/2006/table">
            <a:tbl>
              <a:tblPr>
                <a:noFill/>
                <a:tableStyleId>{B2B21FBC-CD1E-4340-89F5-D5FBE4A2B8EF}</a:tableStyleId>
              </a:tblPr>
              <a:tblGrid>
                <a:gridCol w="1261800"/>
                <a:gridCol w="1474725"/>
                <a:gridCol w="4466600"/>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100">
                          <a:solidFill>
                            <a:srgbClr val="595959"/>
                          </a:solidFill>
                        </a:rPr>
                        <a:t>Second-Hand car Trading Framework based on Blockchain in Cloud Service Environment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To use blockchain technology as an auxiliary means to solve the long-standing problems in the used car market. The blockchain based transaction framework is built in the cloud service environment.</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Second hand car trade </a:t>
                      </a:r>
                      <a:r>
                        <a:rPr b="1" lang="en" sz="1100">
                          <a:solidFill>
                            <a:srgbClr val="595959"/>
                          </a:solidFill>
                        </a:rPr>
                        <a:t>problems</a:t>
                      </a:r>
                      <a:r>
                        <a:rPr lang="en" sz="1100">
                          <a:solidFill>
                            <a:srgbClr val="595959"/>
                          </a:solidFill>
                        </a:rPr>
                        <a:t>:</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Selling cars as new ones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Mileage fraud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Tampering with VIN - Vehicle Identification Number</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Concealing accident vehicle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Testing standards are not unified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Appraisal standard nit unified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Hard to fulfill service promise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Consumers lack of professional identification ability</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Opaque circulation information</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Limitations: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If a car manufacturer did not obey the law and forged documents in the very beginning in order to make profits.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It cannot reach 100% accuracy for the mileage usage.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Must improve the work efficiency between nodes and make sure the normal operation of the framework.</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Yu Y, Yao C, Zhang Y, Jiang R.</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2021</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38" name="Google Shape;338;p5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344" name="Google Shape;344;p52"/>
          <p:cNvGraphicFramePr/>
          <p:nvPr/>
        </p:nvGraphicFramePr>
        <p:xfrm>
          <a:off x="457200" y="799975"/>
          <a:ext cx="3000000" cy="3000000"/>
        </p:xfrm>
        <a:graphic>
          <a:graphicData uri="http://schemas.openxmlformats.org/drawingml/2006/table">
            <a:tbl>
              <a:tblPr>
                <a:noFill/>
                <a:tableStyleId>{B2B21FBC-CD1E-4340-89F5-D5FBE4A2B8EF}</a:tableStyleId>
              </a:tblPr>
              <a:tblGrid>
                <a:gridCol w="1261800"/>
                <a:gridCol w="1956525"/>
                <a:gridCol w="3984800"/>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b="1" lang="en" sz="1100">
                          <a:solidFill>
                            <a:srgbClr val="595959"/>
                          </a:solidFill>
                        </a:rPr>
                        <a:t>A Blockchain-Based System for Recording Vehicle Conditions for the Used Car Market</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595959"/>
                          </a:solidFill>
                        </a:rPr>
                        <a:t>Proposes a blockchain-based system for recording the condition of second-hand vehicles in order to create a more transparent and trustworthy market for used vehicles, by providing an immutable record of the vehicle's condition that cannot be altered or deleted.</a:t>
                      </a:r>
                      <a:endParaRPr sz="1100">
                        <a:solidFill>
                          <a:srgbClr val="595959"/>
                        </a:solidFill>
                      </a:endParaRPr>
                    </a:p>
                    <a:p>
                      <a:pPr indent="0" lvl="0" marL="0" rtl="0" algn="l">
                        <a:lnSpc>
                          <a:spcPct val="115000"/>
                        </a:lnSpc>
                        <a:spcBef>
                          <a:spcPts val="0"/>
                        </a:spcBef>
                        <a:spcAft>
                          <a:spcPts val="0"/>
                        </a:spcAft>
                        <a:buNone/>
                      </a:pPr>
                      <a:r>
                        <a:t/>
                      </a:r>
                      <a:endParaRPr sz="1100">
                        <a:solidFill>
                          <a:srgbClr val="595959"/>
                        </a:solidFill>
                      </a:endParaRPr>
                    </a:p>
                    <a:p>
                      <a:pPr indent="0" lvl="0" marL="0" rtl="0" algn="l">
                        <a:spcBef>
                          <a:spcPts val="0"/>
                        </a:spcBef>
                        <a:spcAft>
                          <a:spcPts val="0"/>
                        </a:spcAft>
                        <a:buNone/>
                      </a:pPr>
                      <a:r>
                        <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System users</a:t>
                      </a:r>
                      <a:r>
                        <a:rPr lang="en" sz="1100">
                          <a:solidFill>
                            <a:srgbClr val="595959"/>
                          </a:solidFill>
                        </a:rPr>
                        <a:t>: Vehicle manufacturer, Maintenance plant, Government branch, Customer, Second-hand vehicle dealer, Authority node.</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b="1" lang="en" sz="1100">
                          <a:solidFill>
                            <a:srgbClr val="595959"/>
                          </a:solidFill>
                        </a:rPr>
                        <a:t>System operations:</a:t>
                      </a:r>
                      <a:endParaRPr b="1" sz="1100">
                        <a:solidFill>
                          <a:srgbClr val="595959"/>
                        </a:solidFill>
                      </a:endParaRPr>
                    </a:p>
                    <a:p>
                      <a:pPr indent="-298450" lvl="0" marL="457200" rtl="0" algn="l">
                        <a:spcBef>
                          <a:spcPts val="1200"/>
                        </a:spcBef>
                        <a:spcAft>
                          <a:spcPts val="0"/>
                        </a:spcAft>
                        <a:buClr>
                          <a:srgbClr val="595959"/>
                        </a:buClr>
                        <a:buSzPts val="1100"/>
                        <a:buAutoNum type="arabicPeriod"/>
                      </a:pPr>
                      <a:r>
                        <a:rPr lang="en" sz="1100">
                          <a:solidFill>
                            <a:srgbClr val="595959"/>
                          </a:solidFill>
                        </a:rPr>
                        <a:t>Log-in process</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customer: authenticate to query vehicle information</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vehicle manufacturer: input the initial information of the vehicle and deploy the contract</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maintenance plant: record maintenance history and mileage of vehicles</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government branch: maintain ownership history</a:t>
                      </a:r>
                      <a:endParaRPr sz="1100">
                        <a:solidFill>
                          <a:srgbClr val="595959"/>
                        </a:solidFill>
                      </a:endParaRPr>
                    </a:p>
                    <a:p>
                      <a:pPr indent="0" lvl="0" marL="0" rtl="0" algn="l">
                        <a:spcBef>
                          <a:spcPts val="1200"/>
                        </a:spcBef>
                        <a:spcAft>
                          <a:spcPts val="0"/>
                        </a:spcAft>
                        <a:buNone/>
                      </a:pPr>
                      <a:r>
                        <a:rPr lang="en" sz="1100">
                          <a:solidFill>
                            <a:srgbClr val="595959"/>
                          </a:solidFill>
                        </a:rPr>
                        <a:t>System evaluation: Gas Limit and Transaction Throughput</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You-Ting Jiang, Hung-Min Sun</a:t>
                      </a:r>
                      <a:endParaRPr sz="1100">
                        <a:solidFill>
                          <a:srgbClr val="595959"/>
                        </a:solidFill>
                      </a:endParaRPr>
                    </a:p>
                    <a:p>
                      <a:pPr indent="0" lvl="0" marL="0" rtl="0" algn="l">
                        <a:spcBef>
                          <a:spcPts val="1200"/>
                        </a:spcBef>
                        <a:spcAft>
                          <a:spcPts val="0"/>
                        </a:spcAft>
                        <a:buNone/>
                      </a:pPr>
                      <a:r>
                        <a:rPr lang="en" sz="1100">
                          <a:solidFill>
                            <a:srgbClr val="595959"/>
                          </a:solidFill>
                        </a:rPr>
                        <a:t>2020</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45" name="Google Shape;345;p5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351" name="Google Shape;351;p53"/>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CONCLUSION - Challenges</a:t>
            </a:r>
            <a:endParaRPr/>
          </a:p>
        </p:txBody>
      </p:sp>
      <p:sp>
        <p:nvSpPr>
          <p:cNvPr id="352" name="Google Shape;352;p53"/>
          <p:cNvSpPr txBox="1"/>
          <p:nvPr>
            <p:ph idx="1" type="body"/>
          </p:nvPr>
        </p:nvSpPr>
        <p:spPr>
          <a:xfrm>
            <a:off x="457200" y="914400"/>
            <a:ext cx="8229600" cy="3339000"/>
          </a:xfrm>
          <a:prstGeom prst="rect">
            <a:avLst/>
          </a:prstGeom>
        </p:spPr>
        <p:txBody>
          <a:bodyPr anchorCtr="0" anchor="ctr" bIns="34275" lIns="34275" spcFirstLastPara="1" rIns="34275" wrap="square" tIns="34275">
            <a:normAutofit/>
          </a:bodyPr>
          <a:lstStyle/>
          <a:p>
            <a:pPr indent="-323850" lvl="0" marL="457200" rtl="0" algn="just">
              <a:lnSpc>
                <a:spcPct val="150000"/>
              </a:lnSpc>
              <a:spcBef>
                <a:spcPts val="1500"/>
              </a:spcBef>
              <a:spcAft>
                <a:spcPts val="0"/>
              </a:spcAft>
              <a:buClr>
                <a:srgbClr val="595959"/>
              </a:buClr>
              <a:buSzPts val="1500"/>
              <a:buFont typeface="Arial"/>
              <a:buChar char="•"/>
            </a:pPr>
            <a:r>
              <a:rPr lang="en" sz="1500">
                <a:solidFill>
                  <a:srgbClr val="595959"/>
                </a:solidFill>
                <a:highlight>
                  <a:schemeClr val="lt1"/>
                </a:highlight>
              </a:rPr>
              <a:t>Limited adoption due to new and foreign technology</a:t>
            </a:r>
            <a:endParaRPr sz="1500">
              <a:solidFill>
                <a:srgbClr val="595959"/>
              </a:solidFill>
              <a:highlight>
                <a:schemeClr val="lt1"/>
              </a:highlight>
            </a:endParaRPr>
          </a:p>
          <a:p>
            <a:pPr indent="-323850" lvl="0" marL="457200" rtl="0" algn="just">
              <a:lnSpc>
                <a:spcPct val="150000"/>
              </a:lnSpc>
              <a:spcBef>
                <a:spcPts val="0"/>
              </a:spcBef>
              <a:spcAft>
                <a:spcPts val="0"/>
              </a:spcAft>
              <a:buClr>
                <a:srgbClr val="595959"/>
              </a:buClr>
              <a:buSzPts val="1500"/>
              <a:buFont typeface="Arial"/>
              <a:buChar char="•"/>
            </a:pPr>
            <a:r>
              <a:rPr lang="en" sz="1500">
                <a:solidFill>
                  <a:srgbClr val="595959"/>
                </a:solidFill>
                <a:highlight>
                  <a:schemeClr val="lt1"/>
                </a:highlight>
              </a:rPr>
              <a:t>Lack of regulatory framework leading to legal ambiguities</a:t>
            </a:r>
            <a:endParaRPr sz="1500">
              <a:solidFill>
                <a:srgbClr val="595959"/>
              </a:solidFill>
              <a:highlight>
                <a:schemeClr val="lt1"/>
              </a:highlight>
            </a:endParaRPr>
          </a:p>
          <a:p>
            <a:pPr indent="-323850" lvl="0" marL="457200" rtl="0" algn="just">
              <a:lnSpc>
                <a:spcPct val="150000"/>
              </a:lnSpc>
              <a:spcBef>
                <a:spcPts val="0"/>
              </a:spcBef>
              <a:spcAft>
                <a:spcPts val="0"/>
              </a:spcAft>
              <a:buClr>
                <a:srgbClr val="595959"/>
              </a:buClr>
              <a:buSzPts val="1500"/>
              <a:buFont typeface="Arial"/>
              <a:buChar char="•"/>
            </a:pPr>
            <a:r>
              <a:rPr lang="en" sz="1500">
                <a:solidFill>
                  <a:srgbClr val="595959"/>
                </a:solidFill>
                <a:highlight>
                  <a:schemeClr val="lt1"/>
                </a:highlight>
              </a:rPr>
              <a:t>Integration with existing systems, such as car registration and insurance databases, may be difficult</a:t>
            </a:r>
            <a:endParaRPr sz="1500">
              <a:solidFill>
                <a:srgbClr val="595959"/>
              </a:solidFill>
              <a:highlight>
                <a:schemeClr val="lt1"/>
              </a:highlight>
            </a:endParaRPr>
          </a:p>
          <a:p>
            <a:pPr indent="-323850" lvl="0" marL="457200" rtl="0" algn="just">
              <a:lnSpc>
                <a:spcPct val="150000"/>
              </a:lnSpc>
              <a:spcBef>
                <a:spcPts val="0"/>
              </a:spcBef>
              <a:spcAft>
                <a:spcPts val="0"/>
              </a:spcAft>
              <a:buClr>
                <a:srgbClr val="595959"/>
              </a:buClr>
              <a:buSzPts val="1500"/>
              <a:buFont typeface="Arial"/>
              <a:buChar char="•"/>
            </a:pPr>
            <a:r>
              <a:rPr lang="en" sz="1500">
                <a:solidFill>
                  <a:srgbClr val="595959"/>
                </a:solidFill>
                <a:highlight>
                  <a:schemeClr val="lt1"/>
                </a:highlight>
              </a:rPr>
              <a:t>Scalability and performance issues despite resource-intensive nature</a:t>
            </a:r>
            <a:endParaRPr sz="1500">
              <a:solidFill>
                <a:srgbClr val="595959"/>
              </a:solidFill>
              <a:highlight>
                <a:schemeClr val="lt1"/>
              </a:highlight>
            </a:endParaRPr>
          </a:p>
          <a:p>
            <a:pPr indent="-323850" lvl="0" marL="457200" rtl="0" algn="just">
              <a:lnSpc>
                <a:spcPct val="150000"/>
              </a:lnSpc>
              <a:spcBef>
                <a:spcPts val="0"/>
              </a:spcBef>
              <a:spcAft>
                <a:spcPts val="0"/>
              </a:spcAft>
              <a:buClr>
                <a:srgbClr val="595959"/>
              </a:buClr>
              <a:buSzPts val="1500"/>
              <a:buFont typeface="Arial"/>
              <a:buChar char="•"/>
            </a:pPr>
            <a:r>
              <a:rPr lang="en" sz="1500">
                <a:solidFill>
                  <a:srgbClr val="595959"/>
                </a:solidFill>
                <a:highlight>
                  <a:schemeClr val="lt1"/>
                </a:highlight>
              </a:rPr>
              <a:t>User education and adoption efforts required to ensure acceptance</a:t>
            </a:r>
            <a:endParaRPr sz="1500">
              <a:solidFill>
                <a:srgbClr val="595959"/>
              </a:solidFill>
              <a:highlight>
                <a:schemeClr val="lt1"/>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
        <p:nvSpPr>
          <p:cNvPr id="358" name="Google Shape;358;p54"/>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CONCLUSION - Future Scope</a:t>
            </a:r>
            <a:endParaRPr/>
          </a:p>
        </p:txBody>
      </p:sp>
      <p:sp>
        <p:nvSpPr>
          <p:cNvPr id="359" name="Google Shape;359;p54"/>
          <p:cNvSpPr txBox="1"/>
          <p:nvPr>
            <p:ph idx="1" type="body"/>
          </p:nvPr>
        </p:nvSpPr>
        <p:spPr>
          <a:xfrm>
            <a:off x="457200" y="914402"/>
            <a:ext cx="8229600" cy="3680100"/>
          </a:xfrm>
          <a:prstGeom prst="rect">
            <a:avLst/>
          </a:prstGeom>
        </p:spPr>
        <p:txBody>
          <a:bodyPr anchorCtr="0" anchor="ctr" bIns="34275" lIns="34275" spcFirstLastPara="1" rIns="34275" wrap="square" tIns="34275">
            <a:normAutofit/>
          </a:bodyPr>
          <a:lstStyle/>
          <a:p>
            <a:pPr indent="-323850" lvl="0" marL="457200" rtl="0" algn="just">
              <a:lnSpc>
                <a:spcPct val="150000"/>
              </a:lnSpc>
              <a:spcBef>
                <a:spcPts val="1500"/>
              </a:spcBef>
              <a:spcAft>
                <a:spcPts val="0"/>
              </a:spcAft>
              <a:buClr>
                <a:srgbClr val="595959"/>
              </a:buClr>
              <a:buSzPts val="1500"/>
              <a:buFont typeface="Arial"/>
              <a:buChar char="●"/>
            </a:pPr>
            <a:r>
              <a:rPr b="1" lang="en" sz="1500">
                <a:solidFill>
                  <a:srgbClr val="595959"/>
                </a:solidFill>
                <a:highlight>
                  <a:schemeClr val="lt1"/>
                </a:highlight>
              </a:rPr>
              <a:t>Integration with other blockchains</a:t>
            </a:r>
            <a:r>
              <a:rPr b="1" lang="en" sz="1500">
                <a:solidFill>
                  <a:srgbClr val="595959"/>
                </a:solidFill>
                <a:highlight>
                  <a:schemeClr val="lt1"/>
                </a:highlight>
              </a:rPr>
              <a:t>:</a:t>
            </a:r>
            <a:r>
              <a:rPr lang="en" sz="1500">
                <a:solidFill>
                  <a:srgbClr val="595959"/>
                </a:solidFill>
                <a:highlight>
                  <a:schemeClr val="lt1"/>
                </a:highlight>
              </a:rPr>
              <a:t> Investigating the possibility of integrating with other blockchains like Polkadot and Binance Smart Chain to enhance usability.</a:t>
            </a:r>
            <a:endParaRPr sz="1500">
              <a:solidFill>
                <a:srgbClr val="595959"/>
              </a:solidFill>
              <a:highlight>
                <a:schemeClr val="lt1"/>
              </a:highlight>
            </a:endParaRPr>
          </a:p>
          <a:p>
            <a:pPr indent="-323850" lvl="0" marL="457200" rtl="0" algn="just">
              <a:lnSpc>
                <a:spcPct val="150000"/>
              </a:lnSpc>
              <a:spcBef>
                <a:spcPts val="0"/>
              </a:spcBef>
              <a:spcAft>
                <a:spcPts val="0"/>
              </a:spcAft>
              <a:buClr>
                <a:srgbClr val="595959"/>
              </a:buClr>
              <a:buSzPts val="1500"/>
              <a:buFont typeface="Arial"/>
              <a:buChar char="●"/>
            </a:pPr>
            <a:r>
              <a:rPr b="1" lang="en" sz="1500">
                <a:solidFill>
                  <a:srgbClr val="595959"/>
                </a:solidFill>
                <a:highlight>
                  <a:schemeClr val="lt1"/>
                </a:highlight>
              </a:rPr>
              <a:t>Integration with IoT devices:</a:t>
            </a:r>
            <a:r>
              <a:rPr lang="en" sz="1500">
                <a:solidFill>
                  <a:srgbClr val="595959"/>
                </a:solidFill>
                <a:highlight>
                  <a:schemeClr val="lt1"/>
                </a:highlight>
              </a:rPr>
              <a:t> Improving functionality by integrating with IoT devices, like car sensors, to provide real-time information on vehicle performance.</a:t>
            </a:r>
            <a:endParaRPr sz="1500">
              <a:solidFill>
                <a:srgbClr val="595959"/>
              </a:solidFill>
              <a:highlight>
                <a:schemeClr val="lt1"/>
              </a:highlight>
            </a:endParaRPr>
          </a:p>
          <a:p>
            <a:pPr indent="-323850" lvl="0" marL="457200" rtl="0" algn="just">
              <a:lnSpc>
                <a:spcPct val="150000"/>
              </a:lnSpc>
              <a:spcBef>
                <a:spcPts val="0"/>
              </a:spcBef>
              <a:spcAft>
                <a:spcPts val="0"/>
              </a:spcAft>
              <a:buClr>
                <a:srgbClr val="595959"/>
              </a:buClr>
              <a:buSzPts val="1500"/>
              <a:buFont typeface="Arial"/>
              <a:buChar char="●"/>
            </a:pPr>
            <a:r>
              <a:rPr b="1" lang="en" sz="1500">
                <a:solidFill>
                  <a:srgbClr val="595959"/>
                </a:solidFill>
                <a:highlight>
                  <a:schemeClr val="lt1"/>
                </a:highlight>
              </a:rPr>
              <a:t>Use of smart contracts:</a:t>
            </a:r>
            <a:r>
              <a:rPr lang="en" sz="1500">
                <a:solidFill>
                  <a:srgbClr val="595959"/>
                </a:solidFill>
                <a:highlight>
                  <a:schemeClr val="lt1"/>
                </a:highlight>
              </a:rPr>
              <a:t> Automating transactions with smart contracts to simplify the purchasing and selling process and reduce the need for middlemen.</a:t>
            </a:r>
            <a:endParaRPr sz="1500">
              <a:solidFill>
                <a:srgbClr val="595959"/>
              </a:solidFill>
              <a:highlight>
                <a:schemeClr val="lt1"/>
              </a:highlight>
            </a:endParaRPr>
          </a:p>
          <a:p>
            <a:pPr indent="0" lvl="0" marL="0" rtl="0" algn="l">
              <a:lnSpc>
                <a:spcPct val="150000"/>
              </a:lnSpc>
              <a:spcBef>
                <a:spcPts val="400"/>
              </a:spcBef>
              <a:spcAft>
                <a:spcPts val="0"/>
              </a:spcAft>
              <a:buNone/>
            </a:pPr>
            <a:r>
              <a:t/>
            </a:r>
            <a:endParaRPr sz="15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5"/>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REFERENCE</a:t>
            </a:r>
            <a:endParaRPr sz="2500"/>
          </a:p>
        </p:txBody>
      </p:sp>
      <p:sp>
        <p:nvSpPr>
          <p:cNvPr id="365" name="Google Shape;365;p55"/>
          <p:cNvSpPr txBox="1"/>
          <p:nvPr>
            <p:ph idx="1" type="body"/>
          </p:nvPr>
        </p:nvSpPr>
        <p:spPr>
          <a:xfrm>
            <a:off x="457200" y="999450"/>
            <a:ext cx="8229600" cy="3144600"/>
          </a:xfrm>
          <a:prstGeom prst="rect">
            <a:avLst/>
          </a:prstGeom>
          <a:noFill/>
          <a:ln>
            <a:noFill/>
          </a:ln>
        </p:spPr>
        <p:txBody>
          <a:bodyPr anchorCtr="0" anchor="ctr" bIns="34275" lIns="34275" spcFirstLastPara="1" rIns="34275" wrap="square" tIns="34275">
            <a:noAutofit/>
          </a:bodyPr>
          <a:lstStyle/>
          <a:p>
            <a:pPr indent="0" lvl="0" marL="457200" rtl="0" algn="just">
              <a:lnSpc>
                <a:spcPct val="115000"/>
              </a:lnSpc>
              <a:spcBef>
                <a:spcPts val="0"/>
              </a:spcBef>
              <a:spcAft>
                <a:spcPts val="0"/>
              </a:spcAft>
              <a:buNone/>
            </a:pPr>
            <a:r>
              <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Djajasinga ND, Mutaufiq A and Hasan MR (2022), Blockchain Adoption in the Vehicle Leasing Business to Increase the Transparency of Transactions</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Seung Gyun Yoo and Byeongtae Ahn (2021), A study for efficiency improvement of used car trading based on a public blockchain</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highlight>
                  <a:srgbClr val="FFFFFF"/>
                </a:highlight>
              </a:rPr>
              <a:t>Jiang YT and Sun HM. A (2021), </a:t>
            </a:r>
            <a:r>
              <a:rPr lang="en" sz="1200">
                <a:solidFill>
                  <a:srgbClr val="595959"/>
                </a:solidFill>
              </a:rPr>
              <a:t>Blockchain-based vehicle condition Recording System for Second-Hand Vehicle Market</a:t>
            </a:r>
            <a:endParaRPr sz="1200">
              <a:solidFill>
                <a:srgbClr val="595959"/>
              </a:solidFill>
              <a:highlight>
                <a:srgbClr val="FFFFFF"/>
              </a:highlight>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Yu Y, Yao C, Zhang Y and Jiang R (2021), Second-Hand car Trading Framework based on Blockchain in Cloud Service Environment</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You-Ting Jiang and Hung-Min Sun (2020), A Blockchain-Based Vehicle Condition Recording System for Second-Hand Vehicle Market</a:t>
            </a:r>
            <a:endParaRPr sz="1200">
              <a:solidFill>
                <a:srgbClr val="595959"/>
              </a:solidFill>
            </a:endParaRPr>
          </a:p>
          <a:p>
            <a:pPr indent="0" lvl="0" marL="457200" rtl="0" algn="l">
              <a:lnSpc>
                <a:spcPct val="115000"/>
              </a:lnSpc>
              <a:spcBef>
                <a:spcPts val="1200"/>
              </a:spcBef>
              <a:spcAft>
                <a:spcPts val="0"/>
              </a:spcAft>
              <a:buSzPts val="1018"/>
              <a:buNone/>
            </a:pPr>
            <a:r>
              <a:t/>
            </a:r>
            <a:endParaRPr sz="1200">
              <a:solidFill>
                <a:srgbClr val="595959"/>
              </a:solidFill>
              <a:highlight>
                <a:schemeClr val="lt1"/>
              </a:highlight>
            </a:endParaRPr>
          </a:p>
        </p:txBody>
      </p:sp>
      <p:sp>
        <p:nvSpPr>
          <p:cNvPr id="366" name="Google Shape;366;p55"/>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6"/>
          <p:cNvSpPr txBox="1"/>
          <p:nvPr>
            <p:ph type="title"/>
          </p:nvPr>
        </p:nvSpPr>
        <p:spPr>
          <a:xfrm>
            <a:off x="457200" y="20970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THANK YOU</a:t>
            </a:r>
            <a:endParaRPr sz="2500"/>
          </a:p>
        </p:txBody>
      </p:sp>
      <p:sp>
        <p:nvSpPr>
          <p:cNvPr id="372" name="Google Shape;372;p56"/>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SN">
  <a:themeElements>
    <a:clrScheme name="SS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